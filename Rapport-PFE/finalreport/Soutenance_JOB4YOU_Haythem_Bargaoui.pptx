
<file path=[Content_Types].xml><?xml version="1.0" encoding="utf-8"?>
<Types xmlns="http://schemas.openxmlformats.org/package/2006/content-types">
  <Override PartName="/ppt/notesSlides/notesSlide19.xml" ContentType="application/vnd.openxmlformats-officedocument.presentationml.notesSlide+xml"/>
  <Override PartName="/ppt/notesSlides/notesSlide18.xml" ContentType="application/vnd.openxmlformats-officedocument.presentationml.notesSlide+xml"/>
  <Override PartName="/ppt/notesSlides/notesSlide17.xml" ContentType="application/vnd.openxmlformats-officedocument.presentationml.notesSlide+xml"/>
  <Override PartName="/ppt/notesSlides/notesSlide16.xml" ContentType="application/vnd.openxmlformats-officedocument.presentationml.notesSlide+xml"/>
  <Override PartName="/ppt/notesSlides/notesSlide15.xml" ContentType="application/vnd.openxmlformats-officedocument.presentationml.notesSlide+xml"/>
  <Override PartName="/ppt/notesSlides/notesSlide14.xml" ContentType="application/vnd.openxmlformats-officedocument.presentationml.notesSlide+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notesSlides/notesSlide11.xml" ContentType="application/vnd.openxmlformats-officedocument.presentationml.notesSlide+xml"/>
  <Override PartName="/ppt/notesSlides/notesSlide10.xml" ContentType="application/vnd.openxmlformats-officedocument.presentationml.notesSlide+xml"/>
  <Override PartName="/ppt/notesSlides/notesSlide9.xml" ContentType="application/vnd.openxmlformats-officedocument.presentationml.notesSlide+xml"/>
  <Override PartName="/ppt/notesSlides/notesSlide8.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notesSlides/notesSlide3.xml" ContentType="application/vnd.openxmlformats-officedocument.presentationml.notesSlide+xml"/>
  <Override PartName="/ppt/notesSlides/notesSlide2.xml" ContentType="application/vnd.openxmlformats-officedocument.presentationml.notesSlide+xml"/>
  <Override PartName="/ppt/notesSlides/notesSlide1.xml" ContentType="application/vnd.openxmlformats-officedocument.presentationml.notesSlide+xml"/>
  <Override PartName="/ppt/theme/theme2.xml" ContentType="application/vnd.openxmlformats-officedocument.theme+xml"/>
  <Override PartName="/ppt/notesMasters/notesMaster1.xml" ContentType="application/vnd.openxmlformats-officedocument.presentationml.notesMaster+xml"/>
  <Override PartName="/ppt/slides/slide21.xml" ContentType="application/vnd.openxmlformats-officedocument.presentationml.slide+xml"/>
  <Override PartName="/ppt/slides/slide20.xml" ContentType="application/vnd.openxmlformats-officedocument.presentationml.slide+xml"/>
  <Override PartName="/ppt/slides/slide19.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13.xml" ContentType="application/vnd.openxmlformats-officedocument.presentationml.slide+xml"/>
  <Override PartName="/ppt/slides/slide12.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Default Extension="png" ContentType="image/png"/>
  <Override PartName="/ppt/slides/slide8.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2.xml" ContentType="application/vnd.openxmlformats-officedocument.presentationml.slide+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s/slide1.xml" ContentType="application/vnd.openxmlformats-officedocument.presentationml.slide+xml"/>
  <Override PartName="/ppt/theme/theme1.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3"/>
  </p:notesMasterIdLst>
  <p:sldIdLst>
    <p:sldId id="256" r:id="rId2"/>
    <p:sldId id="257" r:id="rId3"/>
    <p:sldId id="259" r:id="rId5"/>
    <p:sldId id="260" r:id="rId6"/>
    <p:sldId id="261" r:id="rId7"/>
    <p:sldId id="262" r:id="rId8"/>
    <p:sldId id="263" r:id="rId9"/>
    <p:sldId id="264" r:id="rId10"/>
    <p:sldId id="265" r:id="rId11"/>
    <p:sldId id="266" r:id="rId12"/>
    <p:sldId id="267" r:id="rId13"/>
    <p:sldId id="268" r:id="rId14"/>
    <p:sldId id="269" r:id="rId15"/>
    <p:sldId id="270" r:id="rId16"/>
    <p:sldId id="272" r:id="rId18"/>
    <p:sldId id="273" r:id="rId19"/>
    <p:sldId id="274" r:id="rId20"/>
    <p:sldId id="275" r:id="rId21"/>
    <p:sldId id="276" r:id="rId22"/>
  </p:sldIdLst>
  <p:sldSz cx="12192000" cy="6858000"/>
  <p:notesSz cx="6858000" cy="9144000"/>
</p:presentation>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p:cNvSpPr>
            <a:spLocks noGrp="1" noRot="1" noChangeAspect="1"/>
          </p:cNvSpPr>
          <p:nvPr>
            <p:ph type="sldImg"/>
          </p:nvPr>
        </p:nvSpPr>
        <p:spPr/>
      </p:sp>
      <p:sp>
        <p:nvSpPr>
          <p:cNvPr id="3" name="Notes Placeholder"/>
          <p:cNvSpPr>
            <a:spLocks noGrp="1"/>
          </p:cNvSpPr>
          <p:nvPr>
            <p:ph type="body" idx="1"/>
          </p:nvPr>
        </p:nvSpPr>
        <p:spPr/>
        <p:txBody>
          <a:bodyPr/>
          <a:lstStyle/>
          <a:p>
            <a:r>
              <a:rPr lang="zh-CN" dirty="0"/>
              <a:t>Se presenter (10 s). dire le contexte : stage chez Sopra HR Software Tunisie, encadrement SESAME, projet JOB4YOU.</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p:cNvSpPr>
            <a:spLocks noGrp="1" noRot="1" noChangeAspect="1"/>
          </p:cNvSpPr>
          <p:nvPr>
            <p:ph type="sldImg"/>
          </p:nvPr>
        </p:nvSpPr>
        <p:spPr/>
      </p:sp>
      <p:sp>
        <p:nvSpPr>
          <p:cNvPr id="3" name="Notes Placeholder"/>
          <p:cNvSpPr>
            <a:spLocks noGrp="1"/>
          </p:cNvSpPr>
          <p:nvPr>
            <p:ph type="body" idx="1"/>
          </p:nvPr>
        </p:nvSpPr>
        <p:spPr/>
        <p:txBody>
          <a:bodyPr/>
          <a:lstStyle/>
          <a:p>
            <a:r>
              <a:rPr lang="zh-CN" dirty="0"/>
              <a:t>30 s. Partir de l'existant observe : mails, fichiers, oral. Dire les trois limites (dispersion, absence de traçabilite, aucune automatisation) puis enoncer la problematique exactement comme dans le rapport.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p:cNvSpPr>
            <a:spLocks noGrp="1" noRot="1" noChangeAspect="1"/>
          </p:cNvSpPr>
          <p:nvPr>
            <p:ph type="sldImg"/>
          </p:nvPr>
        </p:nvSpPr>
        <p:spPr/>
      </p:sp>
      <p:sp>
        <p:nvSpPr>
          <p:cNvPr id="3" name="Notes Placeholder"/>
          <p:cNvSpPr>
            <a:spLocks noGrp="1"/>
          </p:cNvSpPr>
          <p:nvPr>
            <p:ph type="body" idx="1"/>
          </p:nvPr>
        </p:nvSpPr>
        <p:spPr/>
        <p:txBody>
          <a:bodyPr/>
          <a:lstStyle/>
          <a:p>
            <a:r>
              <a:rPr lang="zh-CN" dirty="0"/>
              <a:t>30 s. Relier chaque objectif a une limite de l'existant. Preciser des maintenant que l'IA assiste mais ne decide pas : c'est le fil conducteur de la soutenance.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p:cNvSpPr>
            <a:spLocks noGrp="1" noRot="1" noChangeAspect="1"/>
          </p:cNvSpPr>
          <p:nvPr>
            <p:ph type="sldImg"/>
          </p:nvPr>
        </p:nvSpPr>
        <p:spPr/>
      </p:sp>
      <p:sp>
        <p:nvSpPr>
          <p:cNvPr id="3" name="Notes Placeholder"/>
          <p:cNvSpPr>
            <a:spLocks noGrp="1"/>
          </p:cNvSpPr>
          <p:nvPr>
            <p:ph type="body" idx="1"/>
          </p:nvPr>
        </p:nvSpPr>
        <p:spPr/>
        <p:txBody>
          <a:bodyPr/>
          <a:lstStyle/>
          <a:p>
            <a:r>
              <a:rPr lang="zh-CN" dirty="0"/>
              <a:t>45 s. Passer les cinq acteurs dans l'ordre du cycle : Visiteur, Candidat, RH, Manager, Administrateur. Insister sur la regle centrale : le manager n'entre qu'a TECHNICAL_TEST et emet un avis ; seul le RH (ou l'Administrateur) contre-signe la decision finale, avec trace dans le journal d'audit.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p:cNvSpPr>
            <a:spLocks noGrp="1" noRot="1" noChangeAspect="1"/>
          </p:cNvSpPr>
          <p:nvPr>
            <p:ph type="sldImg"/>
          </p:nvPr>
        </p:nvSpPr>
        <p:spPr/>
      </p:sp>
      <p:sp>
        <p:nvSpPr>
          <p:cNvPr id="3" name="Notes Placeholder"/>
          <p:cNvSpPr>
            <a:spLocks noGrp="1"/>
          </p:cNvSpPr>
          <p:nvPr>
            <p:ph type="body" idx="1"/>
          </p:nvPr>
        </p:nvSpPr>
        <p:spPr/>
        <p:txBody>
          <a:bodyPr/>
          <a:lstStyle/>
          <a:p>
            <a:r>
              <a:rPr lang="zh-CN" dirty="0"/>
              <a:t>45 s. Ne pas lire les onze lignes. Choisir trois exemples : expiration automatique des offres, surcharge manuelle du score IA, matching inverse « Job ideal ». Dire que chaque besoin est devenu une user story.</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p:cNvSpPr>
            <a:spLocks noGrp="1" noRot="1" noChangeAspect="1"/>
          </p:cNvSpPr>
          <p:nvPr>
            <p:ph type="sldImg"/>
          </p:nvPr>
        </p:nvSpPr>
        <p:spPr/>
      </p:sp>
      <p:sp>
        <p:nvSpPr>
          <p:cNvPr id="3" name="Notes Placeholder"/>
          <p:cNvSpPr>
            <a:spLocks noGrp="1"/>
          </p:cNvSpPr>
          <p:nvPr>
            <p:ph type="body" idx="1"/>
          </p:nvPr>
        </p:nvSpPr>
        <p:spPr/>
        <p:txBody>
          <a:bodyPr/>
          <a:lstStyle/>
          <a:p>
            <a:r>
              <a:rPr lang="zh-CN" dirty="0"/>
              <a:t>45 s. Insister sur les chiffres : 500 ms en lecture, 2 s en écriture, 10 Mo par CV, jeton JWT de 24 h, jeton de reset de 15 min, BCrypt. Terminer par les garde-fous de fiabilite, qui reviennent au chapitre 3.</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p:cNvSpPr>
            <a:spLocks noGrp="1" noRot="1" noChangeAspect="1"/>
          </p:cNvSpPr>
          <p:nvPr>
            <p:ph type="sldImg"/>
          </p:nvPr>
        </p:nvSpPr>
        <p:spPr/>
      </p:sp>
      <p:sp>
        <p:nvSpPr>
          <p:cNvPr id="3" name="Notes Placeholder"/>
          <p:cNvSpPr>
            <a:spLocks noGrp="1"/>
          </p:cNvSpPr>
          <p:nvPr>
            <p:ph type="body" idx="1"/>
          </p:nvPr>
        </p:nvSpPr>
        <p:spPr/>
        <p:txBody>
          <a:bodyPr/>
          <a:lstStyle/>
          <a:p>
            <a:r>
              <a:rPr lang="zh-CN" dirty="0"/>
              <a:t>30 s. Une phrase sur la methode (sprints de 2 a 3 semaines, roles Scrum reunis car projet mene seul), puis parcourir la frise. Terminer sur les deux corrections de fin de projet.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p:cNvSpPr>
            <a:spLocks noGrp="1" noRot="1" noChangeAspect="1"/>
          </p:cNvSpPr>
          <p:nvPr>
            <p:ph type="sldImg"/>
          </p:nvPr>
        </p:nvSpPr>
        <p:spPr/>
      </p:sp>
      <p:sp>
        <p:nvSpPr>
          <p:cNvPr id="3" name="Notes Placeholder"/>
          <p:cNvSpPr>
            <a:spLocks noGrp="1"/>
          </p:cNvSpPr>
          <p:nvPr>
            <p:ph type="body" idx="1"/>
          </p:nvPr>
        </p:nvSpPr>
        <p:spPr/>
        <p:txBody>
          <a:bodyPr/>
          <a:lstStyle/>
          <a:p>
            <a:r>
              <a:rPr lang="zh-CN" dirty="0"/>
              <a:t>40 s. Montrer le diagramme de composants. Expliciter la repartition : Angular = interface, Spring Boot = regles et securite, PostgreSQL = donnees, n8n = effets externes. Dire un mot de la table outbox.</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p:cNvSpPr>
            <a:spLocks noGrp="1" noRot="1" noChangeAspect="1"/>
          </p:cNvSpPr>
          <p:nvPr>
            <p:ph type="sldImg"/>
          </p:nvPr>
        </p:nvSpPr>
        <p:spPr/>
      </p:sp>
      <p:sp>
        <p:nvSpPr>
          <p:cNvPr id="3" name="Notes Placeholder"/>
          <p:cNvSpPr>
            <a:spLocks noGrp="1"/>
          </p:cNvSpPr>
          <p:nvPr>
            <p:ph type="body" idx="1"/>
          </p:nvPr>
        </p:nvSpPr>
        <p:spPr/>
        <p:txBody>
          <a:bodyPr/>
          <a:lstStyle/>
          <a:p>
            <a:r>
              <a:rPr lang="zh-CN" dirty="0"/>
              <a:t>30 s. Lire le diagramme du point de vue des acteurs. Justifier les inclusions minimisees : lisibilite. Faire remarquer l'entretien telephonique obligatoire, le routage seulement a l'evaluation technique, et le cas Decider une candidature a deux etapes : avis du manager puis contre-signature RH.</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p:cNvSpPr>
            <a:spLocks noGrp="1" noRot="1" noChangeAspect="1"/>
          </p:cNvSpPr>
          <p:nvPr>
            <p:ph type="sldImg"/>
          </p:nvPr>
        </p:nvSpPr>
        <p:spPr/>
      </p:sp>
      <p:sp>
        <p:nvSpPr>
          <p:cNvPr id="3" name="Notes Placeholder"/>
          <p:cNvSpPr>
            <a:spLocks noGrp="1"/>
          </p:cNvSpPr>
          <p:nvPr>
            <p:ph type="body" idx="1"/>
          </p:nvPr>
        </p:nvSpPr>
        <p:spPr/>
        <p:txBody>
          <a:bodyPr/>
          <a:lstStyle/>
          <a:p>
            <a:r>
              <a:rPr lang="zh-CN" dirty="0"/>
              <a:t>40 s. Annoncer 9 entites, 11 associations, cardinalites relevees sur les annotations JPA. Signaler les champs portes par Candidate : statusReason (motif du statut), presentationDate, et le trio du routage gele routedToManagerId, routedManagerEmails, routingBasis avec routedAt. Expliquer AuditLog sans association JPA : reference par entityType et entityId.</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p:cNvSpPr>
            <a:spLocks noGrp="1" noRot="1" noChangeAspect="1"/>
          </p:cNvSpPr>
          <p:nvPr>
            <p:ph type="sldImg"/>
          </p:nvPr>
        </p:nvSpPr>
        <p:spPr/>
      </p:sp>
      <p:sp>
        <p:nvSpPr>
          <p:cNvPr id="3" name="Notes Placeholder"/>
          <p:cNvSpPr>
            <a:spLocks noGrp="1"/>
          </p:cNvSpPr>
          <p:nvPr>
            <p:ph type="body" idx="1"/>
          </p:nvPr>
        </p:nvSpPr>
        <p:spPr/>
        <p:txBody>
          <a:bodyPr/>
          <a:lstStyle/>
          <a:p>
            <a:r>
              <a:rPr lang="zh-CN" dirty="0"/>
              <a:t>45 s. C'est la diapositive la plus technique : la ralentir. Detailler les quatre phases, puis les garde-fous. Sur la troisieme, dire que TECHNICAL_TEST fige la liste des managers destinataires selon l'ordre manager désigné, département, famille ; si rien n'est resolu la transmission est bloquee (400) et journalisee. Dire clairement qu'ACCEPTED et MANAGER_REJECTED ne sont que des avis : le statut final est contre-signe par le RH, et c'est seulement la que le candidat recoit un e-mail. HIRED exige une date de presentation.</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p:cNvSpPr>
            <a:spLocks noGrp="1" noRot="1" noChangeAspect="1"/>
          </p:cNvSpPr>
          <p:nvPr>
            <p:ph type="sldImg"/>
          </p:nvPr>
        </p:nvSpPr>
        <p:spPr/>
      </p:sp>
      <p:sp>
        <p:nvSpPr>
          <p:cNvPr id="3" name="Notes Placeholder"/>
          <p:cNvSpPr>
            <a:spLocks noGrp="1"/>
          </p:cNvSpPr>
          <p:nvPr>
            <p:ph type="body" idx="1"/>
          </p:nvPr>
        </p:nvSpPr>
        <p:spPr/>
        <p:txBody>
          <a:bodyPr/>
          <a:lstStyle/>
          <a:p>
            <a:r>
              <a:rPr lang="zh-CN" dirty="0"/>
              <a:t>60 s. Pour chaque agent : declencheur puis action. Agent 1 : CV et rappel du recalcul de score. Agent 2 : Calendar, lien Meet, invitations et rappels. Agent 3 : resolution puis gel de la destination sur le dossier, un e-mail par destinataire, avis au RH, puis e-mail au candidat seulement apres contre-signature. Terminer sur outbox, cle par destinataire et retries.</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p:cNvSpPr>
            <a:spLocks noGrp="1" noRot="1" noChangeAspect="1"/>
          </p:cNvSpPr>
          <p:nvPr>
            <p:ph type="sldImg"/>
          </p:nvPr>
        </p:nvSpPr>
        <p:spPr/>
      </p:sp>
      <p:sp>
        <p:nvSpPr>
          <p:cNvPr id="3" name="Notes Placeholder"/>
          <p:cNvSpPr>
            <a:spLocks noGrp="1"/>
          </p:cNvSpPr>
          <p:nvPr>
            <p:ph type="body" idx="1"/>
          </p:nvPr>
        </p:nvSpPr>
        <p:spPr/>
        <p:txBody>
          <a:bodyPr/>
          <a:lstStyle/>
          <a:p>
            <a:r>
              <a:rPr lang="zh-CN" dirty="0"/>
              <a:t>60 s. Detailler la sequence : n8n declenche, le back-end interroge Cohere, calcule et persiste. Dire les trois dimensions, les ponderations par famille et seniorite, le seuil de 60 sur 100. Expliquer le mode degrade SIMULATED et la source conservee pour la tracabilite.</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p:cNvSpPr>
            <a:spLocks noGrp="1" noRot="1" noChangeAspect="1"/>
          </p:cNvSpPr>
          <p:nvPr>
            <p:ph type="sldImg"/>
          </p:nvPr>
        </p:nvSpPr>
        <p:spPr/>
      </p:sp>
      <p:sp>
        <p:nvSpPr>
          <p:cNvPr id="3" name="Notes Placeholder"/>
          <p:cNvSpPr>
            <a:spLocks noGrp="1"/>
          </p:cNvSpPr>
          <p:nvPr>
            <p:ph type="body" idx="1"/>
          </p:nvPr>
        </p:nvSpPr>
        <p:spPr/>
        <p:txBody>
          <a:bodyPr/>
          <a:lstStyle/>
          <a:p>
            <a:r>
              <a:rPr lang="zh-CN" dirty="0"/>
              <a:t>30 s. Montrer la capture. Insister sur les trois garanties : authentifie, limite a ses propres candidatures, jamais le score ni l'identite de l'intervieweur. Citer le choix de modele experimental comme une limite documentee.</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p:cNvSpPr>
            <a:spLocks noGrp="1" noRot="1" noChangeAspect="1"/>
          </p:cNvSpPr>
          <p:nvPr>
            <p:ph type="sldImg"/>
          </p:nvPr>
        </p:nvSpPr>
        <p:spPr/>
      </p:sp>
      <p:sp>
        <p:nvSpPr>
          <p:cNvPr id="3" name="Notes Placeholder"/>
          <p:cNvSpPr>
            <a:spLocks noGrp="1"/>
          </p:cNvSpPr>
          <p:nvPr>
            <p:ph type="body" idx="1"/>
          </p:nvPr>
        </p:nvSpPr>
        <p:spPr/>
        <p:txBody>
          <a:bodyPr/>
          <a:lstStyle/>
          <a:p>
            <a:r>
              <a:rPr lang="zh-CN" dirty="0"/>
              <a:t>30 s. Faire defiler les ecrans sans les commenter un a un. Dire ce que chacun prouve : perimetre par role, pipeline a jour, pilotage visuel, administration, planification.</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p:cNvSpPr>
            <a:spLocks noGrp="1" noRot="1" noChangeAspect="1"/>
          </p:cNvSpPr>
          <p:nvPr>
            <p:ph type="sldImg"/>
          </p:nvPr>
        </p:nvSpPr>
        <p:spPr/>
      </p:sp>
      <p:sp>
        <p:nvSpPr>
          <p:cNvPr id="3" name="Notes Placeholder"/>
          <p:cNvSpPr>
            <a:spLocks noGrp="1"/>
          </p:cNvSpPr>
          <p:nvPr>
            <p:ph type="body" idx="1"/>
          </p:nvPr>
        </p:nvSpPr>
        <p:spPr/>
        <p:txBody>
          <a:bodyPr/>
          <a:lstStyle/>
          <a:p>
            <a:r>
              <a:rPr lang="zh-CN" dirty="0"/>
              <a:t>45 s. Annoncer 190 methodes dans 19 classes, dont 4 tests de controleur avec MockMvc, et 22 cas de test manuel tous conformes. Citer les garde-fous verifies sur la decision a deux niveaux et sur le routage : un manager ne voit que les dossiers ou il est destinataire, la liste etant gelee a l'entree en evaluation technique. Donner la mesure du seuil : Gold Set de vingt CV annotes, dix-neuf bonnes decisions sur vingt, un faux positif assume sur un profil DevOps a 71/100. Etre honnete sur le reste a renforcer : integration, bout en bout, front-end, CI/CD.</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p:cNvSpPr>
            <a:spLocks noGrp="1" noRot="1" noChangeAspect="1"/>
          </p:cNvSpPr>
          <p:nvPr>
            <p:ph type="sldImg"/>
          </p:nvPr>
        </p:nvSpPr>
        <p:spPr/>
      </p:sp>
      <p:sp>
        <p:nvSpPr>
          <p:cNvPr id="3" name="Notes Placeholder"/>
          <p:cNvSpPr>
            <a:spLocks noGrp="1"/>
          </p:cNvSpPr>
          <p:nvPr>
            <p:ph type="body" idx="1"/>
          </p:nvPr>
        </p:nvSpPr>
        <p:spPr/>
        <p:txBody>
          <a:bodyPr/>
          <a:lstStyle/>
          <a:p>
            <a:r>
              <a:rPr lang="zh-CN" dirty="0"/>
              <a:t>45 s. Montrer que la conformite a ete traitee serieusement : RGPD article 22 et AI Act « haut risque », transferts vers des services tiers, politique de retention a definir. Conclure sur la formulation conditionnelle d'avancement.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p:cNvSpPr>
            <a:spLocks noGrp="1" noRot="1" noChangeAspect="1"/>
          </p:cNvSpPr>
          <p:nvPr>
            <p:ph type="sldImg"/>
          </p:nvPr>
        </p:nvSpPr>
        <p:spPr/>
      </p:sp>
      <p:sp>
        <p:nvSpPr>
          <p:cNvPr id="3" name="Notes Placeholder"/>
          <p:cNvSpPr>
            <a:spLocks noGrp="1"/>
          </p:cNvSpPr>
          <p:nvPr>
            <p:ph type="body" idx="1"/>
          </p:nvPr>
        </p:nvSpPr>
        <p:spPr/>
        <p:txBody>
          <a:bodyPr/>
          <a:lstStyle/>
          <a:p>
            <a:r>
              <a:rPr lang="zh-CN" dirty="0"/>
              <a:t>30 s. Bilan chiffre puis trois perspectives maximum, choisies selon ce que le jury peut juger realiste. Ne pas ouvrir un nouveau debat technique.</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p:cNvSpPr>
            <a:spLocks noGrp="1" noRot="1" noChangeAspect="1"/>
          </p:cNvSpPr>
          <p:nvPr>
            <p:ph type="sldImg"/>
          </p:nvPr>
        </p:nvSpPr>
        <p:spPr/>
      </p:sp>
      <p:sp>
        <p:nvSpPr>
          <p:cNvPr id="3" name="Notes Placeholder"/>
          <p:cNvSpPr>
            <a:spLocks noGrp="1"/>
          </p:cNvSpPr>
          <p:nvPr>
            <p:ph type="body" idx="1"/>
          </p:nvPr>
        </p:nvSpPr>
        <p:spPr/>
        <p:txBody>
          <a:bodyPr/>
          <a:lstStyle/>
          <a:p>
            <a:r>
              <a:rPr lang="zh-CN" dirty="0"/>
              <a:t>10 s. Remercier le jury et l'encadrant, puis passer aux questions. Garder en reserve les chiffres cites dans la soutenance : seuil 60/100, 24 h de validite du jeton, 500 ms, 10 Mo.</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p:bodyStyle/>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merged1.png"/><Relationship Id="rId3"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notesSlide" Target="../notesSlides/notesSlide9.xml"/><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notesSlide" Target="../notesSlides/notesSlide10.xml"/><Relationship Id="rId5"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notesSlide" Target="../notesSlides/notesSlide11.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merged5.png"/><Relationship Id="rId3"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merged6.png"/><Relationship Id="rId3"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merged12.png"/><Relationship Id="rId3" Type="http://schemas.openxmlformats.org/officeDocument/2006/relationships/image" Target="../media/merged13.png"/><Relationship Id="rId4" Type="http://schemas.openxmlformats.org/officeDocument/2006/relationships/image" Target="../media/merged14.png"/><Relationship Id="rId5" Type="http://schemas.openxmlformats.org/officeDocument/2006/relationships/image" Target="../media/merged15.png"/><Relationship Id="rId6" Type="http://schemas.openxmlformats.org/officeDocument/2006/relationships/image" Target="../media/merged16.png"/><Relationship Id="rId7"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E2A4F"/>
        </a:solidFill>
        <a:effectLst/>
      </p:bgPr>
    </p:bg>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id="{3D979133-D949-4044-A64D-3E8707AB8644}"/>
              </a:ext>
            </a:extLst>
          </p:cNvPr>
          <p:cNvSpPr txBox="1"/>
          <p:nvPr/>
        </p:nvSpPr>
        <p:spPr>
          <a:xfrm>
            <a:off x="838200" y="1066800"/>
            <a:ext cx="5905500" cy="247650"/>
          </a:xfrm>
        </p:spPr>
        <p:txBody>
          <a:bodyPr wrap="square" rtlCol="0" lIns="0" tIns="0" rIns="0" bIns="0" anchor="t"/>
          <a:lstStyle/>
          <a:p>
            <a:pPr algn="l"/>
            <a:r>
              <a:rPr sz="1300" b="1">
                <a:solidFill>
                  <a:srgbClr val="6E9BD1"/>
                </a:solidFill>
                <a:latin typeface="Arial"/>
                <a:ea typeface="Arial"/>
              </a:rPr>
              <a:t>SOUTENANCE DE PROJET DE FIN D'ÉTUDES</a:t>
            </a:r>
          </a:p>
        </p:txBody>
      </p:sp>
      <p:sp>
        <p:nvSpPr>
          <p:cNvPr id="4" name="TextBox 4">
            <a:extLst>
              <a:ext uri="{FF2B5EF4-FFF2-40B4-BE49-F238E27FC236}">
                <a16:creationId xmlns:a16="http://schemas.microsoft.com/office/drawing/2014/main" id="{74239040-5F13-419A-8F4E-F8148AD19249}"/>
              </a:ext>
            </a:extLst>
          </p:cNvPr>
          <p:cNvSpPr txBox="1"/>
          <p:nvPr/>
        </p:nvSpPr>
        <p:spPr>
          <a:xfrm>
            <a:off x="838200" y="1390650"/>
            <a:ext cx="6096000" cy="1139952"/>
          </a:xfrm>
        </p:spPr>
        <p:txBody>
          <a:bodyPr wrap="square" rtlCol="0" lIns="0" tIns="0" rIns="0" bIns="0" anchor="t"/>
          <a:lstStyle/>
          <a:p>
            <a:pPr algn="l">
              <a:lnSpc>
                <a:spcPct val="110000"/>
              </a:lnSpc>
            </a:pPr>
            <a:r>
              <a:rPr sz="6800" b="1">
                <a:solidFill>
                  <a:srgbClr val="FFFFFF"/>
                </a:solidFill>
                <a:latin typeface="Arial"/>
                <a:ea typeface="Arial"/>
              </a:rPr>
              <a:t>JOB4YOU</a:t>
            </a:r>
          </a:p>
        </p:txBody>
      </p:sp>
      <p:sp>
        <p:nvSpPr>
          <p:cNvPr id="5" name="TextBox 5">
            <a:extLst>
              <a:ext uri="{FF2B5EF4-FFF2-40B4-BE49-F238E27FC236}">
                <a16:creationId xmlns:a16="http://schemas.microsoft.com/office/drawing/2014/main" id="{BE74FC71-0C43-47D0-9E51-CE060099160F}"/>
              </a:ext>
            </a:extLst>
          </p:cNvPr>
          <p:cNvSpPr txBox="1"/>
          <p:nvPr/>
        </p:nvSpPr>
        <p:spPr>
          <a:xfrm>
            <a:off x="838200" y="2590800"/>
            <a:ext cx="5905500" cy="819150"/>
          </a:xfrm>
        </p:spPr>
        <p:txBody>
          <a:bodyPr wrap="square" rtlCol="0" lIns="0" tIns="0" rIns="0" bIns="0" anchor="t"/>
          <a:lstStyle/>
          <a:p>
            <a:pPr algn="l">
              <a:lnSpc>
                <a:spcPct val="110000"/>
              </a:lnSpc>
            </a:pPr>
            <a:r>
              <a:rPr sz="2400">
                <a:solidFill>
                  <a:srgbClr val="DCE7F5"/>
                </a:solidFill>
                <a:latin typeface="Arial"/>
                <a:ea typeface="Arial"/>
              </a:rPr>
              <a:t>Plateforme web de gestion du processus de recrutement</a:t>
            </a:r>
          </a:p>
        </p:txBody>
      </p:sp>
      <p:sp>
        <p:nvSpPr>
          <p:cNvPr id="6" name="Shape 6">
            <a:extLst>
              <a:ext uri="{FF2B5EF4-FFF2-40B4-BE49-F238E27FC236}">
                <a16:creationId xmlns:a16="http://schemas.microsoft.com/office/drawing/2014/main" id="{D4DD0E47-ED66-430F-B33A-27931BE6CA3C}"/>
              </a:ext>
            </a:extLst>
          </p:cNvPr>
          <p:cNvSpPr/>
          <p:nvPr/>
        </p:nvSpPr>
        <p:spPr>
          <a:xfrm>
            <a:off x="838200" y="3619500"/>
            <a:ext cx="1047750" cy="47625"/>
          </a:xfrm>
          <a:prstGeom prst="rect">
            <a:avLst/>
          </a:prstGeom>
          <a:solidFill>
            <a:srgbClr val="00A8B5"/>
          </a:solidFill>
        </p:spPr>
        <p:txBody>
          <a:bodyPr wrap="square" rtlCol="0"/>
          <a:lstStyle/>
          <a:p>
            <a:r>
              <a:rPr/>
              <a:t/>
            </a:r>
          </a:p>
        </p:txBody>
      </p:sp>
      <p:sp>
        <p:nvSpPr>
          <p:cNvPr id="7" name="TextBox 7">
            <a:extLst>
              <a:ext uri="{FF2B5EF4-FFF2-40B4-BE49-F238E27FC236}">
                <a16:creationId xmlns:a16="http://schemas.microsoft.com/office/drawing/2014/main" id="{78CFFCCB-24BA-446E-AE08-9F6FF928DA1E}"/>
              </a:ext>
            </a:extLst>
          </p:cNvPr>
          <p:cNvSpPr txBox="1"/>
          <p:nvPr/>
        </p:nvSpPr>
        <p:spPr>
          <a:xfrm>
            <a:off x="838200" y="3848100"/>
            <a:ext cx="5334000" cy="1752600"/>
          </a:xfrm>
        </p:spPr>
        <p:txBody>
          <a:bodyPr wrap="square" rtlCol="0" lIns="0" tIns="0" rIns="0" bIns="0" anchor="t"/>
          <a:lstStyle/>
          <a:p>
            <a:pPr algn="l">
              <a:spcAft>
                <a:spcPts val="1000"/>
              </a:spcAft>
            </a:pPr>
            <a:r>
              <a:rPr sz="2200" b="1">
                <a:solidFill>
                  <a:srgbClr val="FFFFFF"/>
                </a:solidFill>
                <a:latin typeface="Arial"/>
                <a:ea typeface="Arial"/>
              </a:rPr>
              <a:t>Haythem Bargaoui</a:t>
            </a:r>
          </a:p>
          <a:p>
            <a:pPr algn="l">
              <a:spcAft>
                <a:spcPts val="500"/>
              </a:spcAft>
            </a:pPr>
            <a:r>
              <a:rPr sz="1400">
                <a:solidFill>
                  <a:srgbClr val="A9C4E3"/>
                </a:solidFill>
                <a:latin typeface="Arial"/>
                <a:ea typeface="Arial"/>
              </a:rPr>
              <a:t>Entreprise d'accueil : Sopra HR Software Tunisie</a:t>
            </a:r>
          </a:p>
          <a:p>
            <a:pPr algn="l">
              <a:spcAft>
                <a:spcPts val="500"/>
              </a:spcAft>
            </a:pPr>
            <a:r>
              <a:rPr sz="1400">
                <a:solidFill>
                  <a:srgbClr val="A9C4E3"/>
                </a:solidFill>
                <a:latin typeface="Arial"/>
                <a:ea typeface="Arial"/>
              </a:rPr>
              <a:t>Encadrant entreprise : M. Mones Ben Mabrouk</a:t>
            </a:r>
          </a:p>
          <a:p>
            <a:pPr algn="l">
              <a:spcAft>
                <a:spcPts val="500"/>
              </a:spcAft>
            </a:pPr>
            <a:r>
              <a:rPr sz="1400">
                <a:solidFill>
                  <a:srgbClr val="A9C4E3"/>
                </a:solidFill>
                <a:latin typeface="Arial"/>
                <a:ea typeface="Arial"/>
              </a:rPr>
              <a:t>Encadrant SESAME : M. Malek Bouzaiene</a:t>
            </a:r>
          </a:p>
          <a:p>
            <a:pPr algn="l"/>
            <a:r>
              <a:rPr sz="1400">
                <a:solidFill>
                  <a:srgbClr val="A9C4E3"/>
                </a:solidFill>
                <a:latin typeface="Arial"/>
                <a:ea typeface="Arial"/>
              </a:rPr>
              <a:t>Année universitaire 2025 - 2026</a:t>
            </a:r>
          </a:p>
        </p:txBody>
      </p:sp>
      <p:sp>
        <p:nvSpPr>
          <p:cNvPr id="8" name="Shape 8">
            <a:extLst>
              <a:ext uri="{FF2B5EF4-FFF2-40B4-BE49-F238E27FC236}">
                <a16:creationId xmlns:a16="http://schemas.microsoft.com/office/drawing/2014/main" id="{F66E2978-38D5-4D73-B6EC-34C3EC2E63D6}"/>
              </a:ext>
            </a:extLst>
          </p:cNvPr>
          <p:cNvSpPr/>
          <p:nvPr/>
        </p:nvSpPr>
        <p:spPr>
          <a:xfrm>
            <a:off x="8001000" y="4476750"/>
            <a:ext cx="723900" cy="1047750"/>
          </a:xfrm>
          <a:prstGeom prst="roundRect">
            <a:avLst/>
          </a:prstGeom>
          <a:solidFill>
            <a:srgbClr val="1B4F9C">
              <a:alpha val="30196"/>
            </a:srgbClr>
          </a:solidFill>
        </p:spPr>
        <p:txBody>
          <a:bodyPr wrap="square" rtlCol="0"/>
          <a:lstStyle/>
          <a:p>
            <a:r>
              <a:rPr/>
              <a:t/>
            </a:r>
          </a:p>
        </p:txBody>
      </p:sp>
      <p:sp>
        <p:nvSpPr>
          <p:cNvPr id="9" name="Shape 9">
            <a:extLst>
              <a:ext uri="{FF2B5EF4-FFF2-40B4-BE49-F238E27FC236}">
                <a16:creationId xmlns:a16="http://schemas.microsoft.com/office/drawing/2014/main" id="{4CC719DC-D5DA-4D48-A7BB-97C6D79729B5}"/>
              </a:ext>
            </a:extLst>
          </p:cNvPr>
          <p:cNvSpPr/>
          <p:nvPr/>
        </p:nvSpPr>
        <p:spPr>
          <a:xfrm>
            <a:off x="8877300" y="3905250"/>
            <a:ext cx="723900" cy="1619250"/>
          </a:xfrm>
          <a:prstGeom prst="roundRect">
            <a:avLst/>
          </a:prstGeom>
          <a:solidFill>
            <a:srgbClr val="1B4F9C">
              <a:alpha val="54902"/>
            </a:srgbClr>
          </a:solidFill>
        </p:spPr>
        <p:txBody>
          <a:bodyPr wrap="square" rtlCol="0"/>
          <a:lstStyle/>
          <a:p>
            <a:r>
              <a:rPr/>
              <a:t/>
            </a:r>
          </a:p>
        </p:txBody>
      </p:sp>
      <p:sp>
        <p:nvSpPr>
          <p:cNvPr id="10" name="Shape 10">
            <a:extLst>
              <a:ext uri="{FF2B5EF4-FFF2-40B4-BE49-F238E27FC236}">
                <a16:creationId xmlns:a16="http://schemas.microsoft.com/office/drawing/2014/main" id="{B7AA86C5-7370-4C90-B51F-B3F13A115927}"/>
              </a:ext>
            </a:extLst>
          </p:cNvPr>
          <p:cNvSpPr/>
          <p:nvPr/>
        </p:nvSpPr>
        <p:spPr>
          <a:xfrm>
            <a:off x="9753600" y="3286125"/>
            <a:ext cx="723900" cy="2238375"/>
          </a:xfrm>
          <a:prstGeom prst="roundRect">
            <a:avLst/>
          </a:prstGeom>
          <a:solidFill>
            <a:srgbClr val="1B4F9C">
              <a:alpha val="85098"/>
            </a:srgbClr>
          </a:solidFill>
        </p:spPr>
        <p:txBody>
          <a:bodyPr wrap="square" rtlCol="0"/>
          <a:lstStyle/>
          <a:p>
            <a:r>
              <a:rPr/>
              <a:t/>
            </a:r>
          </a:p>
        </p:txBody>
      </p:sp>
      <p:sp>
        <p:nvSpPr>
          <p:cNvPr id="11" name="Shape 11">
            <a:extLst>
              <a:ext uri="{FF2B5EF4-FFF2-40B4-BE49-F238E27FC236}">
                <a16:creationId xmlns:a16="http://schemas.microsoft.com/office/drawing/2014/main" id="{CDD275C2-133E-494B-B424-0F7DA4EECDD1}"/>
              </a:ext>
            </a:extLst>
          </p:cNvPr>
          <p:cNvSpPr/>
          <p:nvPr/>
        </p:nvSpPr>
        <p:spPr>
          <a:xfrm>
            <a:off x="10629900" y="2495550"/>
            <a:ext cx="723900" cy="3028950"/>
          </a:xfrm>
          <a:prstGeom prst="roundRect">
            <a:avLst/>
          </a:prstGeom>
          <a:solidFill>
            <a:srgbClr val="00A8B5"/>
          </a:solidFill>
        </p:spPr>
        <p:txBody>
          <a:bodyPr wrap="square" rtlCol="0"/>
          <a:lstStyle/>
          <a:p>
            <a:r>
              <a:rPr/>
              <a:t/>
            </a:r>
          </a:p>
        </p:txBody>
      </p:sp>
      <p:sp>
        <p:nvSpPr>
          <p:cNvPr id="12" name="Shape 12">
            <a:extLst>
              <a:ext uri="{FF2B5EF4-FFF2-40B4-BE49-F238E27FC236}">
                <a16:creationId xmlns:a16="http://schemas.microsoft.com/office/drawing/2014/main" id="{6E037E15-20CD-43A9-8CB4-32A6D4E581B2}"/>
              </a:ext>
            </a:extLst>
          </p:cNvPr>
          <p:cNvSpPr/>
          <p:nvPr/>
        </p:nvSpPr>
        <p:spPr>
          <a:xfrm>
            <a:off x="8001000" y="5543550"/>
            <a:ext cx="3352800" cy="19050"/>
          </a:xfrm>
          <a:prstGeom prst="rect">
            <a:avLst/>
          </a:prstGeom>
          <a:solidFill>
            <a:srgbClr val="2C4F7C"/>
          </a:solidFill>
        </p:spPr>
        <p:txBody>
          <a:bodyPr wrap="square" rtlCol="0"/>
          <a:lstStyle/>
          <a:p>
            <a:r>
              <a:rPr/>
              <a:t/>
            </a:r>
          </a:p>
        </p:txBody>
      </p:sp>
      <p:sp>
        <p:nvSpPr>
          <p:cNvPr id="13" name="TextBox 13">
            <a:extLst>
              <a:ext uri="{FF2B5EF4-FFF2-40B4-BE49-F238E27FC236}">
                <a16:creationId xmlns:a16="http://schemas.microsoft.com/office/drawing/2014/main" id="{77C34BF3-E1E8-49D2-B10C-ADDDFDB79DAB}"/>
              </a:ext>
            </a:extLst>
          </p:cNvPr>
          <p:cNvSpPr txBox="1"/>
          <p:nvPr/>
        </p:nvSpPr>
        <p:spPr>
          <a:xfrm>
            <a:off x="838200" y="5924550"/>
            <a:ext cx="9525000" cy="304800"/>
          </a:xfrm>
        </p:spPr>
        <p:txBody>
          <a:bodyPr wrap="square" rtlCol="0" lIns="0" tIns="0" rIns="0" bIns="0" anchor="t"/>
          <a:lstStyle/>
          <a:p>
            <a:pPr algn="l"/>
            <a:r>
              <a:rPr sz="1500">
                <a:solidFill>
                  <a:srgbClr val="8FB4DC"/>
                </a:solidFill>
                <a:latin typeface="Arial"/>
                <a:ea typeface="Arial"/>
              </a:rPr>
              <a:t>Spring Boot   ·   Angular   ·   PostgreSQL   ·   n8n   ·   Cohere   ·   OpenRouter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id="{9B7C27D5-EF81-49C2-A3EE-9AAE29C40CF1}"/>
              </a:ext>
            </a:extLst>
          </p:cNvPr>
          <p:cNvSpPr txBox="1"/>
          <p:nvPr/>
        </p:nvSpPr>
        <p:spPr>
          <a:xfrm>
            <a:off x="762000" y="400050"/>
            <a:ext cx="7620000" cy="209550"/>
          </a:xfrm>
        </p:spPr>
        <p:txBody>
          <a:bodyPr wrap="square" rtlCol="0" lIns="0" tIns="0" rIns="0" bIns="0" anchor="t"/>
          <a:lstStyle/>
          <a:p>
            <a:pPr algn="l"/>
            <a:r>
              <a:rPr sz="1200" b="1">
                <a:solidFill>
                  <a:srgbClr val="00A8B5"/>
                </a:solidFill>
                <a:latin typeface="Arial"/>
                <a:ea typeface="Arial"/>
              </a:rPr>
              <a:t>01 · CONTEXTE</a:t>
            </a:r>
          </a:p>
        </p:txBody>
      </p:sp>
      <p:sp>
        <p:nvSpPr>
          <p:cNvPr id="4" name="TextBox 4">
            <a:extLst>
              <a:ext uri="{FF2B5EF4-FFF2-40B4-BE49-F238E27FC236}">
                <a16:creationId xmlns:a16="http://schemas.microsoft.com/office/drawing/2014/main" id="{67BF4D14-CB9B-48A1-B911-19AC65333241}"/>
              </a:ext>
            </a:extLst>
          </p:cNvPr>
          <p:cNvSpPr txBox="1"/>
          <p:nvPr/>
        </p:nvSpPr>
        <p:spPr>
          <a:xfrm>
            <a:off x="762000" y="628650"/>
            <a:ext cx="9525000" cy="514350"/>
          </a:xfrm>
        </p:spPr>
        <p:txBody>
          <a:bodyPr wrap="square" rtlCol="0" lIns="0" tIns="0" rIns="0" bIns="0" anchor="t"/>
          <a:lstStyle/>
          <a:p>
            <a:pPr algn="l"/>
            <a:r>
              <a:rPr sz="3000" b="1">
                <a:solidFill>
                  <a:srgbClr val="12233A"/>
                </a:solidFill>
                <a:latin typeface="Arial"/>
                <a:ea typeface="Arial"/>
              </a:rPr>
              <a:t>Contexte et problématique</a:t>
            </a:r>
          </a:p>
        </p:txBody>
      </p:sp>
      <p:sp>
        <p:nvSpPr>
          <p:cNvPr id="5" name="TextBox 5">
            <a:extLst>
              <a:ext uri="{FF2B5EF4-FFF2-40B4-BE49-F238E27FC236}">
                <a16:creationId xmlns:a16="http://schemas.microsoft.com/office/drawing/2014/main" id="{3C50719D-0209-4B61-9445-A85B361C6A88}"/>
              </a:ext>
            </a:extLst>
          </p:cNvPr>
          <p:cNvSpPr txBox="1"/>
          <p:nvPr/>
        </p:nvSpPr>
        <p:spPr>
          <a:xfrm>
            <a:off x="762000" y="1181100"/>
            <a:ext cx="10668000" cy="495300"/>
          </a:xfrm>
        </p:spPr>
        <p:txBody>
          <a:bodyPr wrap="square" rtlCol="0" lIns="0" tIns="0" rIns="0" bIns="0" anchor="t"/>
          <a:lstStyle/>
          <a:p>
            <a:pPr algn="l"/>
            <a:r>
              <a:rPr sz="1400">
                <a:solidFill>
                  <a:srgbClr val="5A6B80"/>
                </a:solidFill>
                <a:latin typeface="Arial"/>
                <a:ea typeface="Arial"/>
              </a:rPr>
              <a:t>Avant le projet, le recrutement s'appuyait sur des canaux dispersés : boîtes mail, fichiers partagés, échanges oraux. Rien ne centralisait les statuts ni les décisions.</a:t>
            </a:r>
          </a:p>
        </p:txBody>
      </p:sp>
      <p:sp>
        <p:nvSpPr>
          <p:cNvPr id="6" name="Shape 6">
            <a:extLst>
              <a:ext uri="{FF2B5EF4-FFF2-40B4-BE49-F238E27FC236}">
                <a16:creationId xmlns:a16="http://schemas.microsoft.com/office/drawing/2014/main" id="{A6998F18-D9B4-4C8D-B256-A7F3F0E25E47}"/>
              </a:ext>
            </a:extLst>
          </p:cNvPr>
          <p:cNvSpPr/>
          <p:nvPr/>
        </p:nvSpPr>
        <p:spPr>
          <a:xfrm>
            <a:off x="762000" y="1809750"/>
            <a:ext cx="5143500" cy="3048000"/>
          </a:xfrm>
          <a:prstGeom prst="roundRect">
            <a:avLst/>
          </a:prstGeom>
          <a:solidFill>
            <a:srgbClr val="FFFFFF"/>
          </a:solidFill>
          <a:ln w="12700">
            <a:solidFill>
              <a:srgbClr val="D8E0EA"/>
            </a:solidFill>
          </a:ln>
        </p:spPr>
        <p:txBody>
          <a:bodyPr wrap="square" rtlCol="0"/>
          <a:lstStyle/>
          <a:p>
            <a:r>
              <a:rPr/>
              <a:t/>
            </a:r>
          </a:p>
        </p:txBody>
      </p:sp>
      <p:sp>
        <p:nvSpPr>
          <p:cNvPr id="7" name="TextBox 7">
            <a:extLst>
              <a:ext uri="{FF2B5EF4-FFF2-40B4-BE49-F238E27FC236}">
                <a16:creationId xmlns:a16="http://schemas.microsoft.com/office/drawing/2014/main" id="{1F4AB5B9-1E7E-4C74-A75F-8C6157F4571C}"/>
              </a:ext>
            </a:extLst>
          </p:cNvPr>
          <p:cNvSpPr txBox="1"/>
          <p:nvPr/>
        </p:nvSpPr>
        <p:spPr>
          <a:xfrm>
            <a:off x="1066800" y="2057400"/>
            <a:ext cx="4533900" cy="323850"/>
          </a:xfrm>
        </p:spPr>
        <p:txBody>
          <a:bodyPr wrap="square" rtlCol="0" lIns="0" tIns="0" rIns="0" bIns="0" anchor="t"/>
          <a:lstStyle/>
          <a:p>
            <a:pPr algn="l"/>
            <a:r>
              <a:rPr sz="1700" b="1">
                <a:solidFill>
                  <a:srgbClr val="12233A"/>
                </a:solidFill>
                <a:latin typeface="Arial"/>
                <a:ea typeface="Arial"/>
              </a:rPr>
              <a:t>Limites de l'existant</a:t>
            </a:r>
          </a:p>
        </p:txBody>
      </p:sp>
      <p:sp>
        <p:nvSpPr>
          <p:cNvPr id="8" name="TextBox 8">
            <a:extLst>
              <a:ext uri="{FF2B5EF4-FFF2-40B4-BE49-F238E27FC236}">
                <a16:creationId xmlns:a16="http://schemas.microsoft.com/office/drawing/2014/main" id="{D1C95233-677B-4B08-9368-3FD3FC154DEA}"/>
              </a:ext>
            </a:extLst>
          </p:cNvPr>
          <p:cNvSpPr txBox="1"/>
          <p:nvPr/>
        </p:nvSpPr>
        <p:spPr>
          <a:xfrm>
            <a:off x="1066800" y="2476500"/>
            <a:ext cx="4533900" cy="2209800"/>
          </a:xfrm>
        </p:spPr>
        <p:txBody>
          <a:bodyPr wrap="square" rtlCol="0" lIns="0" tIns="0" rIns="0" bIns="0" anchor="t"/>
          <a:lstStyle/>
          <a:p>
            <a:pPr marL="228600" indent="-228600" algn="l">
              <a:lnSpc>
                <a:spcPct val="115000"/>
              </a:lnSpc>
              <a:spcAft>
                <a:spcPts val="1000"/>
              </a:spcAft>
              <a:buChar char="•"/>
            </a:pPr>
            <a:r>
              <a:rPr sz="1300">
                <a:solidFill>
                  <a:srgbClr val="12233A"/>
                </a:solidFill>
                <a:latin typeface="Arial"/>
                <a:ea typeface="Arial"/>
              </a:rPr>
              <a:t>Information dispersée entre mails, fichiers et oral.</a:t>
            </a:r>
          </a:p>
          <a:p>
            <a:pPr marL="228600" indent="-228600" algn="l">
              <a:lnSpc>
                <a:spcPct val="115000"/>
              </a:lnSpc>
              <a:spcAft>
                <a:spcPts val="1000"/>
              </a:spcAft>
              <a:buChar char="•"/>
            </a:pPr>
            <a:r>
              <a:rPr sz="1300">
                <a:solidFill>
                  <a:srgbClr val="12233A"/>
                </a:solidFill>
                <a:latin typeface="Arial"/>
                <a:ea typeface="Arial"/>
              </a:rPr>
              <a:t>Aucune traçabilité des statuts ni des décisions.</a:t>
            </a:r>
          </a:p>
          <a:p>
            <a:pPr marL="228600" indent="-228600" algn="l">
              <a:lnSpc>
                <a:spcPct val="115000"/>
              </a:lnSpc>
              <a:spcAft>
                <a:spcPts val="1000"/>
              </a:spcAft>
              <a:buChar char="•"/>
            </a:pPr>
            <a:r>
              <a:rPr sz="1300">
                <a:solidFill>
                  <a:srgbClr val="12233A"/>
                </a:solidFill>
                <a:latin typeface="Arial"/>
                <a:ea typeface="Arial"/>
              </a:rPr>
              <a:t>Présélection et communication entièrement manuelles.</a:t>
            </a:r>
          </a:p>
          <a:p>
            <a:pPr marL="228600" indent="-228600" algn="l">
              <a:lnSpc>
                <a:spcPct val="115000"/>
              </a:lnSpc>
              <a:buChar char="•"/>
            </a:pPr>
            <a:r>
              <a:rPr sz="1300">
                <a:solidFill>
                  <a:srgbClr val="12233A"/>
                </a:solidFill>
                <a:latin typeface="Arial"/>
                <a:ea typeface="Arial"/>
              </a:rPr>
              <a:t>Délais allongés à mesure que le volume de candidatures croît.</a:t>
            </a:r>
          </a:p>
        </p:txBody>
      </p:sp>
      <p:sp>
        <p:nvSpPr>
          <p:cNvPr id="9" name="Shape 9">
            <a:extLst>
              <a:ext uri="{FF2B5EF4-FFF2-40B4-BE49-F238E27FC236}">
                <a16:creationId xmlns:a16="http://schemas.microsoft.com/office/drawing/2014/main" id="{D9F316D9-3EB2-4DB4-8F3C-994ED82AB30D}"/>
              </a:ext>
            </a:extLst>
          </p:cNvPr>
          <p:cNvSpPr/>
          <p:nvPr/>
        </p:nvSpPr>
        <p:spPr>
          <a:xfrm>
            <a:off x="6286500" y="1809750"/>
            <a:ext cx="5143500" cy="3048000"/>
          </a:xfrm>
          <a:prstGeom prst="roundRect">
            <a:avLst/>
          </a:prstGeom>
          <a:solidFill>
            <a:srgbClr val="FFFFFF"/>
          </a:solidFill>
          <a:ln w="12700">
            <a:solidFill>
              <a:srgbClr val="D8E0EA"/>
            </a:solidFill>
          </a:ln>
        </p:spPr>
        <p:txBody>
          <a:bodyPr wrap="square" rtlCol="0"/>
          <a:lstStyle/>
          <a:p>
            <a:r>
              <a:rPr/>
              <a:t/>
            </a:r>
          </a:p>
        </p:txBody>
      </p:sp>
      <p:sp>
        <p:nvSpPr>
          <p:cNvPr id="10" name="TextBox 10">
            <a:extLst>
              <a:ext uri="{FF2B5EF4-FFF2-40B4-BE49-F238E27FC236}">
                <a16:creationId xmlns:a16="http://schemas.microsoft.com/office/drawing/2014/main" id="{07DE28F3-939D-4AB1-AC16-474CC7053E83}"/>
              </a:ext>
            </a:extLst>
          </p:cNvPr>
          <p:cNvSpPr txBox="1"/>
          <p:nvPr/>
        </p:nvSpPr>
        <p:spPr>
          <a:xfrm>
            <a:off x="6591300" y="2057400"/>
            <a:ext cx="4533900" cy="323850"/>
          </a:xfrm>
        </p:spPr>
        <p:txBody>
          <a:bodyPr wrap="square" rtlCol="0" lIns="0" tIns="0" rIns="0" bIns="0" anchor="t"/>
          <a:lstStyle/>
          <a:p>
            <a:pPr algn="l"/>
            <a:r>
              <a:rPr sz="1700" b="1">
                <a:solidFill>
                  <a:srgbClr val="12233A"/>
                </a:solidFill>
                <a:latin typeface="Arial"/>
                <a:ea typeface="Arial"/>
              </a:rPr>
              <a:t>Réponse apportée</a:t>
            </a:r>
          </a:p>
        </p:txBody>
      </p:sp>
      <p:sp>
        <p:nvSpPr>
          <p:cNvPr id="11" name="TextBox 11">
            <a:extLst>
              <a:ext uri="{FF2B5EF4-FFF2-40B4-BE49-F238E27FC236}">
                <a16:creationId xmlns:a16="http://schemas.microsoft.com/office/drawing/2014/main" id="{4864664F-E753-4B5E-AC2C-4251F7C4A0E5}"/>
              </a:ext>
            </a:extLst>
          </p:cNvPr>
          <p:cNvSpPr txBox="1"/>
          <p:nvPr/>
        </p:nvSpPr>
        <p:spPr>
          <a:xfrm>
            <a:off x="6591300" y="2476500"/>
            <a:ext cx="4533900" cy="2209800"/>
          </a:xfrm>
        </p:spPr>
        <p:txBody>
          <a:bodyPr wrap="square" rtlCol="0" lIns="0" tIns="0" rIns="0" bIns="0" anchor="t"/>
          <a:lstStyle/>
          <a:p>
            <a:pPr marL="228600" indent="-228600" algn="l">
              <a:lnSpc>
                <a:spcPct val="115000"/>
              </a:lnSpc>
              <a:spcAft>
                <a:spcPts val="1000"/>
              </a:spcAft>
              <a:buChar char="•"/>
            </a:pPr>
            <a:r>
              <a:rPr sz="1300">
                <a:solidFill>
                  <a:srgbClr val="12233A"/>
                </a:solidFill>
                <a:latin typeface="Arial"/>
                <a:ea typeface="Arial"/>
              </a:rPr>
              <a:t>Une plateforme unique pour tout le processus.</a:t>
            </a:r>
          </a:p>
          <a:p>
            <a:pPr marL="228600" indent="-228600" algn="l">
              <a:lnSpc>
                <a:spcPct val="115000"/>
              </a:lnSpc>
              <a:spcAft>
                <a:spcPts val="1000"/>
              </a:spcAft>
              <a:buChar char="•"/>
            </a:pPr>
            <a:r>
              <a:rPr sz="1300">
                <a:solidFill>
                  <a:srgbClr val="12233A"/>
                </a:solidFill>
                <a:latin typeface="Arial"/>
                <a:ea typeface="Arial"/>
              </a:rPr>
              <a:t>Des accès par rôle, des échanges sécurisés par JWT.</a:t>
            </a:r>
          </a:p>
          <a:p>
            <a:pPr marL="228600" indent="-228600" algn="l">
              <a:lnSpc>
                <a:spcPct val="115000"/>
              </a:lnSpc>
              <a:spcAft>
                <a:spcPts val="1000"/>
              </a:spcAft>
              <a:buChar char="•"/>
            </a:pPr>
            <a:r>
              <a:rPr sz="1300">
                <a:solidFill>
                  <a:srgbClr val="12233A"/>
                </a:solidFill>
                <a:latin typeface="Arial"/>
                <a:ea typeface="Arial"/>
              </a:rPr>
              <a:t>Une pré-analyse des CV par scoring IA, corrigible.</a:t>
            </a:r>
          </a:p>
          <a:p>
            <a:pPr marL="228600" indent="-228600" algn="l">
              <a:lnSpc>
                <a:spcPct val="115000"/>
              </a:lnSpc>
              <a:buChar char="•"/>
            </a:pPr>
            <a:r>
              <a:rPr sz="1300">
                <a:solidFill>
                  <a:srgbClr val="12233A"/>
                </a:solidFill>
                <a:latin typeface="Arial"/>
                <a:ea typeface="Arial"/>
              </a:rPr>
              <a:t>Des notifications automatiques et un pilotage Kanban.</a:t>
            </a:r>
          </a:p>
        </p:txBody>
      </p:sp>
      <p:sp>
        <p:nvSpPr>
          <p:cNvPr id="12" name="Shape 12">
            <a:extLst>
              <a:ext uri="{FF2B5EF4-FFF2-40B4-BE49-F238E27FC236}">
                <a16:creationId xmlns:a16="http://schemas.microsoft.com/office/drawing/2014/main" id="{11429545-CE58-44E7-B631-55BA18816F32}"/>
              </a:ext>
            </a:extLst>
          </p:cNvPr>
          <p:cNvSpPr/>
          <p:nvPr/>
        </p:nvSpPr>
        <p:spPr>
          <a:xfrm>
            <a:off x="762000" y="5105400"/>
            <a:ext cx="10668000" cy="876300"/>
          </a:xfrm>
          <a:prstGeom prst="roundRect">
            <a:avLst/>
          </a:prstGeom>
          <a:solidFill>
            <a:srgbClr val="E8F0F9"/>
          </a:solidFill>
        </p:spPr>
        <p:txBody>
          <a:bodyPr wrap="square" rtlCol="0"/>
          <a:lstStyle/>
          <a:p>
            <a:r>
              <a:rPr/>
              <a:t/>
            </a:r>
          </a:p>
        </p:txBody>
      </p:sp>
      <p:sp>
        <p:nvSpPr>
          <p:cNvPr id="13" name="TextBox 13">
            <a:extLst>
              <a:ext uri="{FF2B5EF4-FFF2-40B4-BE49-F238E27FC236}">
                <a16:creationId xmlns:a16="http://schemas.microsoft.com/office/drawing/2014/main" id="{AFBDEE81-D479-482A-B3C6-190B615DF9B5}"/>
              </a:ext>
            </a:extLst>
          </p:cNvPr>
          <p:cNvSpPr txBox="1"/>
          <p:nvPr/>
        </p:nvSpPr>
        <p:spPr>
          <a:xfrm>
            <a:off x="1066800" y="5257800"/>
            <a:ext cx="10058400" cy="571500"/>
          </a:xfrm>
        </p:spPr>
        <p:txBody>
          <a:bodyPr wrap="square" rtlCol="0" lIns="0" tIns="0" rIns="0" bIns="0" anchor="t"/>
          <a:lstStyle/>
          <a:p>
            <a:pPr algn="l">
              <a:lnSpc>
                <a:spcPct val="115000"/>
              </a:lnSpc>
            </a:pPr>
            <a:r>
              <a:rPr sz="1500" b="1">
                <a:solidFill>
                  <a:srgbClr val="1B4F9C"/>
                </a:solidFill>
                <a:latin typeface="Arial"/>
                <a:ea typeface="Arial"/>
              </a:rPr>
              <a:t>Problématique : </a:t>
            </a:r>
            <a:r>
              <a:rPr sz="1500">
                <a:solidFill>
                  <a:srgbClr val="12233A"/>
                </a:solidFill>
                <a:latin typeface="Arial"/>
                <a:ea typeface="Arial"/>
              </a:rPr>
              <a:t>comment centraliser, sécuriser et automatiser tout le processus - de la publication de l'offre à la décision finale - tout en offrant une visibilité en temps réel à chacun des acteurs concernés ?</a:t>
            </a:r>
          </a:p>
        </p:txBody>
      </p:sp>
      <p:sp>
        <p:nvSpPr>
          <p:cNvPr id="14" name="TextBox 14">
            <a:extLst>
              <a:ext uri="{FF2B5EF4-FFF2-40B4-BE49-F238E27FC236}">
                <a16:creationId xmlns:a16="http://schemas.microsoft.com/office/drawing/2014/main" id="{FD3F44CC-B516-476E-9F52-F18A9C36C957}"/>
              </a:ext>
            </a:extLst>
          </p:cNvPr>
          <p:cNvSpPr txBox="1"/>
          <p:nvPr/>
        </p:nvSpPr>
        <p:spPr>
          <a:xfrm>
            <a:off x="762000" y="6515100"/>
            <a:ext cx="3810000" cy="190500"/>
          </a:xfrm>
        </p:spPr>
        <p:txBody>
          <a:bodyPr wrap="square" rtlCol="0" lIns="0" tIns="0" rIns="0" bIns="0" anchor="t"/>
          <a:lstStyle/>
          <a:p>
            <a:pPr algn="l"/>
            <a:r>
              <a:rPr sz="1050">
                <a:solidFill>
                  <a:srgbClr val="9AA9BC"/>
                </a:solidFill>
                <a:latin typeface="Arial"/>
                <a:ea typeface="Arial"/>
              </a:rPr>
              <a:t>JOB4YOU - Soutenance PFE</a:t>
            </a:r>
          </a:p>
        </p:txBody>
      </p:sp>
      <p:sp>
        <p:nvSpPr>
          <p:cNvPr id="15" name="TextBox 15">
            <a:extLst>
              <a:ext uri="{FF2B5EF4-FFF2-40B4-BE49-F238E27FC236}">
                <a16:creationId xmlns:a16="http://schemas.microsoft.com/office/drawing/2014/main" id="{456E2128-FE75-4C03-B8B7-070430FE6168}"/>
              </a:ext>
            </a:extLst>
          </p:cNvPr>
          <p:cNvSpPr txBox="1"/>
          <p:nvPr/>
        </p:nvSpPr>
        <p:spPr>
          <a:xfrm>
            <a:off x="10858500" y="6515100"/>
            <a:ext cx="571500" cy="190500"/>
          </a:xfrm>
        </p:spPr>
        <p:txBody>
          <a:bodyPr wrap="square" rtlCol="0" lIns="0" tIns="0" rIns="0" bIns="0" anchor="t"/>
          <a:lstStyle/>
          <a:p>
            <a:pPr algn="r"/>
            <a:r>
              <a:rPr sz="1050">
                <a:solidFill>
                  <a:srgbClr val="9AA9BC"/>
                </a:solidFill>
                <a:latin typeface="Arial"/>
                <a:ea typeface="Arial"/>
              </a:rPr>
              <a:t>2 / 19</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id="{1D261484-D52A-49D8-8492-C0D85FB2B336}"/>
              </a:ext>
            </a:extLst>
          </p:cNvPr>
          <p:cNvSpPr txBox="1"/>
          <p:nvPr/>
        </p:nvSpPr>
        <p:spPr>
          <a:xfrm>
            <a:off x="762000" y="400050"/>
            <a:ext cx="7620000" cy="209550"/>
          </a:xfrm>
        </p:spPr>
        <p:txBody>
          <a:bodyPr wrap="square" rtlCol="0" lIns="0" tIns="0" rIns="0" bIns="0" anchor="t"/>
          <a:lstStyle/>
          <a:p>
            <a:pPr algn="l"/>
            <a:r>
              <a:rPr sz="1200" b="1">
                <a:solidFill>
                  <a:srgbClr val="00A8B5"/>
                </a:solidFill>
                <a:latin typeface="Arial"/>
                <a:ea typeface="Arial"/>
              </a:rPr>
              <a:t>01 · CONTEXTE</a:t>
            </a:r>
          </a:p>
        </p:txBody>
      </p:sp>
      <p:sp>
        <p:nvSpPr>
          <p:cNvPr id="4" name="TextBox 4">
            <a:extLst>
              <a:ext uri="{FF2B5EF4-FFF2-40B4-BE49-F238E27FC236}">
                <a16:creationId xmlns:a16="http://schemas.microsoft.com/office/drawing/2014/main" id="{D03057DB-AFF6-4EDD-AB15-EAB2DD30F376}"/>
              </a:ext>
            </a:extLst>
          </p:cNvPr>
          <p:cNvSpPr txBox="1"/>
          <p:nvPr/>
        </p:nvSpPr>
        <p:spPr>
          <a:xfrm>
            <a:off x="762000" y="609600"/>
            <a:ext cx="9525000" cy="476250"/>
          </a:xfrm>
        </p:spPr>
        <p:txBody>
          <a:bodyPr wrap="square" rtlCol="0" lIns="0" tIns="0" rIns="0" bIns="0" anchor="t"/>
          <a:lstStyle/>
          <a:p>
            <a:pPr algn="l"/>
            <a:r>
              <a:rPr sz="3000" b="1">
                <a:solidFill>
                  <a:srgbClr val="12233A"/>
                </a:solidFill>
                <a:latin typeface="Arial"/>
                <a:ea typeface="Arial"/>
              </a:rPr>
              <a:t>Objectifs du projet</a:t>
            </a:r>
          </a:p>
        </p:txBody>
      </p:sp>
      <p:sp>
        <p:nvSpPr>
          <p:cNvPr id="5" name="TextBox 5">
            <a:extLst>
              <a:ext uri="{FF2B5EF4-FFF2-40B4-BE49-F238E27FC236}">
                <a16:creationId xmlns:a16="http://schemas.microsoft.com/office/drawing/2014/main" id="{A103C44C-550B-4812-8275-E3407E4DD6C8}"/>
              </a:ext>
            </a:extLst>
          </p:cNvPr>
          <p:cNvSpPr txBox="1"/>
          <p:nvPr/>
        </p:nvSpPr>
        <p:spPr>
          <a:xfrm>
            <a:off x="762000" y="1143000"/>
            <a:ext cx="10668000" cy="247650"/>
          </a:xfrm>
        </p:spPr>
        <p:txBody>
          <a:bodyPr wrap="square" rtlCol="0" lIns="0" tIns="0" rIns="0" bIns="0" anchor="t"/>
          <a:lstStyle/>
          <a:p>
            <a:pPr algn="l"/>
            <a:r>
              <a:rPr sz="1400">
                <a:solidFill>
                  <a:srgbClr val="5A6B80"/>
                </a:solidFill>
                <a:latin typeface="Arial"/>
                <a:ea typeface="Arial"/>
              </a:rPr>
              <a:t>Six objectifs fixés au cadrage, que j'ai regroupés en trois chantiers.</a:t>
            </a:r>
          </a:p>
        </p:txBody>
      </p:sp>
      <p:sp>
        <p:nvSpPr>
          <p:cNvPr id="6" name="Shape 6">
            <a:extLst>
              <a:ext uri="{FF2B5EF4-FFF2-40B4-BE49-F238E27FC236}">
                <a16:creationId xmlns:a16="http://schemas.microsoft.com/office/drawing/2014/main" id="{AB19FDE5-70FD-4BEF-AA7E-B74F30EB0E0F}"/>
              </a:ext>
            </a:extLst>
          </p:cNvPr>
          <p:cNvSpPr/>
          <p:nvPr/>
        </p:nvSpPr>
        <p:spPr>
          <a:xfrm>
            <a:off x="762000" y="1504950"/>
            <a:ext cx="3352800" cy="3524250"/>
          </a:xfrm>
          <a:prstGeom prst="roundRect">
            <a:avLst/>
          </a:prstGeom>
          <a:solidFill>
            <a:srgbClr val="FFFFFF"/>
          </a:solidFill>
          <a:ln w="12700">
            <a:solidFill>
              <a:srgbClr val="D8E0EA"/>
            </a:solidFill>
          </a:ln>
        </p:spPr>
        <p:txBody>
          <a:bodyPr wrap="square" rtlCol="0"/>
          <a:lstStyle/>
          <a:p>
            <a:r>
              <a:rPr/>
              <a:t/>
            </a:r>
          </a:p>
        </p:txBody>
      </p:sp>
      <p:sp>
        <p:nvSpPr>
          <p:cNvPr id="7" name="TextBox 7">
            <a:extLst>
              <a:ext uri="{FF2B5EF4-FFF2-40B4-BE49-F238E27FC236}">
                <a16:creationId xmlns:a16="http://schemas.microsoft.com/office/drawing/2014/main" id="{95D970D3-0B62-43ED-987B-DF7A650A4A37}"/>
              </a:ext>
            </a:extLst>
          </p:cNvPr>
          <p:cNvSpPr txBox="1"/>
          <p:nvPr/>
        </p:nvSpPr>
        <p:spPr>
          <a:xfrm>
            <a:off x="1028700" y="1752600"/>
            <a:ext cx="1905000" cy="228600"/>
          </a:xfrm>
        </p:spPr>
        <p:txBody>
          <a:bodyPr wrap="square" rtlCol="0" lIns="0" tIns="0" rIns="0" bIns="0" anchor="t"/>
          <a:lstStyle/>
          <a:p>
            <a:pPr algn="l"/>
            <a:r>
              <a:rPr sz="1300" b="1">
                <a:solidFill>
                  <a:srgbClr val="00A8B5"/>
                </a:solidFill>
                <a:latin typeface="Arial"/>
                <a:ea typeface="Arial"/>
              </a:rPr>
              <a:t>01</a:t>
            </a:r>
          </a:p>
        </p:txBody>
      </p:sp>
      <p:sp>
        <p:nvSpPr>
          <p:cNvPr id="8" name="TextBox 8">
            <a:extLst>
              <a:ext uri="{FF2B5EF4-FFF2-40B4-BE49-F238E27FC236}">
                <a16:creationId xmlns:a16="http://schemas.microsoft.com/office/drawing/2014/main" id="{83DED5D1-6881-4AF3-BECD-9DF87DFC6A9A}"/>
              </a:ext>
            </a:extLst>
          </p:cNvPr>
          <p:cNvSpPr txBox="1"/>
          <p:nvPr/>
        </p:nvSpPr>
        <p:spPr>
          <a:xfrm>
            <a:off x="1028700" y="2019300"/>
            <a:ext cx="2819400" cy="304800"/>
          </a:xfrm>
        </p:spPr>
        <p:txBody>
          <a:bodyPr wrap="square" rtlCol="0" lIns="0" tIns="0" rIns="0" bIns="0" anchor="t"/>
          <a:lstStyle/>
          <a:p>
            <a:pPr algn="l"/>
            <a:r>
              <a:rPr sz="1900" b="1">
                <a:solidFill>
                  <a:srgbClr val="12233A"/>
                </a:solidFill>
                <a:latin typeface="Arial"/>
                <a:ea typeface="Arial"/>
              </a:rPr>
              <a:t>Centraliser</a:t>
            </a:r>
          </a:p>
        </p:txBody>
      </p:sp>
      <p:sp>
        <p:nvSpPr>
          <p:cNvPr id="9" name="TextBox 9">
            <a:extLst>
              <a:ext uri="{FF2B5EF4-FFF2-40B4-BE49-F238E27FC236}">
                <a16:creationId xmlns:a16="http://schemas.microsoft.com/office/drawing/2014/main" id="{125FE0FB-BDBA-4492-B88C-9724CD785F1A}"/>
              </a:ext>
            </a:extLst>
          </p:cNvPr>
          <p:cNvSpPr txBox="1"/>
          <p:nvPr/>
        </p:nvSpPr>
        <p:spPr>
          <a:xfrm>
            <a:off x="1028700" y="2457450"/>
            <a:ext cx="2819400" cy="2381250"/>
          </a:xfrm>
        </p:spPr>
        <p:txBody>
          <a:bodyPr wrap="square" rtlCol="0" lIns="0" tIns="0" rIns="0" bIns="0" anchor="t"/>
          <a:lstStyle/>
          <a:p>
            <a:pPr marL="228600" indent="-228600" algn="l">
              <a:lnSpc>
                <a:spcPct val="115000"/>
              </a:lnSpc>
              <a:spcAft>
                <a:spcPts val="1200"/>
              </a:spcAft>
              <a:buChar char="•"/>
            </a:pPr>
            <a:r>
              <a:rPr sz="1300">
                <a:solidFill>
                  <a:srgbClr val="12233A"/>
                </a:solidFill>
                <a:latin typeface="Arial"/>
                <a:ea typeface="Arial"/>
              </a:rPr>
              <a:t>Une seule plateforme web regroupant toutes les étapes, de l'offre à la décision.</a:t>
            </a:r>
          </a:p>
          <a:p>
            <a:pPr marL="228600" indent="-228600" algn="l">
              <a:lnSpc>
                <a:spcPct val="115000"/>
              </a:lnSpc>
              <a:spcAft>
                <a:spcPts val="1200"/>
              </a:spcAft>
              <a:buChar char="•"/>
            </a:pPr>
            <a:r>
              <a:rPr sz="1300">
                <a:solidFill>
                  <a:srgbClr val="12233A"/>
                </a:solidFill>
                <a:latin typeface="Arial"/>
                <a:ea typeface="Arial"/>
              </a:rPr>
              <a:t>Candidatures, entretiens et feedbacks enregistrés dans le même référentiel.</a:t>
            </a:r>
          </a:p>
          <a:p>
            <a:pPr marL="228600" indent="-228600" algn="l">
              <a:lnSpc>
                <a:spcPct val="115000"/>
              </a:lnSpc>
              <a:buChar char="•"/>
            </a:pPr>
            <a:r>
              <a:rPr sz="1300">
                <a:solidFill>
                  <a:srgbClr val="12233A"/>
                </a:solidFill>
                <a:latin typeface="Arial"/>
                <a:ea typeface="Arial"/>
              </a:rPr>
              <a:t>Des outils de pilotage : Kanban, tableau de bord, indicateurs en temps réel.</a:t>
            </a:r>
          </a:p>
        </p:txBody>
      </p:sp>
      <p:sp>
        <p:nvSpPr>
          <p:cNvPr id="10" name="Shape 10">
            <a:extLst>
              <a:ext uri="{FF2B5EF4-FFF2-40B4-BE49-F238E27FC236}">
                <a16:creationId xmlns:a16="http://schemas.microsoft.com/office/drawing/2014/main" id="{F7B2A59B-E0A8-4E75-A161-124C8499CAD7}"/>
              </a:ext>
            </a:extLst>
          </p:cNvPr>
          <p:cNvSpPr/>
          <p:nvPr/>
        </p:nvSpPr>
        <p:spPr>
          <a:xfrm>
            <a:off x="4419600" y="1504950"/>
            <a:ext cx="3352800" cy="3524250"/>
          </a:xfrm>
          <a:prstGeom prst="roundRect">
            <a:avLst/>
          </a:prstGeom>
          <a:solidFill>
            <a:srgbClr val="FFFFFF"/>
          </a:solidFill>
          <a:ln w="12700">
            <a:solidFill>
              <a:srgbClr val="D8E0EA"/>
            </a:solidFill>
          </a:ln>
        </p:spPr>
        <p:txBody>
          <a:bodyPr wrap="square" rtlCol="0"/>
          <a:lstStyle/>
          <a:p>
            <a:r>
              <a:rPr/>
              <a:t/>
            </a:r>
          </a:p>
        </p:txBody>
      </p:sp>
      <p:sp>
        <p:nvSpPr>
          <p:cNvPr id="11" name="TextBox 11">
            <a:extLst>
              <a:ext uri="{FF2B5EF4-FFF2-40B4-BE49-F238E27FC236}">
                <a16:creationId xmlns:a16="http://schemas.microsoft.com/office/drawing/2014/main" id="{C41D6E97-F80D-4E1E-A5E2-306A2ACF2E18}"/>
              </a:ext>
            </a:extLst>
          </p:cNvPr>
          <p:cNvSpPr txBox="1"/>
          <p:nvPr/>
        </p:nvSpPr>
        <p:spPr>
          <a:xfrm>
            <a:off x="4686300" y="1752600"/>
            <a:ext cx="1905000" cy="228600"/>
          </a:xfrm>
        </p:spPr>
        <p:txBody>
          <a:bodyPr wrap="square" rtlCol="0" lIns="0" tIns="0" rIns="0" bIns="0" anchor="t"/>
          <a:lstStyle/>
          <a:p>
            <a:pPr algn="l"/>
            <a:r>
              <a:rPr sz="1300" b="1">
                <a:solidFill>
                  <a:srgbClr val="00A8B5"/>
                </a:solidFill>
                <a:latin typeface="Arial"/>
                <a:ea typeface="Arial"/>
              </a:rPr>
              <a:t>02</a:t>
            </a:r>
          </a:p>
        </p:txBody>
      </p:sp>
      <p:sp>
        <p:nvSpPr>
          <p:cNvPr id="12" name="TextBox 12">
            <a:extLst>
              <a:ext uri="{FF2B5EF4-FFF2-40B4-BE49-F238E27FC236}">
                <a16:creationId xmlns:a16="http://schemas.microsoft.com/office/drawing/2014/main" id="{2DBFA289-6BA3-4689-A461-50B8874C60ED}"/>
              </a:ext>
            </a:extLst>
          </p:cNvPr>
          <p:cNvSpPr txBox="1"/>
          <p:nvPr/>
        </p:nvSpPr>
        <p:spPr>
          <a:xfrm>
            <a:off x="4686300" y="2019300"/>
            <a:ext cx="2819400" cy="304800"/>
          </a:xfrm>
        </p:spPr>
        <p:txBody>
          <a:bodyPr wrap="square" rtlCol="0" lIns="0" tIns="0" rIns="0" bIns="0" anchor="t"/>
          <a:lstStyle/>
          <a:p>
            <a:pPr algn="l"/>
            <a:r>
              <a:rPr sz="1900" b="1">
                <a:solidFill>
                  <a:srgbClr val="12233A"/>
                </a:solidFill>
                <a:latin typeface="Arial"/>
                <a:ea typeface="Arial"/>
              </a:rPr>
              <a:t>Sécuriser</a:t>
            </a:r>
          </a:p>
        </p:txBody>
      </p:sp>
      <p:sp>
        <p:nvSpPr>
          <p:cNvPr id="13" name="TextBox 13">
            <a:extLst>
              <a:ext uri="{FF2B5EF4-FFF2-40B4-BE49-F238E27FC236}">
                <a16:creationId xmlns:a16="http://schemas.microsoft.com/office/drawing/2014/main" id="{312FF0C2-D440-4EB2-BB84-B6B183B96403}"/>
              </a:ext>
            </a:extLst>
          </p:cNvPr>
          <p:cNvSpPr txBox="1"/>
          <p:nvPr/>
        </p:nvSpPr>
        <p:spPr>
          <a:xfrm>
            <a:off x="4686300" y="2457450"/>
            <a:ext cx="2819400" cy="2381250"/>
          </a:xfrm>
        </p:spPr>
        <p:txBody>
          <a:bodyPr wrap="square" rtlCol="0" lIns="0" tIns="0" rIns="0" bIns="0" anchor="t"/>
          <a:lstStyle/>
          <a:p>
            <a:pPr marL="228600" indent="-228600" algn="l">
              <a:lnSpc>
                <a:spcPct val="115000"/>
              </a:lnSpc>
              <a:spcAft>
                <a:spcPts val="1200"/>
              </a:spcAft>
              <a:buChar char="•"/>
            </a:pPr>
            <a:r>
              <a:rPr sz="1300">
                <a:solidFill>
                  <a:srgbClr val="12233A"/>
                </a:solidFill>
                <a:latin typeface="Arial"/>
                <a:ea typeface="Arial"/>
              </a:rPr>
              <a:t>Quatre profils habilités, chacun limité au périmètre qui le concerne.</a:t>
            </a:r>
          </a:p>
          <a:p>
            <a:pPr marL="228600" indent="-228600" algn="l">
              <a:lnSpc>
                <a:spcPct val="115000"/>
              </a:lnSpc>
              <a:spcAft>
                <a:spcPts val="1200"/>
              </a:spcAft>
              <a:buChar char="•"/>
            </a:pPr>
            <a:r>
              <a:rPr sz="1300">
                <a:solidFill>
                  <a:srgbClr val="12233A"/>
                </a:solidFill>
                <a:latin typeface="Arial"/>
                <a:ea typeface="Arial"/>
              </a:rPr>
              <a:t>Authentification par jeton JWT et contrôle d'accès par rôles, front et back.</a:t>
            </a:r>
          </a:p>
          <a:p>
            <a:pPr marL="228600" indent="-228600" algn="l">
              <a:lnSpc>
                <a:spcPct val="115000"/>
              </a:lnSpc>
              <a:buChar char="•"/>
            </a:pPr>
            <a:r>
              <a:rPr sz="1300">
                <a:solidFill>
                  <a:srgbClr val="12233A"/>
                </a:solidFill>
                <a:latin typeface="Arial"/>
                <a:ea typeface="Arial"/>
              </a:rPr>
              <a:t>Toute décision sensible laisse une trace dans le journal d'audit.</a:t>
            </a:r>
          </a:p>
        </p:txBody>
      </p:sp>
      <p:sp>
        <p:nvSpPr>
          <p:cNvPr id="14" name="Shape 14">
            <a:extLst>
              <a:ext uri="{FF2B5EF4-FFF2-40B4-BE49-F238E27FC236}">
                <a16:creationId xmlns:a16="http://schemas.microsoft.com/office/drawing/2014/main" id="{AD77EACF-C4C7-4491-BCB3-486A766DB198}"/>
              </a:ext>
            </a:extLst>
          </p:cNvPr>
          <p:cNvSpPr/>
          <p:nvPr/>
        </p:nvSpPr>
        <p:spPr>
          <a:xfrm>
            <a:off x="8077200" y="1504950"/>
            <a:ext cx="3352800" cy="3524250"/>
          </a:xfrm>
          <a:prstGeom prst="roundRect">
            <a:avLst/>
          </a:prstGeom>
          <a:solidFill>
            <a:srgbClr val="FFFFFF"/>
          </a:solidFill>
          <a:ln w="12700">
            <a:solidFill>
              <a:srgbClr val="D8E0EA"/>
            </a:solidFill>
          </a:ln>
        </p:spPr>
        <p:txBody>
          <a:bodyPr wrap="square" rtlCol="0"/>
          <a:lstStyle/>
          <a:p>
            <a:r>
              <a:rPr/>
              <a:t/>
            </a:r>
          </a:p>
        </p:txBody>
      </p:sp>
      <p:sp>
        <p:nvSpPr>
          <p:cNvPr id="15" name="TextBox 15">
            <a:extLst>
              <a:ext uri="{FF2B5EF4-FFF2-40B4-BE49-F238E27FC236}">
                <a16:creationId xmlns:a16="http://schemas.microsoft.com/office/drawing/2014/main" id="{EA61AB93-382B-40D2-83BF-D32470879080}"/>
              </a:ext>
            </a:extLst>
          </p:cNvPr>
          <p:cNvSpPr txBox="1"/>
          <p:nvPr/>
        </p:nvSpPr>
        <p:spPr>
          <a:xfrm>
            <a:off x="8343900" y="1752600"/>
            <a:ext cx="1905000" cy="228600"/>
          </a:xfrm>
        </p:spPr>
        <p:txBody>
          <a:bodyPr wrap="square" rtlCol="0" lIns="0" tIns="0" rIns="0" bIns="0" anchor="t"/>
          <a:lstStyle/>
          <a:p>
            <a:pPr algn="l"/>
            <a:r>
              <a:rPr sz="1300" b="1">
                <a:solidFill>
                  <a:srgbClr val="00A8B5"/>
                </a:solidFill>
                <a:latin typeface="Arial"/>
                <a:ea typeface="Arial"/>
              </a:rPr>
              <a:t>03</a:t>
            </a:r>
          </a:p>
        </p:txBody>
      </p:sp>
      <p:sp>
        <p:nvSpPr>
          <p:cNvPr id="16" name="TextBox 16">
            <a:extLst>
              <a:ext uri="{FF2B5EF4-FFF2-40B4-BE49-F238E27FC236}">
                <a16:creationId xmlns:a16="http://schemas.microsoft.com/office/drawing/2014/main" id="{457D5543-2CD7-4369-AE19-60665DF9D5EC}"/>
              </a:ext>
            </a:extLst>
          </p:cNvPr>
          <p:cNvSpPr txBox="1"/>
          <p:nvPr/>
        </p:nvSpPr>
        <p:spPr>
          <a:xfrm>
            <a:off x="8343900" y="2019300"/>
            <a:ext cx="2819400" cy="304800"/>
          </a:xfrm>
        </p:spPr>
        <p:txBody>
          <a:bodyPr wrap="square" rtlCol="0" lIns="0" tIns="0" rIns="0" bIns="0" anchor="t"/>
          <a:lstStyle/>
          <a:p>
            <a:pPr algn="l"/>
            <a:r>
              <a:rPr sz="1900" b="1">
                <a:solidFill>
                  <a:srgbClr val="12233A"/>
                </a:solidFill>
                <a:latin typeface="Arial"/>
                <a:ea typeface="Arial"/>
              </a:rPr>
              <a:t>Automatiser</a:t>
            </a:r>
          </a:p>
        </p:txBody>
      </p:sp>
      <p:sp>
        <p:nvSpPr>
          <p:cNvPr id="17" name="TextBox 17">
            <a:extLst>
              <a:ext uri="{FF2B5EF4-FFF2-40B4-BE49-F238E27FC236}">
                <a16:creationId xmlns:a16="http://schemas.microsoft.com/office/drawing/2014/main" id="{CE467255-CC3F-4D9C-AFE1-99C26D25E015}"/>
              </a:ext>
            </a:extLst>
          </p:cNvPr>
          <p:cNvSpPr txBox="1"/>
          <p:nvPr/>
        </p:nvSpPr>
        <p:spPr>
          <a:xfrm>
            <a:off x="8343900" y="2457450"/>
            <a:ext cx="2819400" cy="2381250"/>
          </a:xfrm>
        </p:spPr>
        <p:txBody>
          <a:bodyPr wrap="square" rtlCol="0" lIns="0" tIns="0" rIns="0" bIns="0" anchor="t"/>
          <a:lstStyle/>
          <a:p>
            <a:pPr marL="228600" indent="-228600" algn="l">
              <a:lnSpc>
                <a:spcPct val="115000"/>
              </a:lnSpc>
              <a:spcAft>
                <a:spcPts val="1200"/>
              </a:spcAft>
              <a:buChar char="•"/>
            </a:pPr>
            <a:r>
              <a:rPr sz="1300">
                <a:solidFill>
                  <a:srgbClr val="12233A"/>
                </a:solidFill>
                <a:latin typeface="Arial"/>
                <a:ea typeface="Arial"/>
              </a:rPr>
              <a:t>Pré-analyse des CV par scoring IA, pour accélérer le tri initial.</a:t>
            </a:r>
          </a:p>
          <a:p>
            <a:pPr marL="228600" indent="-228600" algn="l">
              <a:lnSpc>
                <a:spcPct val="115000"/>
              </a:lnSpc>
              <a:spcAft>
                <a:spcPts val="1200"/>
              </a:spcAft>
              <a:buChar char="•"/>
            </a:pPr>
            <a:r>
              <a:rPr sz="1300">
                <a:solidFill>
                  <a:srgbClr val="12233A"/>
                </a:solidFill>
                <a:latin typeface="Arial"/>
                <a:ea typeface="Arial"/>
              </a:rPr>
              <a:t>Notifications et convocations automatiques à chaque étape clé.</a:t>
            </a:r>
          </a:p>
          <a:p>
            <a:pPr marL="228600" indent="-228600" algn="l">
              <a:lnSpc>
                <a:spcPct val="115000"/>
              </a:lnSpc>
              <a:buChar char="•"/>
            </a:pPr>
            <a:r>
              <a:rPr sz="1300">
                <a:solidFill>
                  <a:srgbClr val="12233A"/>
                </a:solidFill>
                <a:latin typeface="Arial"/>
                <a:ea typeface="Arial"/>
              </a:rPr>
              <a:t>La décision finale reste aux mains des équipes RH et managers.</a:t>
            </a:r>
          </a:p>
        </p:txBody>
      </p:sp>
      <p:sp>
        <p:nvSpPr>
          <p:cNvPr id="18" name="Shape 18">
            <a:extLst>
              <a:ext uri="{FF2B5EF4-FFF2-40B4-BE49-F238E27FC236}">
                <a16:creationId xmlns:a16="http://schemas.microsoft.com/office/drawing/2014/main" id="{943B04ED-05CA-4C4C-A27C-6AE48F4CB8CC}"/>
              </a:ext>
            </a:extLst>
          </p:cNvPr>
          <p:cNvSpPr/>
          <p:nvPr/>
        </p:nvSpPr>
        <p:spPr>
          <a:xfrm>
            <a:off x="762000" y="5314950"/>
            <a:ext cx="10668000" cy="762000"/>
          </a:xfrm>
          <a:prstGeom prst="roundRect">
            <a:avLst/>
          </a:prstGeom>
          <a:solidFill>
            <a:srgbClr val="E8F0F9"/>
          </a:solidFill>
        </p:spPr>
        <p:txBody>
          <a:bodyPr wrap="square" rtlCol="0"/>
          <a:lstStyle/>
          <a:p>
            <a:r>
              <a:rPr/>
              <a:t/>
            </a:r>
          </a:p>
        </p:txBody>
      </p:sp>
      <p:sp>
        <p:nvSpPr>
          <p:cNvPr id="19" name="TextBox 19">
            <a:extLst>
              <a:ext uri="{FF2B5EF4-FFF2-40B4-BE49-F238E27FC236}">
                <a16:creationId xmlns:a16="http://schemas.microsoft.com/office/drawing/2014/main" id="{50024BE1-4E66-416F-B2F2-4DE8CFE43604}"/>
              </a:ext>
            </a:extLst>
          </p:cNvPr>
          <p:cNvSpPr txBox="1"/>
          <p:nvPr/>
        </p:nvSpPr>
        <p:spPr>
          <a:xfrm>
            <a:off x="1066800" y="5505450"/>
            <a:ext cx="10058400" cy="514350"/>
          </a:xfrm>
        </p:spPr>
        <p:txBody>
          <a:bodyPr wrap="square" rtlCol="0" lIns="0" tIns="0" rIns="0" bIns="0" anchor="t"/>
          <a:lstStyle/>
          <a:p>
            <a:pPr algn="l">
              <a:lnSpc>
                <a:spcPct val="115000"/>
              </a:lnSpc>
            </a:pPr>
            <a:r>
              <a:rPr sz="1400" b="1">
                <a:solidFill>
                  <a:srgbClr val="1B4F9C"/>
                </a:solidFill>
                <a:latin typeface="Arial"/>
                <a:ea typeface="Arial"/>
              </a:rPr>
              <a:t>Résultat : </a:t>
            </a:r>
            <a:r>
              <a:rPr sz="1400">
                <a:solidFill>
                  <a:srgbClr val="12233A"/>
                </a:solidFill>
                <a:latin typeface="Arial"/>
                <a:ea typeface="Arial"/>
              </a:rPr>
              <a:t>ces trois axes ont été traduits en onze besoins fonctionnels et six exigences non fonctionnelles, détaillées dans les deux diapositives suivantes.</a:t>
            </a:r>
          </a:p>
        </p:txBody>
      </p:sp>
      <p:sp>
        <p:nvSpPr>
          <p:cNvPr id="20" name="TextBox 20">
            <a:extLst>
              <a:ext uri="{FF2B5EF4-FFF2-40B4-BE49-F238E27FC236}">
                <a16:creationId xmlns:a16="http://schemas.microsoft.com/office/drawing/2014/main" id="{17C73213-12C5-494A-8AA4-3DCBF75BEC23}"/>
              </a:ext>
            </a:extLst>
          </p:cNvPr>
          <p:cNvSpPr txBox="1"/>
          <p:nvPr/>
        </p:nvSpPr>
        <p:spPr>
          <a:xfrm>
            <a:off x="762000" y="6515100"/>
            <a:ext cx="3810000" cy="190500"/>
          </a:xfrm>
        </p:spPr>
        <p:txBody>
          <a:bodyPr wrap="square" rtlCol="0" lIns="0" tIns="0" rIns="0" bIns="0" anchor="t"/>
          <a:lstStyle/>
          <a:p>
            <a:pPr algn="l"/>
            <a:r>
              <a:rPr sz="1050">
                <a:solidFill>
                  <a:srgbClr val="9AA9BC"/>
                </a:solidFill>
                <a:latin typeface="Arial"/>
                <a:ea typeface="Arial"/>
              </a:rPr>
              <a:t>JOB4YOU - Soutenance PFE</a:t>
            </a:r>
          </a:p>
        </p:txBody>
      </p:sp>
      <p:sp>
        <p:nvSpPr>
          <p:cNvPr id="21" name="TextBox 21">
            <a:extLst>
              <a:ext uri="{FF2B5EF4-FFF2-40B4-BE49-F238E27FC236}">
                <a16:creationId xmlns:a16="http://schemas.microsoft.com/office/drawing/2014/main" id="{92D81A53-9C04-49D7-A6C7-ADEFBE12F408}"/>
              </a:ext>
            </a:extLst>
          </p:cNvPr>
          <p:cNvSpPr txBox="1"/>
          <p:nvPr/>
        </p:nvSpPr>
        <p:spPr>
          <a:xfrm>
            <a:off x="10858500" y="6515100"/>
            <a:ext cx="571500" cy="190500"/>
          </a:xfrm>
        </p:spPr>
        <p:txBody>
          <a:bodyPr wrap="square" rtlCol="0" lIns="0" tIns="0" rIns="0" bIns="0" anchor="t"/>
          <a:lstStyle/>
          <a:p>
            <a:pPr algn="r"/>
            <a:r>
              <a:rPr sz="1050">
                <a:solidFill>
                  <a:srgbClr val="9AA9BC"/>
                </a:solidFill>
                <a:latin typeface="Arial"/>
                <a:ea typeface="Arial"/>
              </a:rPr>
              <a:t>3 / 19</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id="{CFC9ADC3-09C6-4C89-87B2-FEB0B410E03B}"/>
              </a:ext>
            </a:extLst>
          </p:cNvPr>
          <p:cNvSpPr txBox="1"/>
          <p:nvPr/>
        </p:nvSpPr>
        <p:spPr>
          <a:xfrm>
            <a:off x="762000" y="400050"/>
            <a:ext cx="7620000" cy="209550"/>
          </a:xfrm>
        </p:spPr>
        <p:txBody>
          <a:bodyPr wrap="square" rtlCol="0" lIns="0" tIns="0" rIns="0" bIns="0" anchor="t"/>
          <a:lstStyle/>
          <a:p>
            <a:pPr algn="l"/>
            <a:r>
              <a:rPr sz="1200" b="1">
                <a:solidFill>
                  <a:srgbClr val="00A8B5"/>
                </a:solidFill>
                <a:latin typeface="Arial"/>
                <a:ea typeface="Arial"/>
              </a:rPr>
              <a:t>02 · ANALYSE DES BESOINS</a:t>
            </a:r>
          </a:p>
        </p:txBody>
      </p:sp>
      <p:sp>
        <p:nvSpPr>
          <p:cNvPr id="4" name="TextBox 4">
            <a:extLst>
              <a:ext uri="{FF2B5EF4-FFF2-40B4-BE49-F238E27FC236}">
                <a16:creationId xmlns:a16="http://schemas.microsoft.com/office/drawing/2014/main" id="{138F8855-26D2-4F47-85BA-D1BA189CB671}"/>
              </a:ext>
            </a:extLst>
          </p:cNvPr>
          <p:cNvSpPr txBox="1"/>
          <p:nvPr/>
        </p:nvSpPr>
        <p:spPr>
          <a:xfrm>
            <a:off x="762000" y="609600"/>
            <a:ext cx="9525000" cy="476250"/>
          </a:xfrm>
        </p:spPr>
        <p:txBody>
          <a:bodyPr wrap="square" rtlCol="0" lIns="0" tIns="0" rIns="0" bIns="0" anchor="t"/>
          <a:lstStyle/>
          <a:p>
            <a:pPr algn="l"/>
            <a:r>
              <a:rPr sz="3000" b="1">
                <a:solidFill>
                  <a:srgbClr val="12233A"/>
                </a:solidFill>
                <a:latin typeface="Arial"/>
                <a:ea typeface="Arial"/>
              </a:rPr>
              <a:t>Cinq acteurs, cinq périmètres</a:t>
            </a:r>
          </a:p>
        </p:txBody>
      </p:sp>
      <p:sp>
        <p:nvSpPr>
          <p:cNvPr id="5" name="TextBox 5">
            <a:extLst>
              <a:ext uri="{FF2B5EF4-FFF2-40B4-BE49-F238E27FC236}">
                <a16:creationId xmlns:a16="http://schemas.microsoft.com/office/drawing/2014/main" id="{07C25ABF-B495-4E02-B2D8-B4D36AA72B56}"/>
              </a:ext>
            </a:extLst>
          </p:cNvPr>
          <p:cNvSpPr txBox="1"/>
          <p:nvPr/>
        </p:nvSpPr>
        <p:spPr>
          <a:xfrm>
            <a:off x="762000" y="1066800"/>
            <a:ext cx="10668000" cy="495300"/>
          </a:xfrm>
        </p:spPr>
        <p:txBody>
          <a:bodyPr wrap="square" rtlCol="0" lIns="0" tIns="0" rIns="0" bIns="0" anchor="t"/>
          <a:lstStyle/>
          <a:p>
            <a:pPr algn="l">
              <a:lnSpc>
                <a:spcPct val="115000"/>
              </a:lnSpc>
            </a:pPr>
            <a:r>
              <a:rPr sz="1400">
                <a:solidFill>
                  <a:srgbClr val="5A6B80"/>
                </a:solidFill>
                <a:latin typeface="Arial"/>
                <a:ea typeface="Arial"/>
              </a:rPr>
              <a:t>Chaque acteur ne voit et ne fait que ce que son rôle l'autorise ; cette répartition reprend à l'identique les règles d'autorisation implémentées côté back-end.</a:t>
            </a:r>
          </a:p>
        </p:txBody>
      </p:sp>
      <p:sp>
        <p:nvSpPr>
          <p:cNvPr id="6" name="Shape 6">
            <a:extLst>
              <a:ext uri="{FF2B5EF4-FFF2-40B4-BE49-F238E27FC236}">
                <a16:creationId xmlns:a16="http://schemas.microsoft.com/office/drawing/2014/main" id="{0190ACA8-9B32-446D-8F71-59323842C414}"/>
              </a:ext>
            </a:extLst>
          </p:cNvPr>
          <p:cNvSpPr/>
          <p:nvPr/>
        </p:nvSpPr>
        <p:spPr>
          <a:xfrm>
            <a:off x="762000" y="1676400"/>
            <a:ext cx="1981200" cy="3619500"/>
          </a:xfrm>
          <a:prstGeom prst="roundRect">
            <a:avLst/>
          </a:prstGeom>
          <a:solidFill>
            <a:srgbClr val="FFFFFF"/>
          </a:solidFill>
          <a:ln w="12700">
            <a:solidFill>
              <a:srgbClr val="D8E0EA"/>
            </a:solidFill>
          </a:ln>
        </p:spPr>
        <p:txBody>
          <a:bodyPr wrap="square" rtlCol="0"/>
          <a:lstStyle/>
          <a:p>
            <a:r>
              <a:rPr/>
              <a:t/>
            </a:r>
          </a:p>
        </p:txBody>
      </p:sp>
      <p:sp>
        <p:nvSpPr>
          <p:cNvPr id="7" name="TextBox 7">
            <a:extLst>
              <a:ext uri="{FF2B5EF4-FFF2-40B4-BE49-F238E27FC236}">
                <a16:creationId xmlns:a16="http://schemas.microsoft.com/office/drawing/2014/main" id="{C17918CD-FAD8-4211-AD59-AAD586F50ADF}"/>
              </a:ext>
            </a:extLst>
          </p:cNvPr>
          <p:cNvSpPr txBox="1"/>
          <p:nvPr/>
        </p:nvSpPr>
        <p:spPr>
          <a:xfrm>
            <a:off x="933450" y="1905000"/>
            <a:ext cx="1638300" cy="190500"/>
          </a:xfrm>
        </p:spPr>
        <p:txBody>
          <a:bodyPr wrap="square" rtlCol="0" lIns="0" tIns="0" rIns="0" bIns="0" anchor="t"/>
          <a:lstStyle/>
          <a:p>
            <a:pPr algn="l"/>
            <a:r>
              <a:rPr sz="1100" b="1">
                <a:solidFill>
                  <a:srgbClr val="00A8B5"/>
                </a:solidFill>
                <a:latin typeface="Arial"/>
                <a:ea typeface="Arial"/>
              </a:rPr>
              <a:t>PUBLIC</a:t>
            </a:r>
          </a:p>
        </p:txBody>
      </p:sp>
      <p:sp>
        <p:nvSpPr>
          <p:cNvPr id="8" name="TextBox 8">
            <a:extLst>
              <a:ext uri="{FF2B5EF4-FFF2-40B4-BE49-F238E27FC236}">
                <a16:creationId xmlns:a16="http://schemas.microsoft.com/office/drawing/2014/main" id="{04088739-C5EB-4C89-8BC9-3CADE18C2C32}"/>
              </a:ext>
            </a:extLst>
          </p:cNvPr>
          <p:cNvSpPr txBox="1"/>
          <p:nvPr/>
        </p:nvSpPr>
        <p:spPr>
          <a:xfrm>
            <a:off x="933450" y="2133600"/>
            <a:ext cx="1638300" cy="304800"/>
          </a:xfrm>
        </p:spPr>
        <p:txBody>
          <a:bodyPr wrap="square" rtlCol="0" lIns="0" tIns="0" rIns="0" bIns="0" anchor="t"/>
          <a:lstStyle/>
          <a:p>
            <a:pPr algn="l"/>
            <a:r>
              <a:rPr sz="1600" b="1">
                <a:solidFill>
                  <a:srgbClr val="12233A"/>
                </a:solidFill>
                <a:latin typeface="Arial"/>
                <a:ea typeface="Arial"/>
              </a:rPr>
              <a:t>Visiteur</a:t>
            </a:r>
          </a:p>
        </p:txBody>
      </p:sp>
      <p:sp>
        <p:nvSpPr>
          <p:cNvPr id="9" name="TextBox 9">
            <a:extLst>
              <a:ext uri="{FF2B5EF4-FFF2-40B4-BE49-F238E27FC236}">
                <a16:creationId xmlns:a16="http://schemas.microsoft.com/office/drawing/2014/main" id="{F87D123E-E6FA-4657-B7A9-8BA0769E8622}"/>
              </a:ext>
            </a:extLst>
          </p:cNvPr>
          <p:cNvSpPr txBox="1"/>
          <p:nvPr/>
        </p:nvSpPr>
        <p:spPr>
          <a:xfrm>
            <a:off x="933450" y="2495550"/>
            <a:ext cx="1638300" cy="2571750"/>
          </a:xfrm>
        </p:spPr>
        <p:txBody>
          <a:bodyPr wrap="square" rtlCol="0" lIns="0" tIns="0" rIns="0" bIns="0" anchor="t"/>
          <a:lstStyle/>
          <a:p>
            <a:pPr algn="l">
              <a:lnSpc>
                <a:spcPct val="118000"/>
              </a:lnSpc>
            </a:pPr>
            <a:r>
              <a:rPr sz="1150">
                <a:solidFill>
                  <a:srgbClr val="12233A"/>
                </a:solidFill>
                <a:latin typeface="Arial"/>
                <a:ea typeface="Arial"/>
              </a:rPr>
              <a:t>Consulte les offres publiées et dépose son CV dans « Job idéal » pour obtenir des suggestions. Il doit créer un compte pour postuler.</a:t>
            </a:r>
          </a:p>
        </p:txBody>
      </p:sp>
      <p:sp>
        <p:nvSpPr>
          <p:cNvPr id="10" name="Shape 10">
            <a:extLst>
              <a:ext uri="{FF2B5EF4-FFF2-40B4-BE49-F238E27FC236}">
                <a16:creationId xmlns:a16="http://schemas.microsoft.com/office/drawing/2014/main" id="{DC22C18E-3EF6-41DD-B358-D3A2152349BE}"/>
              </a:ext>
            </a:extLst>
          </p:cNvPr>
          <p:cNvSpPr/>
          <p:nvPr/>
        </p:nvSpPr>
        <p:spPr>
          <a:xfrm>
            <a:off x="2933700" y="1676400"/>
            <a:ext cx="1981200" cy="3619500"/>
          </a:xfrm>
          <a:prstGeom prst="roundRect">
            <a:avLst/>
          </a:prstGeom>
          <a:solidFill>
            <a:srgbClr val="FFFFFF"/>
          </a:solidFill>
          <a:ln w="12700">
            <a:solidFill>
              <a:srgbClr val="D8E0EA"/>
            </a:solidFill>
          </a:ln>
        </p:spPr>
        <p:txBody>
          <a:bodyPr wrap="square" rtlCol="0"/>
          <a:lstStyle/>
          <a:p>
            <a:r>
              <a:rPr/>
              <a:t/>
            </a:r>
          </a:p>
        </p:txBody>
      </p:sp>
      <p:sp>
        <p:nvSpPr>
          <p:cNvPr id="11" name="TextBox 11">
            <a:extLst>
              <a:ext uri="{FF2B5EF4-FFF2-40B4-BE49-F238E27FC236}">
                <a16:creationId xmlns:a16="http://schemas.microsoft.com/office/drawing/2014/main" id="{D3374F74-F6F6-48F8-8E0E-3905310BBDF3}"/>
              </a:ext>
            </a:extLst>
          </p:cNvPr>
          <p:cNvSpPr txBox="1"/>
          <p:nvPr/>
        </p:nvSpPr>
        <p:spPr>
          <a:xfrm>
            <a:off x="3105150" y="1905000"/>
            <a:ext cx="1638300" cy="190500"/>
          </a:xfrm>
        </p:spPr>
        <p:txBody>
          <a:bodyPr wrap="square" rtlCol="0" lIns="0" tIns="0" rIns="0" bIns="0" anchor="t"/>
          <a:lstStyle/>
          <a:p>
            <a:pPr algn="l"/>
            <a:r>
              <a:rPr sz="1100" b="1">
                <a:solidFill>
                  <a:srgbClr val="00A8B5"/>
                </a:solidFill>
                <a:latin typeface="Arial"/>
                <a:ea typeface="Arial"/>
              </a:rPr>
              <a:t>ROLE_USER</a:t>
            </a:r>
          </a:p>
        </p:txBody>
      </p:sp>
      <p:sp>
        <p:nvSpPr>
          <p:cNvPr id="12" name="TextBox 12">
            <a:extLst>
              <a:ext uri="{FF2B5EF4-FFF2-40B4-BE49-F238E27FC236}">
                <a16:creationId xmlns:a16="http://schemas.microsoft.com/office/drawing/2014/main" id="{7B3274BC-9593-419A-821B-BD451BE4B473}"/>
              </a:ext>
            </a:extLst>
          </p:cNvPr>
          <p:cNvSpPr txBox="1"/>
          <p:nvPr/>
        </p:nvSpPr>
        <p:spPr>
          <a:xfrm>
            <a:off x="3105150" y="2133600"/>
            <a:ext cx="1638300" cy="304800"/>
          </a:xfrm>
        </p:spPr>
        <p:txBody>
          <a:bodyPr wrap="square" rtlCol="0" lIns="0" tIns="0" rIns="0" bIns="0" anchor="t"/>
          <a:lstStyle/>
          <a:p>
            <a:pPr algn="l"/>
            <a:r>
              <a:rPr sz="1600" b="1">
                <a:solidFill>
                  <a:srgbClr val="12233A"/>
                </a:solidFill>
                <a:latin typeface="Arial"/>
                <a:ea typeface="Arial"/>
              </a:rPr>
              <a:t>Candidat</a:t>
            </a:r>
          </a:p>
        </p:txBody>
      </p:sp>
      <p:sp>
        <p:nvSpPr>
          <p:cNvPr id="13" name="TextBox 13">
            <a:extLst>
              <a:ext uri="{FF2B5EF4-FFF2-40B4-BE49-F238E27FC236}">
                <a16:creationId xmlns:a16="http://schemas.microsoft.com/office/drawing/2014/main" id="{4D9E985C-D68A-4613-A1D3-B2A9A8C4AC72}"/>
              </a:ext>
            </a:extLst>
          </p:cNvPr>
          <p:cNvSpPr txBox="1"/>
          <p:nvPr/>
        </p:nvSpPr>
        <p:spPr>
          <a:xfrm>
            <a:off x="3105150" y="2495550"/>
            <a:ext cx="1638300" cy="2571750"/>
          </a:xfrm>
        </p:spPr>
        <p:txBody>
          <a:bodyPr wrap="square" rtlCol="0" lIns="0" tIns="0" rIns="0" bIns="0" anchor="t"/>
          <a:lstStyle/>
          <a:p>
            <a:pPr algn="l">
              <a:lnSpc>
                <a:spcPct val="118000"/>
              </a:lnSpc>
            </a:pPr>
            <a:r>
              <a:rPr sz="1150">
                <a:solidFill>
                  <a:srgbClr val="12233A"/>
                </a:solidFill>
                <a:latin typeface="Arial"/>
                <a:ea typeface="Arial"/>
              </a:rPr>
              <a:t>Soumet sa candidature avec CV, suit l'avancement de son dossier, échange avec l'assistant IA et peut se retirer tant que le dossier n'est pas clos.</a:t>
            </a:r>
          </a:p>
        </p:txBody>
      </p:sp>
      <p:sp>
        <p:nvSpPr>
          <p:cNvPr id="14" name="Shape 14">
            <a:extLst>
              <a:ext uri="{FF2B5EF4-FFF2-40B4-BE49-F238E27FC236}">
                <a16:creationId xmlns:a16="http://schemas.microsoft.com/office/drawing/2014/main" id="{1DFA972F-DBEB-4225-ABAD-121FA1402273}"/>
              </a:ext>
            </a:extLst>
          </p:cNvPr>
          <p:cNvSpPr/>
          <p:nvPr/>
        </p:nvSpPr>
        <p:spPr>
          <a:xfrm>
            <a:off x="5105400" y="1676400"/>
            <a:ext cx="1981200" cy="3619500"/>
          </a:xfrm>
          <a:prstGeom prst="roundRect">
            <a:avLst/>
          </a:prstGeom>
          <a:solidFill>
            <a:srgbClr val="FFFFFF"/>
          </a:solidFill>
          <a:ln w="12700">
            <a:solidFill>
              <a:srgbClr val="D8E0EA"/>
            </a:solidFill>
          </a:ln>
        </p:spPr>
        <p:txBody>
          <a:bodyPr wrap="square" rtlCol="0"/>
          <a:lstStyle/>
          <a:p>
            <a:r>
              <a:rPr/>
              <a:t/>
            </a:r>
          </a:p>
        </p:txBody>
      </p:sp>
      <p:sp>
        <p:nvSpPr>
          <p:cNvPr id="15" name="TextBox 15">
            <a:extLst>
              <a:ext uri="{FF2B5EF4-FFF2-40B4-BE49-F238E27FC236}">
                <a16:creationId xmlns:a16="http://schemas.microsoft.com/office/drawing/2014/main" id="{56230C7F-32EE-4B67-8BD7-5CD5E692BA08}"/>
              </a:ext>
            </a:extLst>
          </p:cNvPr>
          <p:cNvSpPr txBox="1"/>
          <p:nvPr/>
        </p:nvSpPr>
        <p:spPr>
          <a:xfrm>
            <a:off x="5276850" y="1905000"/>
            <a:ext cx="1638300" cy="190500"/>
          </a:xfrm>
        </p:spPr>
        <p:txBody>
          <a:bodyPr wrap="square" rtlCol="0" lIns="0" tIns="0" rIns="0" bIns="0" anchor="t"/>
          <a:lstStyle/>
          <a:p>
            <a:pPr algn="l"/>
            <a:r>
              <a:rPr sz="1100" b="1">
                <a:solidFill>
                  <a:srgbClr val="00A8B5"/>
                </a:solidFill>
                <a:latin typeface="Arial"/>
                <a:ea typeface="Arial"/>
              </a:rPr>
              <a:t>ROLE_HR</a:t>
            </a:r>
          </a:p>
        </p:txBody>
      </p:sp>
      <p:sp>
        <p:nvSpPr>
          <p:cNvPr id="16" name="TextBox 16">
            <a:extLst>
              <a:ext uri="{FF2B5EF4-FFF2-40B4-BE49-F238E27FC236}">
                <a16:creationId xmlns:a16="http://schemas.microsoft.com/office/drawing/2014/main" id="{73426EFF-1442-49A5-909D-3100D907AD66}"/>
              </a:ext>
            </a:extLst>
          </p:cNvPr>
          <p:cNvSpPr txBox="1"/>
          <p:nvPr/>
        </p:nvSpPr>
        <p:spPr>
          <a:xfrm>
            <a:off x="5276850" y="2133600"/>
            <a:ext cx="1638300" cy="304800"/>
          </a:xfrm>
        </p:spPr>
        <p:txBody>
          <a:bodyPr wrap="square" rtlCol="0" lIns="0" tIns="0" rIns="0" bIns="0" anchor="t"/>
          <a:lstStyle/>
          <a:p>
            <a:pPr algn="l"/>
            <a:r>
              <a:rPr sz="1600" b="1">
                <a:solidFill>
                  <a:srgbClr val="12233A"/>
                </a:solidFill>
                <a:latin typeface="Arial"/>
                <a:ea typeface="Arial"/>
              </a:rPr>
              <a:t>Responsable RH</a:t>
            </a:r>
          </a:p>
        </p:txBody>
      </p:sp>
      <p:sp>
        <p:nvSpPr>
          <p:cNvPr id="17" name="TextBox 17">
            <a:extLst>
              <a:ext uri="{FF2B5EF4-FFF2-40B4-BE49-F238E27FC236}">
                <a16:creationId xmlns:a16="http://schemas.microsoft.com/office/drawing/2014/main" id="{177DBCC3-EB86-4A6C-BB48-6595959D2AAA}"/>
              </a:ext>
            </a:extLst>
          </p:cNvPr>
          <p:cNvSpPr txBox="1"/>
          <p:nvPr/>
        </p:nvSpPr>
        <p:spPr>
          <a:xfrm>
            <a:off x="5276850" y="2495550"/>
            <a:ext cx="1638300" cy="2571750"/>
          </a:xfrm>
        </p:spPr>
        <p:txBody>
          <a:bodyPr wrap="square" rtlCol="0" lIns="0" tIns="0" rIns="0" bIns="0" anchor="t"/>
          <a:lstStyle/>
          <a:p>
            <a:pPr algn="l">
              <a:lnSpc>
                <a:spcPct val="118000"/>
              </a:lnSpc>
            </a:pPr>
            <a:r>
              <a:rPr sz="1150">
                <a:solidFill>
                  <a:srgbClr val="12233A"/>
                </a:solidFill>
                <a:latin typeface="Arial"/>
                <a:ea typeface="Arial"/>
              </a:rPr>
              <a:t>Acteur central : publie les offres, examine et valide les candidatures, planifie les entretiens, contre-signe l'avis du manager : embauche ou refus motivé.</a:t>
            </a:r>
          </a:p>
        </p:txBody>
      </p:sp>
      <p:sp>
        <p:nvSpPr>
          <p:cNvPr id="18" name="Shape 18">
            <a:extLst>
              <a:ext uri="{FF2B5EF4-FFF2-40B4-BE49-F238E27FC236}">
                <a16:creationId xmlns:a16="http://schemas.microsoft.com/office/drawing/2014/main" id="{8D150966-E353-4F21-8B33-1F871D723918}"/>
              </a:ext>
            </a:extLst>
          </p:cNvPr>
          <p:cNvSpPr/>
          <p:nvPr/>
        </p:nvSpPr>
        <p:spPr>
          <a:xfrm>
            <a:off x="7277100" y="1676400"/>
            <a:ext cx="1981200" cy="3619500"/>
          </a:xfrm>
          <a:prstGeom prst="roundRect">
            <a:avLst/>
          </a:prstGeom>
          <a:solidFill>
            <a:srgbClr val="FFFFFF"/>
          </a:solidFill>
          <a:ln w="12700">
            <a:solidFill>
              <a:srgbClr val="D8E0EA"/>
            </a:solidFill>
          </a:ln>
        </p:spPr>
        <p:txBody>
          <a:bodyPr wrap="square" rtlCol="0"/>
          <a:lstStyle/>
          <a:p>
            <a:r>
              <a:rPr/>
              <a:t/>
            </a:r>
          </a:p>
        </p:txBody>
      </p:sp>
      <p:sp>
        <p:nvSpPr>
          <p:cNvPr id="19" name="TextBox 19">
            <a:extLst>
              <a:ext uri="{FF2B5EF4-FFF2-40B4-BE49-F238E27FC236}">
                <a16:creationId xmlns:a16="http://schemas.microsoft.com/office/drawing/2014/main" id="{9E35FDB2-AE2E-44E7-B141-443BC480C74A}"/>
              </a:ext>
            </a:extLst>
          </p:cNvPr>
          <p:cNvSpPr txBox="1"/>
          <p:nvPr/>
        </p:nvSpPr>
        <p:spPr>
          <a:xfrm>
            <a:off x="7448550" y="1905000"/>
            <a:ext cx="1638300" cy="190500"/>
          </a:xfrm>
        </p:spPr>
        <p:txBody>
          <a:bodyPr wrap="square" rtlCol="0" lIns="0" tIns="0" rIns="0" bIns="0" anchor="t"/>
          <a:lstStyle/>
          <a:p>
            <a:pPr algn="l"/>
            <a:r>
              <a:rPr sz="1100" b="1">
                <a:solidFill>
                  <a:srgbClr val="00A8B5"/>
                </a:solidFill>
                <a:latin typeface="Arial"/>
                <a:ea typeface="Arial"/>
              </a:rPr>
              <a:t>ROLE_MANAGER</a:t>
            </a:r>
          </a:p>
        </p:txBody>
      </p:sp>
      <p:sp>
        <p:nvSpPr>
          <p:cNvPr id="20" name="TextBox 20">
            <a:extLst>
              <a:ext uri="{FF2B5EF4-FFF2-40B4-BE49-F238E27FC236}">
                <a16:creationId xmlns:a16="http://schemas.microsoft.com/office/drawing/2014/main" id="{8E61A8FE-18D0-41D6-A78F-D35B9E197309}"/>
              </a:ext>
            </a:extLst>
          </p:cNvPr>
          <p:cNvSpPr txBox="1"/>
          <p:nvPr/>
        </p:nvSpPr>
        <p:spPr>
          <a:xfrm>
            <a:off x="7448550" y="2133600"/>
            <a:ext cx="1638300" cy="304800"/>
          </a:xfrm>
        </p:spPr>
        <p:txBody>
          <a:bodyPr wrap="square" rtlCol="0" lIns="0" tIns="0" rIns="0" bIns="0" anchor="t"/>
          <a:lstStyle/>
          <a:p>
            <a:pPr algn="l"/>
            <a:r>
              <a:rPr sz="1600" b="1">
                <a:solidFill>
                  <a:srgbClr val="12233A"/>
                </a:solidFill>
                <a:latin typeface="Arial"/>
                <a:ea typeface="Arial"/>
              </a:rPr>
              <a:t>Manager</a:t>
            </a:r>
          </a:p>
        </p:txBody>
      </p:sp>
      <p:sp>
        <p:nvSpPr>
          <p:cNvPr id="21" name="TextBox 21">
            <a:extLst>
              <a:ext uri="{FF2B5EF4-FFF2-40B4-BE49-F238E27FC236}">
                <a16:creationId xmlns:a16="http://schemas.microsoft.com/office/drawing/2014/main" id="{6234608A-2EE2-4ED5-8C09-97841EFE9247}"/>
              </a:ext>
            </a:extLst>
          </p:cNvPr>
          <p:cNvSpPr txBox="1"/>
          <p:nvPr/>
        </p:nvSpPr>
        <p:spPr>
          <a:xfrm>
            <a:off x="7448550" y="2495550"/>
            <a:ext cx="1638300" cy="2571750"/>
          </a:xfrm>
        </p:spPr>
        <p:txBody>
          <a:bodyPr wrap="square" rtlCol="0" lIns="0" tIns="0" rIns="0" bIns="0" anchor="t"/>
          <a:lstStyle/>
          <a:p>
            <a:pPr algn="l">
              <a:lnSpc>
                <a:spcPct val="118000"/>
              </a:lnSpc>
            </a:pPr>
            <a:r>
              <a:rPr sz="1200">
                <a:solidFill>
                  <a:srgbClr val="12233A"/>
                </a:solidFill>
                <a:latin typeface="Arial"/>
                <a:ea typeface="Arial"/>
              </a:rPr>
              <a:t>Intervient dès l'entrée en évaluation technique, ne voit que les dossiers où il est destinataire, mène l'entretien, rédige un feedback et émet un avis, favorable ou refus proposé, sans trancher.</a:t>
            </a:r>
          </a:p>
        </p:txBody>
      </p:sp>
      <p:sp>
        <p:nvSpPr>
          <p:cNvPr id="22" name="Shape 22">
            <a:extLst>
              <a:ext uri="{FF2B5EF4-FFF2-40B4-BE49-F238E27FC236}">
                <a16:creationId xmlns:a16="http://schemas.microsoft.com/office/drawing/2014/main" id="{CBC4D1CE-020F-44DF-8F5A-AA66F987F973}"/>
              </a:ext>
            </a:extLst>
          </p:cNvPr>
          <p:cNvSpPr/>
          <p:nvPr/>
        </p:nvSpPr>
        <p:spPr>
          <a:xfrm>
            <a:off x="9448800" y="1676400"/>
            <a:ext cx="1981200" cy="3619500"/>
          </a:xfrm>
          <a:prstGeom prst="roundRect">
            <a:avLst/>
          </a:prstGeom>
          <a:solidFill>
            <a:srgbClr val="FFFFFF"/>
          </a:solidFill>
          <a:ln w="12700">
            <a:solidFill>
              <a:srgbClr val="D8E0EA"/>
            </a:solidFill>
          </a:ln>
        </p:spPr>
        <p:txBody>
          <a:bodyPr wrap="square" rtlCol="0"/>
          <a:lstStyle/>
          <a:p>
            <a:r>
              <a:rPr/>
              <a:t/>
            </a:r>
          </a:p>
        </p:txBody>
      </p:sp>
      <p:sp>
        <p:nvSpPr>
          <p:cNvPr id="23" name="TextBox 23">
            <a:extLst>
              <a:ext uri="{FF2B5EF4-FFF2-40B4-BE49-F238E27FC236}">
                <a16:creationId xmlns:a16="http://schemas.microsoft.com/office/drawing/2014/main" id="{5E103A02-F143-45E1-A598-0C2F80A99513}"/>
              </a:ext>
            </a:extLst>
          </p:cNvPr>
          <p:cNvSpPr txBox="1"/>
          <p:nvPr/>
        </p:nvSpPr>
        <p:spPr>
          <a:xfrm>
            <a:off x="9620250" y="1905000"/>
            <a:ext cx="1638300" cy="190500"/>
          </a:xfrm>
        </p:spPr>
        <p:txBody>
          <a:bodyPr wrap="square" rtlCol="0" lIns="0" tIns="0" rIns="0" bIns="0" anchor="t"/>
          <a:lstStyle/>
          <a:p>
            <a:pPr algn="l"/>
            <a:r>
              <a:rPr sz="1100" b="1">
                <a:solidFill>
                  <a:srgbClr val="00A8B5"/>
                </a:solidFill>
                <a:latin typeface="Arial"/>
                <a:ea typeface="Arial"/>
              </a:rPr>
              <a:t>ROLE_ADMIN</a:t>
            </a:r>
          </a:p>
        </p:txBody>
      </p:sp>
      <p:sp>
        <p:nvSpPr>
          <p:cNvPr id="24" name="TextBox 24">
            <a:extLst>
              <a:ext uri="{FF2B5EF4-FFF2-40B4-BE49-F238E27FC236}">
                <a16:creationId xmlns:a16="http://schemas.microsoft.com/office/drawing/2014/main" id="{0E29F41D-DF2B-4D67-81CF-76B19BF0E222}"/>
              </a:ext>
            </a:extLst>
          </p:cNvPr>
          <p:cNvSpPr txBox="1"/>
          <p:nvPr/>
        </p:nvSpPr>
        <p:spPr>
          <a:xfrm>
            <a:off x="9620250" y="2133600"/>
            <a:ext cx="1638300" cy="304800"/>
          </a:xfrm>
        </p:spPr>
        <p:txBody>
          <a:bodyPr wrap="square" rtlCol="0" lIns="0" tIns="0" rIns="0" bIns="0" anchor="t"/>
          <a:lstStyle/>
          <a:p>
            <a:pPr algn="l"/>
            <a:r>
              <a:rPr sz="1600" b="1">
                <a:solidFill>
                  <a:srgbClr val="12233A"/>
                </a:solidFill>
                <a:latin typeface="Arial"/>
                <a:ea typeface="Arial"/>
              </a:rPr>
              <a:t>Administrateur</a:t>
            </a:r>
          </a:p>
        </p:txBody>
      </p:sp>
      <p:sp>
        <p:nvSpPr>
          <p:cNvPr id="25" name="TextBox 25">
            <a:extLst>
              <a:ext uri="{FF2B5EF4-FFF2-40B4-BE49-F238E27FC236}">
                <a16:creationId xmlns:a16="http://schemas.microsoft.com/office/drawing/2014/main" id="{54025249-C4C5-495D-A874-D1F586044EAE}"/>
              </a:ext>
            </a:extLst>
          </p:cNvPr>
          <p:cNvSpPr txBox="1"/>
          <p:nvPr/>
        </p:nvSpPr>
        <p:spPr>
          <a:xfrm>
            <a:off x="9620250" y="2495550"/>
            <a:ext cx="1638300" cy="2571750"/>
          </a:xfrm>
        </p:spPr>
        <p:txBody>
          <a:bodyPr wrap="square" rtlCol="0" lIns="0" tIns="0" rIns="0" bIns="0" anchor="t"/>
          <a:lstStyle/>
          <a:p>
            <a:pPr algn="l">
              <a:lnSpc>
                <a:spcPct val="118000"/>
              </a:lnSpc>
            </a:pPr>
            <a:r>
              <a:rPr sz="1150">
                <a:solidFill>
                  <a:srgbClr val="12233A"/>
                </a:solidFill>
                <a:latin typeface="Arial"/>
                <a:ea typeface="Arial"/>
              </a:rPr>
              <a:t>Gère les comptes, les rôles, les pondérations du scoring par famille de métier et supervise le journal d'audit.</a:t>
            </a:r>
          </a:p>
        </p:txBody>
      </p:sp>
      <p:sp>
        <p:nvSpPr>
          <p:cNvPr id="26" name="TextBox 26">
            <a:extLst>
              <a:ext uri="{FF2B5EF4-FFF2-40B4-BE49-F238E27FC236}">
                <a16:creationId xmlns:a16="http://schemas.microsoft.com/office/drawing/2014/main" id="{3FAF2570-0B3F-4553-96AA-9CA3B52117E4}"/>
              </a:ext>
            </a:extLst>
          </p:cNvPr>
          <p:cNvSpPr txBox="1"/>
          <p:nvPr/>
        </p:nvSpPr>
        <p:spPr>
          <a:xfrm>
            <a:off x="762000" y="5505450"/>
            <a:ext cx="10668000" cy="495300"/>
          </a:xfrm>
        </p:spPr>
        <p:txBody>
          <a:bodyPr wrap="square" rtlCol="0" lIns="0" tIns="0" rIns="0" bIns="0" anchor="t"/>
          <a:lstStyle/>
          <a:p>
            <a:pPr algn="l">
              <a:lnSpc>
                <a:spcPct val="115000"/>
              </a:lnSpc>
            </a:pPr>
            <a:r>
              <a:rPr sz="1250">
                <a:solidFill>
                  <a:srgbClr val="5A6B80"/>
                </a:solidFill>
                <a:latin typeface="Arial"/>
                <a:ea typeface="Arial"/>
              </a:rPr>
              <a:t>Deux rôles supplémentaires issus du code (ROLE_TEAM_LEAD, ROLE_SENIOR_DEV) n'offrent qu'une lecture des entretiens et des CV. Seuls le RH et l'Administrateur contre-signent la décision finale ; un compte purement manager se voit refuser cette écriture (403).</a:t>
            </a:r>
          </a:p>
        </p:txBody>
      </p:sp>
      <p:sp>
        <p:nvSpPr>
          <p:cNvPr id="27" name="TextBox 27">
            <a:extLst>
              <a:ext uri="{FF2B5EF4-FFF2-40B4-BE49-F238E27FC236}">
                <a16:creationId xmlns:a16="http://schemas.microsoft.com/office/drawing/2014/main" id="{19D61572-EA92-4AE2-A842-1C45383AFFBC}"/>
              </a:ext>
            </a:extLst>
          </p:cNvPr>
          <p:cNvSpPr txBox="1"/>
          <p:nvPr/>
        </p:nvSpPr>
        <p:spPr>
          <a:xfrm>
            <a:off x="762000" y="6515100"/>
            <a:ext cx="3810000" cy="190500"/>
          </a:xfrm>
        </p:spPr>
        <p:txBody>
          <a:bodyPr wrap="square" rtlCol="0" lIns="0" tIns="0" rIns="0" bIns="0" anchor="t"/>
          <a:lstStyle/>
          <a:p>
            <a:pPr algn="l"/>
            <a:r>
              <a:rPr sz="1050">
                <a:solidFill>
                  <a:srgbClr val="9AA9BC"/>
                </a:solidFill>
                <a:latin typeface="Arial"/>
                <a:ea typeface="Arial"/>
              </a:rPr>
              <a:t>JOB4YOU - Soutenance PFE</a:t>
            </a:r>
          </a:p>
        </p:txBody>
      </p:sp>
      <p:sp>
        <p:nvSpPr>
          <p:cNvPr id="28" name="TextBox 28">
            <a:extLst>
              <a:ext uri="{FF2B5EF4-FFF2-40B4-BE49-F238E27FC236}">
                <a16:creationId xmlns:a16="http://schemas.microsoft.com/office/drawing/2014/main" id="{90927629-844D-48CE-A404-B2BD5D5FAC70}"/>
              </a:ext>
            </a:extLst>
          </p:cNvPr>
          <p:cNvSpPr txBox="1"/>
          <p:nvPr/>
        </p:nvSpPr>
        <p:spPr>
          <a:xfrm>
            <a:off x="10858500" y="6515100"/>
            <a:ext cx="571500" cy="190500"/>
          </a:xfrm>
        </p:spPr>
        <p:txBody>
          <a:bodyPr wrap="square" rtlCol="0" lIns="0" tIns="0" rIns="0" bIns="0" anchor="t"/>
          <a:lstStyle/>
          <a:p>
            <a:pPr algn="r"/>
            <a:r>
              <a:rPr sz="1050">
                <a:solidFill>
                  <a:srgbClr val="9AA9BC"/>
                </a:solidFill>
                <a:latin typeface="Arial"/>
                <a:ea typeface="Arial"/>
              </a:rPr>
              <a:t>4 / 19</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id="{89A751E8-4024-448E-B39B-4A14D9B518FC}"/>
              </a:ext>
            </a:extLst>
          </p:cNvPr>
          <p:cNvSpPr txBox="1"/>
          <p:nvPr/>
        </p:nvSpPr>
        <p:spPr>
          <a:xfrm>
            <a:off x="762000" y="400050"/>
            <a:ext cx="7620000" cy="209550"/>
          </a:xfrm>
        </p:spPr>
        <p:txBody>
          <a:bodyPr wrap="square" rtlCol="0" lIns="0" tIns="0" rIns="0" bIns="0" anchor="t"/>
          <a:lstStyle/>
          <a:p>
            <a:pPr algn="l"/>
            <a:r>
              <a:rPr sz="1200" b="1">
                <a:solidFill>
                  <a:srgbClr val="00A8B5"/>
                </a:solidFill>
                <a:latin typeface="Arial"/>
                <a:ea typeface="Arial"/>
              </a:rPr>
              <a:t>02 · ANALYSE DES BESOINS</a:t>
            </a:r>
          </a:p>
        </p:txBody>
      </p:sp>
      <p:sp>
        <p:nvSpPr>
          <p:cNvPr id="4" name="TextBox 4">
            <a:extLst>
              <a:ext uri="{FF2B5EF4-FFF2-40B4-BE49-F238E27FC236}">
                <a16:creationId xmlns:a16="http://schemas.microsoft.com/office/drawing/2014/main" id="{F977DBF2-7B84-46E8-BDD5-70F40AE326A0}"/>
              </a:ext>
            </a:extLst>
          </p:cNvPr>
          <p:cNvSpPr txBox="1"/>
          <p:nvPr/>
        </p:nvSpPr>
        <p:spPr>
          <a:xfrm>
            <a:off x="762000" y="609600"/>
            <a:ext cx="9525000" cy="476250"/>
          </a:xfrm>
        </p:spPr>
        <p:txBody>
          <a:bodyPr wrap="square" rtlCol="0" lIns="0" tIns="0" rIns="0" bIns="0" anchor="t"/>
          <a:lstStyle/>
          <a:p>
            <a:pPr algn="l"/>
            <a:r>
              <a:rPr sz="3000" b="1">
                <a:solidFill>
                  <a:srgbClr val="12233A"/>
                </a:solidFill>
                <a:latin typeface="Arial"/>
                <a:ea typeface="Arial"/>
              </a:rPr>
              <a:t>Onze besoins fonctionnels</a:t>
            </a:r>
          </a:p>
        </p:txBody>
      </p:sp>
      <p:sp>
        <p:nvSpPr>
          <p:cNvPr id="5" name="TextBox 5">
            <a:extLst>
              <a:ext uri="{FF2B5EF4-FFF2-40B4-BE49-F238E27FC236}">
                <a16:creationId xmlns:a16="http://schemas.microsoft.com/office/drawing/2014/main" id="{DC1CBC10-05A8-40B3-BF00-38FF18ECDA0C}"/>
              </a:ext>
            </a:extLst>
          </p:cNvPr>
          <p:cNvSpPr txBox="1"/>
          <p:nvPr/>
        </p:nvSpPr>
        <p:spPr>
          <a:xfrm>
            <a:off x="762000" y="1066800"/>
            <a:ext cx="10668000" cy="247650"/>
          </a:xfrm>
        </p:spPr>
        <p:txBody>
          <a:bodyPr wrap="square" rtlCol="0" lIns="0" tIns="0" rIns="0" bIns="0" anchor="t"/>
          <a:lstStyle/>
          <a:p>
            <a:pPr algn="l"/>
            <a:r>
              <a:rPr sz="1400">
                <a:solidFill>
                  <a:srgbClr val="5A6B80"/>
                </a:solidFill>
                <a:latin typeface="Arial"/>
                <a:ea typeface="Arial"/>
              </a:rPr>
              <a:t>Recueillis au fil des sprints, auprès de mon encadrant et par observation directe du processus RH.</a:t>
            </a:r>
          </a:p>
        </p:txBody>
      </p:sp>
      <p:sp>
        <p:nvSpPr>
          <p:cNvPr id="6" name="Shape 6">
            <a:extLst>
              <a:ext uri="{FF2B5EF4-FFF2-40B4-BE49-F238E27FC236}">
                <a16:creationId xmlns:a16="http://schemas.microsoft.com/office/drawing/2014/main" id="{62E65215-6DDD-4731-A552-13ABFDA46D7A}"/>
              </a:ext>
            </a:extLst>
          </p:cNvPr>
          <p:cNvSpPr/>
          <p:nvPr/>
        </p:nvSpPr>
        <p:spPr>
          <a:xfrm>
            <a:off x="762000" y="1390650"/>
            <a:ext cx="5143500" cy="4476750"/>
          </a:xfrm>
          <a:prstGeom prst="roundRect">
            <a:avLst/>
          </a:prstGeom>
          <a:solidFill>
            <a:srgbClr val="FFFFFF"/>
          </a:solidFill>
          <a:ln w="12700">
            <a:solidFill>
              <a:srgbClr val="D8E0EA"/>
            </a:solidFill>
          </a:ln>
        </p:spPr>
        <p:txBody>
          <a:bodyPr wrap="square" rtlCol="0"/>
          <a:lstStyle/>
          <a:p>
            <a:r>
              <a:rPr/>
              <a:t/>
            </a:r>
          </a:p>
        </p:txBody>
      </p:sp>
      <p:sp>
        <p:nvSpPr>
          <p:cNvPr id="7" name="TextBox 7">
            <a:extLst>
              <a:ext uri="{FF2B5EF4-FFF2-40B4-BE49-F238E27FC236}">
                <a16:creationId xmlns:a16="http://schemas.microsoft.com/office/drawing/2014/main" id="{45C39670-6262-412F-9A9A-7856AA38E8D1}"/>
              </a:ext>
            </a:extLst>
          </p:cNvPr>
          <p:cNvSpPr txBox="1"/>
          <p:nvPr/>
        </p:nvSpPr>
        <p:spPr>
          <a:xfrm>
            <a:off x="1066800" y="1638300"/>
            <a:ext cx="4533900" cy="285750"/>
          </a:xfrm>
        </p:spPr>
        <p:txBody>
          <a:bodyPr wrap="square" rtlCol="0" lIns="0" tIns="0" rIns="0" bIns="0" anchor="t"/>
          <a:lstStyle/>
          <a:p>
            <a:pPr algn="l"/>
            <a:r>
              <a:rPr sz="1600" b="1">
                <a:solidFill>
                  <a:srgbClr val="12233A"/>
                </a:solidFill>
                <a:latin typeface="Arial"/>
                <a:ea typeface="Arial"/>
              </a:rPr>
              <a:t>Le cycle de la candidature</a:t>
            </a:r>
          </a:p>
        </p:txBody>
      </p:sp>
      <p:sp>
        <p:nvSpPr>
          <p:cNvPr id="8" name="TextBox 8">
            <a:extLst>
              <a:ext uri="{FF2B5EF4-FFF2-40B4-BE49-F238E27FC236}">
                <a16:creationId xmlns:a16="http://schemas.microsoft.com/office/drawing/2014/main" id="{1ED844F4-E6FA-4C1F-8258-35F1B440BA56}"/>
              </a:ext>
            </a:extLst>
          </p:cNvPr>
          <p:cNvSpPr txBox="1"/>
          <p:nvPr/>
        </p:nvSpPr>
        <p:spPr>
          <a:xfrm>
            <a:off x="1066800" y="2038350"/>
            <a:ext cx="4533900" cy="3810000"/>
          </a:xfrm>
        </p:spPr>
        <p:txBody>
          <a:bodyPr wrap="square" rtlCol="0" lIns="0" tIns="0" rIns="0" bIns="0" anchor="t"/>
          <a:lstStyle/>
          <a:p>
            <a:pPr algn="l">
              <a:lnSpc>
                <a:spcPct val="118000"/>
              </a:lnSpc>
              <a:spcAft>
                <a:spcPts val="1000"/>
              </a:spcAft>
            </a:pPr>
            <a:r>
              <a:rPr sz="1250" b="1">
                <a:solidFill>
                  <a:srgbClr val="1B4F9C"/>
                </a:solidFill>
                <a:latin typeface="Arial"/>
                <a:ea typeface="Arial"/>
              </a:rPr>
              <a:t>01  </a:t>
            </a:r>
            <a:r>
              <a:rPr sz="1250">
                <a:solidFill>
                  <a:srgbClr val="12233A"/>
                </a:solidFill>
                <a:latin typeface="Arial"/>
                <a:ea typeface="Arial"/>
              </a:rPr>
              <a:t>Authentification et sessions par jeton JWT, accès différencié selon le rôle</a:t>
            </a:r>
          </a:p>
          <a:p>
            <a:pPr algn="l">
              <a:lnSpc>
                <a:spcPct val="118000"/>
              </a:lnSpc>
              <a:spcAft>
                <a:spcPts val="1000"/>
              </a:spcAft>
            </a:pPr>
            <a:r>
              <a:rPr sz="1250" b="1">
                <a:solidFill>
                  <a:srgbClr val="1B4F9C"/>
                </a:solidFill>
                <a:latin typeface="Arial"/>
                <a:ea typeface="Arial"/>
              </a:rPr>
              <a:t>02  </a:t>
            </a:r>
            <a:r>
              <a:rPr sz="1250">
                <a:solidFill>
                  <a:srgbClr val="12233A"/>
                </a:solidFill>
                <a:latin typeface="Arial"/>
                <a:ea typeface="Arial"/>
              </a:rPr>
              <a:t>Gestion des offres : création, publication, clôture, expiration automatique</a:t>
            </a:r>
          </a:p>
          <a:p>
            <a:pPr algn="l">
              <a:lnSpc>
                <a:spcPct val="118000"/>
              </a:lnSpc>
              <a:spcAft>
                <a:spcPts val="1000"/>
              </a:spcAft>
            </a:pPr>
            <a:r>
              <a:rPr sz="1250" b="1">
                <a:solidFill>
                  <a:srgbClr val="1B4F9C"/>
                </a:solidFill>
                <a:latin typeface="Arial"/>
                <a:ea typeface="Arial"/>
              </a:rPr>
              <a:t>03  </a:t>
            </a:r>
            <a:r>
              <a:rPr sz="1250">
                <a:solidFill>
                  <a:srgbClr val="12233A"/>
                </a:solidFill>
                <a:latin typeface="Arial"/>
                <a:ea typeface="Arial"/>
              </a:rPr>
              <a:t>Candidature en ligne avec dépôt de CV, consultation, filtrage et suivi</a:t>
            </a:r>
          </a:p>
          <a:p>
            <a:pPr algn="l">
              <a:lnSpc>
                <a:spcPct val="118000"/>
              </a:lnSpc>
              <a:spcAft>
                <a:spcPts val="1000"/>
              </a:spcAft>
            </a:pPr>
            <a:r>
              <a:rPr sz="1250" b="1">
                <a:solidFill>
                  <a:srgbClr val="1B4F9C"/>
                </a:solidFill>
                <a:latin typeface="Arial"/>
                <a:ea typeface="Arial"/>
              </a:rPr>
              <a:t>04  </a:t>
            </a:r>
            <a:r>
              <a:rPr sz="1250">
                <a:solidFill>
                  <a:srgbClr val="12233A"/>
                </a:solidFill>
                <a:latin typeface="Arial"/>
                <a:ea typeface="Arial"/>
              </a:rPr>
              <a:t>Analyse IA du CV : extraction, score technique, communication, séniorité</a:t>
            </a:r>
          </a:p>
          <a:p>
            <a:pPr algn="l">
              <a:lnSpc>
                <a:spcPct val="118000"/>
              </a:lnSpc>
              <a:spcAft>
                <a:spcPts val="1000"/>
              </a:spcAft>
            </a:pPr>
            <a:r>
              <a:rPr sz="1250" b="1">
                <a:solidFill>
                  <a:srgbClr val="1B4F9C"/>
                </a:solidFill>
                <a:latin typeface="Arial"/>
                <a:ea typeface="Arial"/>
              </a:rPr>
              <a:t>05  </a:t>
            </a:r>
            <a:r>
              <a:rPr sz="1250">
                <a:solidFill>
                  <a:srgbClr val="12233A"/>
                </a:solidFill>
                <a:latin typeface="Arial"/>
                <a:ea typeface="Arial"/>
              </a:rPr>
              <a:t>Gestion des entretiens : planification, cinq statuts, invitations et rappels</a:t>
            </a:r>
          </a:p>
          <a:p>
            <a:pPr algn="l">
              <a:lnSpc>
                <a:spcPct val="118000"/>
              </a:lnSpc>
            </a:pPr>
            <a:r>
              <a:rPr sz="1250" b="1">
                <a:solidFill>
                  <a:srgbClr val="1B4F9C"/>
                </a:solidFill>
                <a:latin typeface="Arial"/>
                <a:ea typeface="Arial"/>
              </a:rPr>
              <a:t>06  </a:t>
            </a:r>
            <a:r>
              <a:rPr sz="1250">
                <a:solidFill>
                  <a:srgbClr val="12233A"/>
                </a:solidFill>
                <a:latin typeface="Arial"/>
                <a:ea typeface="Arial"/>
              </a:rPr>
              <a:t>Gestion des feedbacks : saisie manager, validation RH, notification</a:t>
            </a:r>
          </a:p>
        </p:txBody>
      </p:sp>
      <p:sp>
        <p:nvSpPr>
          <p:cNvPr id="9" name="Shape 9">
            <a:extLst>
              <a:ext uri="{FF2B5EF4-FFF2-40B4-BE49-F238E27FC236}">
                <a16:creationId xmlns:a16="http://schemas.microsoft.com/office/drawing/2014/main" id="{49D390B5-80DE-4BDB-BF70-2B41298BA8C7}"/>
              </a:ext>
            </a:extLst>
          </p:cNvPr>
          <p:cNvSpPr/>
          <p:nvPr/>
        </p:nvSpPr>
        <p:spPr>
          <a:xfrm>
            <a:off x="6286500" y="1390650"/>
            <a:ext cx="5143500" cy="4476750"/>
          </a:xfrm>
          <a:prstGeom prst="roundRect">
            <a:avLst/>
          </a:prstGeom>
          <a:solidFill>
            <a:srgbClr val="FFFFFF"/>
          </a:solidFill>
          <a:ln w="12700">
            <a:solidFill>
              <a:srgbClr val="D8E0EA"/>
            </a:solidFill>
          </a:ln>
        </p:spPr>
        <p:txBody>
          <a:bodyPr wrap="square" rtlCol="0"/>
          <a:lstStyle/>
          <a:p>
            <a:r>
              <a:rPr/>
              <a:t/>
            </a:r>
          </a:p>
        </p:txBody>
      </p:sp>
      <p:sp>
        <p:nvSpPr>
          <p:cNvPr id="10" name="TextBox 10">
            <a:extLst>
              <a:ext uri="{FF2B5EF4-FFF2-40B4-BE49-F238E27FC236}">
                <a16:creationId xmlns:a16="http://schemas.microsoft.com/office/drawing/2014/main" id="{EF07FF50-EA72-4960-A42F-B36A0C8C3128}"/>
              </a:ext>
            </a:extLst>
          </p:cNvPr>
          <p:cNvSpPr txBox="1"/>
          <p:nvPr/>
        </p:nvSpPr>
        <p:spPr>
          <a:xfrm>
            <a:off x="6591300" y="1638300"/>
            <a:ext cx="4533900" cy="285750"/>
          </a:xfrm>
        </p:spPr>
        <p:txBody>
          <a:bodyPr wrap="square" rtlCol="0" lIns="0" tIns="0" rIns="0" bIns="0" anchor="t"/>
          <a:lstStyle/>
          <a:p>
            <a:pPr algn="l"/>
            <a:r>
              <a:rPr sz="1600" b="1">
                <a:solidFill>
                  <a:srgbClr val="12233A"/>
                </a:solidFill>
                <a:latin typeface="Arial"/>
                <a:ea typeface="Arial"/>
              </a:rPr>
              <a:t>Pilotage, décision et ouverture</a:t>
            </a:r>
          </a:p>
        </p:txBody>
      </p:sp>
      <p:sp>
        <p:nvSpPr>
          <p:cNvPr id="11" name="TextBox 11">
            <a:extLst>
              <a:ext uri="{FF2B5EF4-FFF2-40B4-BE49-F238E27FC236}">
                <a16:creationId xmlns:a16="http://schemas.microsoft.com/office/drawing/2014/main" id="{F507A988-DE0D-4B81-B90A-0B9D220B0C5C}"/>
              </a:ext>
            </a:extLst>
          </p:cNvPr>
          <p:cNvSpPr txBox="1"/>
          <p:nvPr/>
        </p:nvSpPr>
        <p:spPr>
          <a:xfrm>
            <a:off x="6591300" y="2038350"/>
            <a:ext cx="4533900" cy="3810000"/>
          </a:xfrm>
        </p:spPr>
        <p:txBody>
          <a:bodyPr wrap="square" rtlCol="0" lIns="0" tIns="0" rIns="0" bIns="0" anchor="t"/>
          <a:lstStyle/>
          <a:p>
            <a:pPr algn="l">
              <a:lnSpc>
                <a:spcPct val="118000"/>
              </a:lnSpc>
              <a:spcAft>
                <a:spcPts val="500"/>
              </a:spcAft>
            </a:pPr>
            <a:r>
              <a:rPr sz="1250" b="1">
                <a:solidFill>
                  <a:srgbClr val="12233A"/>
                </a:solidFill>
                <a:latin typeface="Arial"/>
                <a:ea typeface="Arial"/>
              </a:rPr>
              <a:t>07  </a:t>
            </a:r>
            <a:r>
              <a:rPr sz="1250">
                <a:solidFill>
                  <a:srgbClr val="12233A"/>
                </a:solidFill>
                <a:latin typeface="Arial"/>
                <a:ea typeface="Arial"/>
              </a:rPr>
              <a:t>Décision à deux niveaux : avis du manager, contre-signé par le RH</a:t>
            </a:r>
          </a:p>
          <a:p>
            <a:pPr algn="l">
              <a:lnSpc>
                <a:spcPct val="118000"/>
              </a:lnSpc>
              <a:spcAft>
                <a:spcPts val="500"/>
              </a:spcAft>
            </a:pPr>
            <a:r>
              <a:rPr sz="1250" b="1">
                <a:solidFill>
                  <a:srgbClr val="12233A"/>
                </a:solidFill>
                <a:latin typeface="Arial"/>
                <a:ea typeface="Arial"/>
              </a:rPr>
              <a:t>08  </a:t>
            </a:r>
            <a:r>
              <a:rPr sz="1250">
                <a:solidFill>
                  <a:srgbClr val="12233A"/>
                </a:solidFill>
                <a:latin typeface="Arial"/>
                <a:ea typeface="Arial"/>
              </a:rPr>
              <a:t>Notifications e-mail automatiques à chaque étape clé du processus</a:t>
            </a:r>
          </a:p>
          <a:p>
            <a:pPr algn="l">
              <a:lnSpc>
                <a:spcPct val="118000"/>
              </a:lnSpc>
              <a:spcAft>
                <a:spcPts val="500"/>
              </a:spcAft>
            </a:pPr>
            <a:r>
              <a:rPr sz="1250" b="1">
                <a:solidFill>
                  <a:srgbClr val="12233A"/>
                </a:solidFill>
                <a:latin typeface="Arial"/>
                <a:ea typeface="Arial"/>
              </a:rPr>
              <a:t>09  </a:t>
            </a:r>
            <a:r>
              <a:rPr sz="1250">
                <a:solidFill>
                  <a:srgbClr val="12233A"/>
                </a:solidFill>
                <a:latin typeface="Arial"/>
                <a:ea typeface="Arial"/>
              </a:rPr>
              <a:t>Tableau Kanban de pilotage des candidatures par statut</a:t>
            </a:r>
          </a:p>
          <a:p>
            <a:pPr algn="l">
              <a:lnSpc>
                <a:spcPct val="118000"/>
              </a:lnSpc>
              <a:spcAft>
                <a:spcPts val="500"/>
              </a:spcAft>
            </a:pPr>
            <a:r>
              <a:rPr sz="1250" b="1">
                <a:solidFill>
                  <a:srgbClr val="12233A"/>
                </a:solidFill>
                <a:latin typeface="Arial"/>
                <a:ea typeface="Arial"/>
              </a:rPr>
              <a:t>10  </a:t>
            </a:r>
            <a:r>
              <a:rPr sz="1250">
                <a:solidFill>
                  <a:srgbClr val="12233A"/>
                </a:solidFill>
                <a:latin typeface="Arial"/>
                <a:ea typeface="Arial"/>
              </a:rPr>
              <a:t>Gestion des utilisateurs, des rôles et des pondérations de score</a:t>
            </a:r>
          </a:p>
          <a:p>
            <a:pPr algn="l">
              <a:lnSpc>
                <a:spcPct val="118000"/>
              </a:lnSpc>
            </a:pPr>
            <a:r>
              <a:rPr sz="1250" b="1">
                <a:solidFill>
                  <a:srgbClr val="12233A"/>
                </a:solidFill>
                <a:latin typeface="Arial"/>
                <a:ea typeface="Arial"/>
              </a:rPr>
              <a:t>11  </a:t>
            </a:r>
            <a:r>
              <a:rPr sz="1250">
                <a:solidFill>
                  <a:srgbClr val="12233A"/>
                </a:solidFill>
                <a:latin typeface="Arial"/>
                <a:ea typeface="Arial"/>
              </a:rPr>
              <a:t>Matching inverse « Job idéal » : des offres suggérées à partir d'un CV</a:t>
            </a:r>
          </a:p>
        </p:txBody>
      </p:sp>
      <p:sp>
        <p:nvSpPr>
          <p:cNvPr id="12" name="TextBox 12">
            <a:extLst>
              <a:ext uri="{FF2B5EF4-FFF2-40B4-BE49-F238E27FC236}">
                <a16:creationId xmlns:a16="http://schemas.microsoft.com/office/drawing/2014/main" id="{145D256C-7B54-4409-BE65-D8AFEAF11F0B}"/>
              </a:ext>
            </a:extLst>
          </p:cNvPr>
          <p:cNvSpPr txBox="1"/>
          <p:nvPr/>
        </p:nvSpPr>
        <p:spPr>
          <a:xfrm>
            <a:off x="762000" y="6019800"/>
            <a:ext cx="10668000" cy="228600"/>
          </a:xfrm>
        </p:spPr>
        <p:txBody>
          <a:bodyPr wrap="square" rtlCol="0" lIns="0" tIns="0" rIns="0" bIns="0" anchor="t"/>
          <a:lstStyle/>
          <a:p>
            <a:pPr algn="l"/>
            <a:r>
              <a:rPr sz="1250">
                <a:solidFill>
                  <a:srgbClr val="5A6B80"/>
                </a:solidFill>
                <a:latin typeface="Arial"/>
                <a:ea typeface="Arial"/>
              </a:rPr>
              <a:t>Chaque besoin a donné lieu à une ou plusieurs user stories du backlog, puis à une fonctionnalité listée au bilan.</a:t>
            </a:r>
          </a:p>
        </p:txBody>
      </p:sp>
      <p:sp>
        <p:nvSpPr>
          <p:cNvPr id="13" name="TextBox 13">
            <a:extLst>
              <a:ext uri="{FF2B5EF4-FFF2-40B4-BE49-F238E27FC236}">
                <a16:creationId xmlns:a16="http://schemas.microsoft.com/office/drawing/2014/main" id="{0C7B80C5-A369-4280-B5D2-924A9FA98477}"/>
              </a:ext>
            </a:extLst>
          </p:cNvPr>
          <p:cNvSpPr txBox="1"/>
          <p:nvPr/>
        </p:nvSpPr>
        <p:spPr>
          <a:xfrm>
            <a:off x="762000" y="6515100"/>
            <a:ext cx="3810000" cy="190500"/>
          </a:xfrm>
        </p:spPr>
        <p:txBody>
          <a:bodyPr wrap="square" rtlCol="0" lIns="0" tIns="0" rIns="0" bIns="0" anchor="t"/>
          <a:lstStyle/>
          <a:p>
            <a:pPr algn="l"/>
            <a:r>
              <a:rPr sz="1050">
                <a:solidFill>
                  <a:srgbClr val="9AA9BC"/>
                </a:solidFill>
                <a:latin typeface="Arial"/>
                <a:ea typeface="Arial"/>
              </a:rPr>
              <a:t>JOB4YOU - Soutenance PFE</a:t>
            </a:r>
          </a:p>
        </p:txBody>
      </p:sp>
      <p:sp>
        <p:nvSpPr>
          <p:cNvPr id="14" name="TextBox 14">
            <a:extLst>
              <a:ext uri="{FF2B5EF4-FFF2-40B4-BE49-F238E27FC236}">
                <a16:creationId xmlns:a16="http://schemas.microsoft.com/office/drawing/2014/main" id="{CD027967-DA3E-474E-829C-7EF905B3D253}"/>
              </a:ext>
            </a:extLst>
          </p:cNvPr>
          <p:cNvSpPr txBox="1"/>
          <p:nvPr/>
        </p:nvSpPr>
        <p:spPr>
          <a:xfrm>
            <a:off x="10858500" y="6515100"/>
            <a:ext cx="571500" cy="190500"/>
          </a:xfrm>
        </p:spPr>
        <p:txBody>
          <a:bodyPr wrap="square" rtlCol="0" lIns="0" tIns="0" rIns="0" bIns="0" anchor="t"/>
          <a:lstStyle/>
          <a:p>
            <a:pPr algn="r"/>
            <a:r>
              <a:rPr sz="1050">
                <a:solidFill>
                  <a:srgbClr val="9AA9BC"/>
                </a:solidFill>
                <a:latin typeface="Arial"/>
                <a:ea typeface="Arial"/>
              </a:rPr>
              <a:t>5 / 19</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id="{092C64C4-4725-4CEB-B3CA-4144BCEED064}"/>
              </a:ext>
            </a:extLst>
          </p:cNvPr>
          <p:cNvSpPr txBox="1"/>
          <p:nvPr/>
        </p:nvSpPr>
        <p:spPr>
          <a:xfrm>
            <a:off x="762000" y="400050"/>
            <a:ext cx="7620000" cy="209550"/>
          </a:xfrm>
        </p:spPr>
        <p:txBody>
          <a:bodyPr wrap="square" rtlCol="0" lIns="0" tIns="0" rIns="0" bIns="0" anchor="t"/>
          <a:lstStyle/>
          <a:p>
            <a:pPr algn="l"/>
            <a:r>
              <a:rPr sz="1200" b="1">
                <a:solidFill>
                  <a:srgbClr val="00A8B5"/>
                </a:solidFill>
                <a:latin typeface="Arial"/>
                <a:ea typeface="Arial"/>
              </a:rPr>
              <a:t>02 · ANALYSE DES BESOINS</a:t>
            </a:r>
          </a:p>
        </p:txBody>
      </p:sp>
      <p:sp>
        <p:nvSpPr>
          <p:cNvPr id="4" name="TextBox 4">
            <a:extLst>
              <a:ext uri="{FF2B5EF4-FFF2-40B4-BE49-F238E27FC236}">
                <a16:creationId xmlns:a16="http://schemas.microsoft.com/office/drawing/2014/main" id="{1F2860A1-E098-4AD2-8FB4-BE8697918513}"/>
              </a:ext>
            </a:extLst>
          </p:cNvPr>
          <p:cNvSpPr txBox="1"/>
          <p:nvPr/>
        </p:nvSpPr>
        <p:spPr>
          <a:xfrm>
            <a:off x="762000" y="609600"/>
            <a:ext cx="9525000" cy="476250"/>
          </a:xfrm>
        </p:spPr>
        <p:txBody>
          <a:bodyPr wrap="square" rtlCol="0" lIns="0" tIns="0" rIns="0" bIns="0" anchor="t"/>
          <a:lstStyle/>
          <a:p>
            <a:pPr algn="l"/>
            <a:r>
              <a:rPr sz="3000" b="1">
                <a:solidFill>
                  <a:srgbClr val="12233A"/>
                </a:solidFill>
                <a:latin typeface="Arial"/>
                <a:ea typeface="Arial"/>
              </a:rPr>
              <a:t>Six exigences non fonctionnelles</a:t>
            </a:r>
          </a:p>
        </p:txBody>
      </p:sp>
      <p:sp>
        <p:nvSpPr>
          <p:cNvPr id="5" name="TextBox 5">
            <a:extLst>
              <a:ext uri="{FF2B5EF4-FFF2-40B4-BE49-F238E27FC236}">
                <a16:creationId xmlns:a16="http://schemas.microsoft.com/office/drawing/2014/main" id="{DC42EA05-C5A1-4511-A810-AB1BA2F9DBB4}"/>
              </a:ext>
            </a:extLst>
          </p:cNvPr>
          <p:cNvSpPr txBox="1"/>
          <p:nvPr/>
        </p:nvSpPr>
        <p:spPr>
          <a:xfrm>
            <a:off x="762000" y="1066800"/>
            <a:ext cx="10668000" cy="247650"/>
          </a:xfrm>
        </p:spPr>
        <p:txBody>
          <a:bodyPr wrap="square" rtlCol="0" lIns="0" tIns="0" rIns="0" bIns="0" anchor="t"/>
          <a:lstStyle/>
          <a:p>
            <a:pPr algn="l"/>
            <a:r>
              <a:rPr sz="1400">
                <a:solidFill>
                  <a:srgbClr val="5A6B80"/>
                </a:solidFill>
                <a:latin typeface="Arial"/>
                <a:ea typeface="Arial"/>
              </a:rPr>
              <a:t>Elles ont cadré les choix techniques dès la conception, pas après coup.</a:t>
            </a:r>
          </a:p>
        </p:txBody>
      </p:sp>
      <p:sp>
        <p:nvSpPr>
          <p:cNvPr id="6" name="Shape 6">
            <a:extLst>
              <a:ext uri="{FF2B5EF4-FFF2-40B4-BE49-F238E27FC236}">
                <a16:creationId xmlns:a16="http://schemas.microsoft.com/office/drawing/2014/main" id="{528B0439-3534-4A73-8B4D-AE9690C3764B}"/>
              </a:ext>
            </a:extLst>
          </p:cNvPr>
          <p:cNvSpPr/>
          <p:nvPr/>
        </p:nvSpPr>
        <p:spPr>
          <a:xfrm>
            <a:off x="762000" y="1390650"/>
            <a:ext cx="3352800" cy="2286000"/>
          </a:xfrm>
          <a:prstGeom prst="roundRect">
            <a:avLst/>
          </a:prstGeom>
          <a:solidFill>
            <a:srgbClr val="FFFFFF"/>
          </a:solidFill>
          <a:ln w="12700">
            <a:solidFill>
              <a:srgbClr val="D8E0EA"/>
            </a:solidFill>
          </a:ln>
        </p:spPr>
        <p:txBody>
          <a:bodyPr wrap="square" rtlCol="0"/>
          <a:lstStyle/>
          <a:p>
            <a:r>
              <a:rPr/>
              <a:t/>
            </a:r>
          </a:p>
        </p:txBody>
      </p:sp>
      <p:sp>
        <p:nvSpPr>
          <p:cNvPr id="7" name="TextBox 7">
            <a:extLst>
              <a:ext uri="{FF2B5EF4-FFF2-40B4-BE49-F238E27FC236}">
                <a16:creationId xmlns:a16="http://schemas.microsoft.com/office/drawing/2014/main" id="{9C29E4C6-F7AE-41A5-8617-35A69858AC88}"/>
              </a:ext>
            </a:extLst>
          </p:cNvPr>
          <p:cNvSpPr txBox="1"/>
          <p:nvPr/>
        </p:nvSpPr>
        <p:spPr>
          <a:xfrm>
            <a:off x="1028700" y="1600200"/>
            <a:ext cx="2819400" cy="285750"/>
          </a:xfrm>
        </p:spPr>
        <p:txBody>
          <a:bodyPr wrap="square" rtlCol="0" lIns="0" tIns="0" rIns="0" bIns="0" anchor="t"/>
          <a:lstStyle/>
          <a:p>
            <a:pPr algn="l"/>
            <a:r>
              <a:rPr sz="1600" b="1">
                <a:solidFill>
                  <a:srgbClr val="12233A"/>
                </a:solidFill>
                <a:latin typeface="Arial"/>
                <a:ea typeface="Arial"/>
              </a:rPr>
              <a:t>Sécurité</a:t>
            </a:r>
          </a:p>
        </p:txBody>
      </p:sp>
      <p:sp>
        <p:nvSpPr>
          <p:cNvPr id="8" name="TextBox 8">
            <a:extLst>
              <a:ext uri="{FF2B5EF4-FFF2-40B4-BE49-F238E27FC236}">
                <a16:creationId xmlns:a16="http://schemas.microsoft.com/office/drawing/2014/main" id="{87B95C23-A90B-4F6F-BB0E-177BBFDDA306}"/>
              </a:ext>
            </a:extLst>
          </p:cNvPr>
          <p:cNvSpPr txBox="1"/>
          <p:nvPr/>
        </p:nvSpPr>
        <p:spPr>
          <a:xfrm>
            <a:off x="1028700" y="1962150"/>
            <a:ext cx="2819400" cy="1600200"/>
          </a:xfrm>
        </p:spPr>
        <p:txBody>
          <a:bodyPr wrap="square" rtlCol="0" lIns="0" tIns="0" rIns="0" bIns="0" anchor="t"/>
          <a:lstStyle/>
          <a:p>
            <a:pPr algn="l">
              <a:lnSpc>
                <a:spcPct val="118000"/>
              </a:lnSpc>
            </a:pPr>
            <a:r>
              <a:rPr sz="1250">
                <a:solidFill>
                  <a:srgbClr val="12233A"/>
                </a:solidFill>
                <a:latin typeface="Arial"/>
                <a:ea typeface="Arial"/>
              </a:rPr>
              <a:t>Jeton signé d'une durée de vie de 24 h, mots de passe hachés avec BCrypt, RBAC côté front et côté back, jeton de réinitialisation valable 15 min, limitation des tentatives de connexion.</a:t>
            </a:r>
          </a:p>
        </p:txBody>
      </p:sp>
      <p:sp>
        <p:nvSpPr>
          <p:cNvPr id="9" name="Shape 9">
            <a:extLst>
              <a:ext uri="{FF2B5EF4-FFF2-40B4-BE49-F238E27FC236}">
                <a16:creationId xmlns:a16="http://schemas.microsoft.com/office/drawing/2014/main" id="{63848FA4-4CD7-42ED-877C-CD2EF406EDC3}"/>
              </a:ext>
            </a:extLst>
          </p:cNvPr>
          <p:cNvSpPr/>
          <p:nvPr/>
        </p:nvSpPr>
        <p:spPr>
          <a:xfrm>
            <a:off x="4419600" y="1390650"/>
            <a:ext cx="3352800" cy="2286000"/>
          </a:xfrm>
          <a:prstGeom prst="roundRect">
            <a:avLst/>
          </a:prstGeom>
          <a:solidFill>
            <a:srgbClr val="FFFFFF"/>
          </a:solidFill>
          <a:ln w="12700">
            <a:solidFill>
              <a:srgbClr val="D8E0EA"/>
            </a:solidFill>
          </a:ln>
        </p:spPr>
        <p:txBody>
          <a:bodyPr wrap="square" rtlCol="0"/>
          <a:lstStyle/>
          <a:p>
            <a:r>
              <a:rPr/>
              <a:t/>
            </a:r>
          </a:p>
        </p:txBody>
      </p:sp>
      <p:sp>
        <p:nvSpPr>
          <p:cNvPr id="10" name="TextBox 10">
            <a:extLst>
              <a:ext uri="{FF2B5EF4-FFF2-40B4-BE49-F238E27FC236}">
                <a16:creationId xmlns:a16="http://schemas.microsoft.com/office/drawing/2014/main" id="{1122850B-4BFF-4125-804A-C197A0A13A73}"/>
              </a:ext>
            </a:extLst>
          </p:cNvPr>
          <p:cNvSpPr txBox="1"/>
          <p:nvPr/>
        </p:nvSpPr>
        <p:spPr>
          <a:xfrm>
            <a:off x="4686300" y="1600200"/>
            <a:ext cx="2819400" cy="285750"/>
          </a:xfrm>
        </p:spPr>
        <p:txBody>
          <a:bodyPr wrap="square" rtlCol="0" lIns="0" tIns="0" rIns="0" bIns="0" anchor="t"/>
          <a:lstStyle/>
          <a:p>
            <a:pPr algn="l"/>
            <a:r>
              <a:rPr sz="1600" b="1">
                <a:solidFill>
                  <a:srgbClr val="12233A"/>
                </a:solidFill>
                <a:latin typeface="Arial"/>
                <a:ea typeface="Arial"/>
              </a:rPr>
              <a:t>Performance</a:t>
            </a:r>
          </a:p>
        </p:txBody>
      </p:sp>
      <p:sp>
        <p:nvSpPr>
          <p:cNvPr id="11" name="TextBox 11">
            <a:extLst>
              <a:ext uri="{FF2B5EF4-FFF2-40B4-BE49-F238E27FC236}">
                <a16:creationId xmlns:a16="http://schemas.microsoft.com/office/drawing/2014/main" id="{916AD0ED-003E-4608-B141-B0595DDB6D88}"/>
              </a:ext>
            </a:extLst>
          </p:cNvPr>
          <p:cNvSpPr txBox="1"/>
          <p:nvPr/>
        </p:nvSpPr>
        <p:spPr>
          <a:xfrm>
            <a:off x="4686300" y="1962150"/>
            <a:ext cx="2819400" cy="1600200"/>
          </a:xfrm>
        </p:spPr>
        <p:txBody>
          <a:bodyPr wrap="square" rtlCol="0" lIns="0" tIns="0" rIns="0" bIns="0" anchor="t"/>
          <a:lstStyle/>
          <a:p>
            <a:pPr algn="l">
              <a:lnSpc>
                <a:spcPct val="118000"/>
              </a:lnSpc>
            </a:pPr>
            <a:r>
              <a:rPr sz="1250">
                <a:solidFill>
                  <a:srgbClr val="12233A"/>
                </a:solidFill>
                <a:latin typeface="Arial"/>
                <a:ea typeface="Arial"/>
              </a:rPr>
              <a:t>Temps de réponse cible : moins de 500 ms en lecture, moins de 2 s en écriture. Traitement long en asynchrone, CV plafonné à 10 Mo.</a:t>
            </a:r>
          </a:p>
        </p:txBody>
      </p:sp>
      <p:sp>
        <p:nvSpPr>
          <p:cNvPr id="12" name="Shape 12">
            <a:extLst>
              <a:ext uri="{FF2B5EF4-FFF2-40B4-BE49-F238E27FC236}">
                <a16:creationId xmlns:a16="http://schemas.microsoft.com/office/drawing/2014/main" id="{A1803D41-7EBD-4209-AB79-448749441D36}"/>
              </a:ext>
            </a:extLst>
          </p:cNvPr>
          <p:cNvSpPr/>
          <p:nvPr/>
        </p:nvSpPr>
        <p:spPr>
          <a:xfrm>
            <a:off x="8077200" y="1390650"/>
            <a:ext cx="3352800" cy="2286000"/>
          </a:xfrm>
          <a:prstGeom prst="roundRect">
            <a:avLst/>
          </a:prstGeom>
          <a:solidFill>
            <a:srgbClr val="FFFFFF"/>
          </a:solidFill>
          <a:ln w="12700">
            <a:solidFill>
              <a:srgbClr val="D8E0EA"/>
            </a:solidFill>
          </a:ln>
        </p:spPr>
        <p:txBody>
          <a:bodyPr wrap="square" rtlCol="0"/>
          <a:lstStyle/>
          <a:p>
            <a:r>
              <a:rPr/>
              <a:t/>
            </a:r>
          </a:p>
        </p:txBody>
      </p:sp>
      <p:sp>
        <p:nvSpPr>
          <p:cNvPr id="13" name="TextBox 13">
            <a:extLst>
              <a:ext uri="{FF2B5EF4-FFF2-40B4-BE49-F238E27FC236}">
                <a16:creationId xmlns:a16="http://schemas.microsoft.com/office/drawing/2014/main" id="{F1CC7396-36C2-4C68-97D1-088358F6260D}"/>
              </a:ext>
            </a:extLst>
          </p:cNvPr>
          <p:cNvSpPr txBox="1"/>
          <p:nvPr/>
        </p:nvSpPr>
        <p:spPr>
          <a:xfrm>
            <a:off x="8343900" y="1600200"/>
            <a:ext cx="2819400" cy="285750"/>
          </a:xfrm>
        </p:spPr>
        <p:txBody>
          <a:bodyPr wrap="square" rtlCol="0" lIns="0" tIns="0" rIns="0" bIns="0" anchor="t"/>
          <a:lstStyle/>
          <a:p>
            <a:pPr algn="l"/>
            <a:r>
              <a:rPr sz="1600" b="1">
                <a:solidFill>
                  <a:srgbClr val="12233A"/>
                </a:solidFill>
                <a:latin typeface="Arial"/>
                <a:ea typeface="Arial"/>
              </a:rPr>
              <a:t>Ergonomie</a:t>
            </a:r>
          </a:p>
        </p:txBody>
      </p:sp>
      <p:sp>
        <p:nvSpPr>
          <p:cNvPr id="14" name="TextBox 14">
            <a:extLst>
              <a:ext uri="{FF2B5EF4-FFF2-40B4-BE49-F238E27FC236}">
                <a16:creationId xmlns:a16="http://schemas.microsoft.com/office/drawing/2014/main" id="{23F91CFD-6CFC-42BA-A62B-59FC94756C80}"/>
              </a:ext>
            </a:extLst>
          </p:cNvPr>
          <p:cNvSpPr txBox="1"/>
          <p:nvPr/>
        </p:nvSpPr>
        <p:spPr>
          <a:xfrm>
            <a:off x="8343900" y="1962150"/>
            <a:ext cx="2819400" cy="1600200"/>
          </a:xfrm>
        </p:spPr>
        <p:txBody>
          <a:bodyPr wrap="square" rtlCol="0" lIns="0" tIns="0" rIns="0" bIns="0" anchor="t"/>
          <a:lstStyle/>
          <a:p>
            <a:pPr algn="l">
              <a:lnSpc>
                <a:spcPct val="118000"/>
              </a:lnSpc>
            </a:pPr>
            <a:r>
              <a:rPr sz="1250">
                <a:solidFill>
                  <a:srgbClr val="12233A"/>
                </a:solidFill>
                <a:latin typeface="Arial"/>
                <a:ea typeface="Arial"/>
              </a:rPr>
              <a:t>Interface claire et intuitive, utilisable sur poste de travail comme sur tablette.</a:t>
            </a:r>
          </a:p>
        </p:txBody>
      </p:sp>
      <p:sp>
        <p:nvSpPr>
          <p:cNvPr id="15" name="Shape 15">
            <a:extLst>
              <a:ext uri="{FF2B5EF4-FFF2-40B4-BE49-F238E27FC236}">
                <a16:creationId xmlns:a16="http://schemas.microsoft.com/office/drawing/2014/main" id="{6C0B42AF-1D73-47A3-9727-0403181F650A}"/>
              </a:ext>
            </a:extLst>
          </p:cNvPr>
          <p:cNvSpPr/>
          <p:nvPr/>
        </p:nvSpPr>
        <p:spPr>
          <a:xfrm>
            <a:off x="762000" y="3867150"/>
            <a:ext cx="3352800" cy="2286000"/>
          </a:xfrm>
          <a:prstGeom prst="roundRect">
            <a:avLst/>
          </a:prstGeom>
          <a:solidFill>
            <a:srgbClr val="FFFFFF"/>
          </a:solidFill>
          <a:ln w="12700">
            <a:solidFill>
              <a:srgbClr val="D8E0EA"/>
            </a:solidFill>
          </a:ln>
        </p:spPr>
        <p:txBody>
          <a:bodyPr wrap="square" rtlCol="0"/>
          <a:lstStyle/>
          <a:p>
            <a:r>
              <a:rPr/>
              <a:t/>
            </a:r>
          </a:p>
        </p:txBody>
      </p:sp>
      <p:sp>
        <p:nvSpPr>
          <p:cNvPr id="16" name="TextBox 16">
            <a:extLst>
              <a:ext uri="{FF2B5EF4-FFF2-40B4-BE49-F238E27FC236}">
                <a16:creationId xmlns:a16="http://schemas.microsoft.com/office/drawing/2014/main" id="{99E7F712-CD2E-464A-80AE-88B4B92B0210}"/>
              </a:ext>
            </a:extLst>
          </p:cNvPr>
          <p:cNvSpPr txBox="1"/>
          <p:nvPr/>
        </p:nvSpPr>
        <p:spPr>
          <a:xfrm>
            <a:off x="1028700" y="4076700"/>
            <a:ext cx="2819400" cy="285750"/>
          </a:xfrm>
        </p:spPr>
        <p:txBody>
          <a:bodyPr wrap="square" rtlCol="0" lIns="0" tIns="0" rIns="0" bIns="0" anchor="t"/>
          <a:lstStyle/>
          <a:p>
            <a:pPr algn="l"/>
            <a:r>
              <a:rPr sz="1600" b="1">
                <a:solidFill>
                  <a:srgbClr val="12233A"/>
                </a:solidFill>
                <a:latin typeface="Arial"/>
                <a:ea typeface="Arial"/>
              </a:rPr>
              <a:t>Fiabilité</a:t>
            </a:r>
          </a:p>
        </p:txBody>
      </p:sp>
      <p:sp>
        <p:nvSpPr>
          <p:cNvPr id="17" name="TextBox 17">
            <a:extLst>
              <a:ext uri="{FF2B5EF4-FFF2-40B4-BE49-F238E27FC236}">
                <a16:creationId xmlns:a16="http://schemas.microsoft.com/office/drawing/2014/main" id="{8C699022-FE52-42B5-8B44-2F4081255398}"/>
              </a:ext>
            </a:extLst>
          </p:cNvPr>
          <p:cNvSpPr txBox="1"/>
          <p:nvPr/>
        </p:nvSpPr>
        <p:spPr>
          <a:xfrm>
            <a:off x="1028700" y="4438650"/>
            <a:ext cx="2819400" cy="1600200"/>
          </a:xfrm>
        </p:spPr>
        <p:txBody>
          <a:bodyPr wrap="square" rtlCol="0" lIns="0" tIns="0" rIns="0" bIns="0" anchor="t"/>
          <a:lstStyle/>
          <a:p>
            <a:pPr algn="l">
              <a:lnSpc>
                <a:spcPct val="118000"/>
              </a:lnSpc>
            </a:pPr>
            <a:r>
              <a:rPr sz="1250">
                <a:solidFill>
                  <a:srgbClr val="12233A"/>
                </a:solidFill>
                <a:latin typeface="Arial"/>
                <a:ea typeface="Arial"/>
              </a:rPr>
              <a:t>Garde-fous sur les transitions de statut : aucune décision avant validation RH, aucun entretien sur un dossier clos ou refusé.</a:t>
            </a:r>
          </a:p>
        </p:txBody>
      </p:sp>
      <p:sp>
        <p:nvSpPr>
          <p:cNvPr id="18" name="Shape 18">
            <a:extLst>
              <a:ext uri="{FF2B5EF4-FFF2-40B4-BE49-F238E27FC236}">
                <a16:creationId xmlns:a16="http://schemas.microsoft.com/office/drawing/2014/main" id="{C2FEF280-D7BA-491B-9F94-50AFB97AB7EC}"/>
              </a:ext>
            </a:extLst>
          </p:cNvPr>
          <p:cNvSpPr/>
          <p:nvPr/>
        </p:nvSpPr>
        <p:spPr>
          <a:xfrm>
            <a:off x="4419600" y="3867150"/>
            <a:ext cx="3352800" cy="2286000"/>
          </a:xfrm>
          <a:prstGeom prst="roundRect">
            <a:avLst/>
          </a:prstGeom>
          <a:solidFill>
            <a:srgbClr val="FFFFFF"/>
          </a:solidFill>
          <a:ln w="12700">
            <a:solidFill>
              <a:srgbClr val="D8E0EA"/>
            </a:solidFill>
          </a:ln>
        </p:spPr>
        <p:txBody>
          <a:bodyPr wrap="square" rtlCol="0"/>
          <a:lstStyle/>
          <a:p>
            <a:r>
              <a:rPr/>
              <a:t/>
            </a:r>
          </a:p>
        </p:txBody>
      </p:sp>
      <p:sp>
        <p:nvSpPr>
          <p:cNvPr id="19" name="TextBox 19">
            <a:extLst>
              <a:ext uri="{FF2B5EF4-FFF2-40B4-BE49-F238E27FC236}">
                <a16:creationId xmlns:a16="http://schemas.microsoft.com/office/drawing/2014/main" id="{3ED6BA35-FD4D-4142-AF39-A8D13BE98861}"/>
              </a:ext>
            </a:extLst>
          </p:cNvPr>
          <p:cNvSpPr txBox="1"/>
          <p:nvPr/>
        </p:nvSpPr>
        <p:spPr>
          <a:xfrm>
            <a:off x="4686300" y="4076700"/>
            <a:ext cx="2819400" cy="285750"/>
          </a:xfrm>
        </p:spPr>
        <p:txBody>
          <a:bodyPr wrap="square" rtlCol="0" lIns="0" tIns="0" rIns="0" bIns="0" anchor="t"/>
          <a:lstStyle/>
          <a:p>
            <a:pPr algn="l"/>
            <a:r>
              <a:rPr sz="1600" b="1">
                <a:solidFill>
                  <a:srgbClr val="12233A"/>
                </a:solidFill>
                <a:latin typeface="Arial"/>
                <a:ea typeface="Arial"/>
              </a:rPr>
              <a:t>Maintenabilité</a:t>
            </a:r>
          </a:p>
        </p:txBody>
      </p:sp>
      <p:sp>
        <p:nvSpPr>
          <p:cNvPr id="20" name="TextBox 20">
            <a:extLst>
              <a:ext uri="{FF2B5EF4-FFF2-40B4-BE49-F238E27FC236}">
                <a16:creationId xmlns:a16="http://schemas.microsoft.com/office/drawing/2014/main" id="{0C56994F-CCBF-422A-A972-3E073A737FD3}"/>
              </a:ext>
            </a:extLst>
          </p:cNvPr>
          <p:cNvSpPr txBox="1"/>
          <p:nvPr/>
        </p:nvSpPr>
        <p:spPr>
          <a:xfrm>
            <a:off x="4686300" y="4438650"/>
            <a:ext cx="2819400" cy="1600200"/>
          </a:xfrm>
        </p:spPr>
        <p:txBody>
          <a:bodyPr wrap="square" rtlCol="0" lIns="0" tIns="0" rIns="0" bIns="0" anchor="t"/>
          <a:lstStyle/>
          <a:p>
            <a:pPr algn="l">
              <a:lnSpc>
                <a:spcPct val="118000"/>
              </a:lnSpc>
            </a:pPr>
            <a:r>
              <a:rPr sz="1250">
                <a:solidFill>
                  <a:srgbClr val="12233A"/>
                </a:solidFill>
                <a:latin typeface="Arial"/>
                <a:ea typeface="Arial"/>
              </a:rPr>
              <a:t>Architecture en couches, séparation front-end, back-end et automatisation : une nouvelle brique s'ajoute sans casser les autres.</a:t>
            </a:r>
          </a:p>
        </p:txBody>
      </p:sp>
      <p:sp>
        <p:nvSpPr>
          <p:cNvPr id="21" name="Shape 21">
            <a:extLst>
              <a:ext uri="{FF2B5EF4-FFF2-40B4-BE49-F238E27FC236}">
                <a16:creationId xmlns:a16="http://schemas.microsoft.com/office/drawing/2014/main" id="{4E7B8DE8-F8EF-4331-8587-AC3B7A93592A}"/>
              </a:ext>
            </a:extLst>
          </p:cNvPr>
          <p:cNvSpPr/>
          <p:nvPr/>
        </p:nvSpPr>
        <p:spPr>
          <a:xfrm>
            <a:off x="8077200" y="3867150"/>
            <a:ext cx="3352800" cy="2286000"/>
          </a:xfrm>
          <a:prstGeom prst="roundRect">
            <a:avLst/>
          </a:prstGeom>
          <a:solidFill>
            <a:srgbClr val="FFFFFF"/>
          </a:solidFill>
          <a:ln w="12700">
            <a:solidFill>
              <a:srgbClr val="D8E0EA"/>
            </a:solidFill>
          </a:ln>
        </p:spPr>
        <p:txBody>
          <a:bodyPr wrap="square" rtlCol="0"/>
          <a:lstStyle/>
          <a:p>
            <a:r>
              <a:rPr/>
              <a:t/>
            </a:r>
          </a:p>
        </p:txBody>
      </p:sp>
      <p:sp>
        <p:nvSpPr>
          <p:cNvPr id="22" name="TextBox 22">
            <a:extLst>
              <a:ext uri="{FF2B5EF4-FFF2-40B4-BE49-F238E27FC236}">
                <a16:creationId xmlns:a16="http://schemas.microsoft.com/office/drawing/2014/main" id="{6097B42A-9A97-4423-9EE7-1F86B65C7D18}"/>
              </a:ext>
            </a:extLst>
          </p:cNvPr>
          <p:cNvSpPr txBox="1"/>
          <p:nvPr/>
        </p:nvSpPr>
        <p:spPr>
          <a:xfrm>
            <a:off x="8343900" y="4076700"/>
            <a:ext cx="2819400" cy="285750"/>
          </a:xfrm>
        </p:spPr>
        <p:txBody>
          <a:bodyPr wrap="square" rtlCol="0" lIns="0" tIns="0" rIns="0" bIns="0" anchor="t"/>
          <a:lstStyle/>
          <a:p>
            <a:pPr algn="l"/>
            <a:r>
              <a:rPr sz="1600" b="1">
                <a:solidFill>
                  <a:srgbClr val="12233A"/>
                </a:solidFill>
                <a:latin typeface="Arial"/>
                <a:ea typeface="Arial"/>
              </a:rPr>
              <a:t>Traçabilité</a:t>
            </a:r>
          </a:p>
        </p:txBody>
      </p:sp>
      <p:sp>
        <p:nvSpPr>
          <p:cNvPr id="23" name="TextBox 23">
            <a:extLst>
              <a:ext uri="{FF2B5EF4-FFF2-40B4-BE49-F238E27FC236}">
                <a16:creationId xmlns:a16="http://schemas.microsoft.com/office/drawing/2014/main" id="{6D0A8472-48C5-4CE1-A9E6-E65A791C29B7}"/>
              </a:ext>
            </a:extLst>
          </p:cNvPr>
          <p:cNvSpPr txBox="1"/>
          <p:nvPr/>
        </p:nvSpPr>
        <p:spPr>
          <a:xfrm>
            <a:off x="8343900" y="4438650"/>
            <a:ext cx="2819400" cy="1600200"/>
          </a:xfrm>
        </p:spPr>
        <p:txBody>
          <a:bodyPr wrap="square" rtlCol="0" lIns="0" tIns="0" rIns="0" bIns="0" anchor="t"/>
          <a:lstStyle/>
          <a:p>
            <a:pPr algn="l">
              <a:lnSpc>
                <a:spcPct val="118000"/>
              </a:lnSpc>
            </a:pPr>
            <a:r>
              <a:rPr sz="1250">
                <a:solidFill>
                  <a:srgbClr val="12233A"/>
                </a:solidFill>
                <a:latin typeface="Arial"/>
                <a:ea typeface="Arial"/>
              </a:rPr>
              <a:t>Journal d'audit des actions sensibles : changement de statut, correction de score IA, décision prise.</a:t>
            </a:r>
          </a:p>
        </p:txBody>
      </p:sp>
      <p:sp>
        <p:nvSpPr>
          <p:cNvPr id="24" name="TextBox 24">
            <a:extLst>
              <a:ext uri="{FF2B5EF4-FFF2-40B4-BE49-F238E27FC236}">
                <a16:creationId xmlns:a16="http://schemas.microsoft.com/office/drawing/2014/main" id="{00BDFD0E-FED8-4C5E-881B-93F587980BF2}"/>
              </a:ext>
            </a:extLst>
          </p:cNvPr>
          <p:cNvSpPr txBox="1"/>
          <p:nvPr/>
        </p:nvSpPr>
        <p:spPr>
          <a:xfrm>
            <a:off x="762000" y="6515100"/>
            <a:ext cx="3810000" cy="190500"/>
          </a:xfrm>
        </p:spPr>
        <p:txBody>
          <a:bodyPr wrap="square" rtlCol="0" lIns="0" tIns="0" rIns="0" bIns="0" anchor="t"/>
          <a:lstStyle/>
          <a:p>
            <a:pPr algn="l"/>
            <a:r>
              <a:rPr sz="1050">
                <a:solidFill>
                  <a:srgbClr val="9AA9BC"/>
                </a:solidFill>
                <a:latin typeface="Arial"/>
                <a:ea typeface="Arial"/>
              </a:rPr>
              <a:t>JOB4YOU - Soutenance PFE</a:t>
            </a:r>
          </a:p>
        </p:txBody>
      </p:sp>
      <p:sp>
        <p:nvSpPr>
          <p:cNvPr id="25" name="TextBox 25">
            <a:extLst>
              <a:ext uri="{FF2B5EF4-FFF2-40B4-BE49-F238E27FC236}">
                <a16:creationId xmlns:a16="http://schemas.microsoft.com/office/drawing/2014/main" id="{7ABD06A7-48C3-473E-9D69-D5596E0E99D5}"/>
              </a:ext>
            </a:extLst>
          </p:cNvPr>
          <p:cNvSpPr txBox="1"/>
          <p:nvPr/>
        </p:nvSpPr>
        <p:spPr>
          <a:xfrm>
            <a:off x="10858500" y="6515100"/>
            <a:ext cx="571500" cy="190500"/>
          </a:xfrm>
        </p:spPr>
        <p:txBody>
          <a:bodyPr wrap="square" rtlCol="0" lIns="0" tIns="0" rIns="0" bIns="0" anchor="t"/>
          <a:lstStyle/>
          <a:p>
            <a:pPr algn="r"/>
            <a:r>
              <a:rPr sz="1050">
                <a:solidFill>
                  <a:srgbClr val="9AA9BC"/>
                </a:solidFill>
                <a:latin typeface="Arial"/>
                <a:ea typeface="Arial"/>
              </a:rPr>
              <a:t>6 / 19</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id="{D162FE1D-39E6-41B0-8434-0AE128AC052A}"/>
              </a:ext>
            </a:extLst>
          </p:cNvPr>
          <p:cNvSpPr txBox="1"/>
          <p:nvPr/>
        </p:nvSpPr>
        <p:spPr>
          <a:xfrm>
            <a:off x="762000" y="400050"/>
            <a:ext cx="7620000" cy="209550"/>
          </a:xfrm>
        </p:spPr>
        <p:txBody>
          <a:bodyPr wrap="square" rtlCol="0" lIns="0" tIns="0" rIns="0" bIns="0" anchor="t"/>
          <a:lstStyle/>
          <a:p>
            <a:pPr algn="l"/>
            <a:r>
              <a:rPr sz="1200" b="1">
                <a:solidFill>
                  <a:srgbClr val="00A8B5"/>
                </a:solidFill>
                <a:latin typeface="Arial"/>
                <a:ea typeface="Arial"/>
              </a:rPr>
              <a:t>03 · CONDUITE DU PROJET</a:t>
            </a:r>
          </a:p>
        </p:txBody>
      </p:sp>
      <p:sp>
        <p:nvSpPr>
          <p:cNvPr id="4" name="TextBox 4">
            <a:extLst>
              <a:ext uri="{FF2B5EF4-FFF2-40B4-BE49-F238E27FC236}">
                <a16:creationId xmlns:a16="http://schemas.microsoft.com/office/drawing/2014/main" id="{B2456008-53DC-4102-A422-A4685211C29C}"/>
              </a:ext>
            </a:extLst>
          </p:cNvPr>
          <p:cNvSpPr txBox="1"/>
          <p:nvPr/>
        </p:nvSpPr>
        <p:spPr>
          <a:xfrm>
            <a:off x="762000" y="609600"/>
            <a:ext cx="9525000" cy="476250"/>
          </a:xfrm>
        </p:spPr>
        <p:txBody>
          <a:bodyPr wrap="square" rtlCol="0" lIns="0" tIns="0" rIns="0" bIns="0" anchor="t"/>
          <a:lstStyle/>
          <a:p>
            <a:pPr algn="l"/>
            <a:r>
              <a:rPr sz="3000" b="1">
                <a:solidFill>
                  <a:srgbClr val="12233A"/>
                </a:solidFill>
                <a:latin typeface="Arial"/>
                <a:ea typeface="Arial"/>
              </a:rPr>
              <a:t>Démarche itérative, cinq phases</a:t>
            </a:r>
          </a:p>
        </p:txBody>
      </p:sp>
      <p:sp>
        <p:nvSpPr>
          <p:cNvPr id="5" name="TextBox 5">
            <a:extLst>
              <a:ext uri="{FF2B5EF4-FFF2-40B4-BE49-F238E27FC236}">
                <a16:creationId xmlns:a16="http://schemas.microsoft.com/office/drawing/2014/main" id="{01F537A9-F726-46CB-AF92-D241E15DDC2D}"/>
              </a:ext>
            </a:extLst>
          </p:cNvPr>
          <p:cNvSpPr txBox="1"/>
          <p:nvPr/>
        </p:nvSpPr>
        <p:spPr>
          <a:xfrm>
            <a:off x="762000" y="1066800"/>
            <a:ext cx="10668000" cy="495300"/>
          </a:xfrm>
        </p:spPr>
        <p:txBody>
          <a:bodyPr wrap="square" rtlCol="0" lIns="0" tIns="0" rIns="0" bIns="0" anchor="t"/>
          <a:lstStyle/>
          <a:p>
            <a:pPr algn="l">
              <a:lnSpc>
                <a:spcPct val="115000"/>
              </a:lnSpc>
            </a:pPr>
            <a:r>
              <a:rPr sz="1400">
                <a:solidFill>
                  <a:srgbClr val="5A6B80"/>
                </a:solidFill>
                <a:latin typeface="Arial"/>
                <a:ea typeface="Arial"/>
              </a:rPr>
              <a:t>Sprints de deux à trois semaines inspirés d'Agile/Scrum : sélection des user stories prioritaires, analyse, conception, implémentation, tests, puis démonstration à l'encadrant. Projet mené seul, les trois rôles Scrum réunis.</a:t>
            </a:r>
          </a:p>
        </p:txBody>
      </p:sp>
      <p:sp>
        <p:nvSpPr>
          <p:cNvPr id="6" name="Shape 6">
            <a:extLst>
              <a:ext uri="{FF2B5EF4-FFF2-40B4-BE49-F238E27FC236}">
                <a16:creationId xmlns:a16="http://schemas.microsoft.com/office/drawing/2014/main" id="{3F9C2858-2D69-433D-9949-A5B0E7B42A52}"/>
              </a:ext>
            </a:extLst>
          </p:cNvPr>
          <p:cNvSpPr/>
          <p:nvPr/>
        </p:nvSpPr>
        <p:spPr>
          <a:xfrm>
            <a:off x="952500" y="2724150"/>
            <a:ext cx="10287000" cy="19050"/>
          </a:xfrm>
          <a:prstGeom prst="rect">
            <a:avLst/>
          </a:prstGeom>
          <a:solidFill>
            <a:srgbClr val="C9D6E4"/>
          </a:solidFill>
        </p:spPr>
        <p:txBody>
          <a:bodyPr wrap="square" rtlCol="0"/>
          <a:lstStyle/>
          <a:p>
            <a:r>
              <a:rPr/>
              <a:t/>
            </a:r>
          </a:p>
        </p:txBody>
      </p:sp>
      <p:sp>
        <p:nvSpPr>
          <p:cNvPr id="7" name="Shape 7">
            <a:extLst>
              <a:ext uri="{FF2B5EF4-FFF2-40B4-BE49-F238E27FC236}">
                <a16:creationId xmlns:a16="http://schemas.microsoft.com/office/drawing/2014/main" id="{612889E0-6308-440B-B436-E17CD461FA94}"/>
              </a:ext>
            </a:extLst>
          </p:cNvPr>
          <p:cNvSpPr/>
          <p:nvPr/>
        </p:nvSpPr>
        <p:spPr>
          <a:xfrm>
            <a:off x="1743075" y="2647950"/>
            <a:ext cx="171450" cy="171450"/>
          </a:xfrm>
          <a:prstGeom prst="ellipse">
            <a:avLst/>
          </a:prstGeom>
          <a:solidFill>
            <a:srgbClr val="1B4F9C"/>
          </a:solidFill>
        </p:spPr>
        <p:txBody>
          <a:bodyPr wrap="square" rtlCol="0"/>
          <a:lstStyle/>
          <a:p>
            <a:r>
              <a:rPr/>
              <a:t/>
            </a:r>
          </a:p>
        </p:txBody>
      </p:sp>
      <p:sp>
        <p:nvSpPr>
          <p:cNvPr id="8" name="TextBox 8">
            <a:extLst>
              <a:ext uri="{FF2B5EF4-FFF2-40B4-BE49-F238E27FC236}">
                <a16:creationId xmlns:a16="http://schemas.microsoft.com/office/drawing/2014/main" id="{6297C985-CC65-4C16-ACA2-DA549109AA09}"/>
              </a:ext>
            </a:extLst>
          </p:cNvPr>
          <p:cNvSpPr txBox="1"/>
          <p:nvPr/>
        </p:nvSpPr>
        <p:spPr>
          <a:xfrm>
            <a:off x="876300" y="2343150"/>
            <a:ext cx="1905000" cy="228600"/>
          </a:xfrm>
        </p:spPr>
        <p:txBody>
          <a:bodyPr wrap="square" rtlCol="0" lIns="0" tIns="0" rIns="0" bIns="0" anchor="t"/>
          <a:lstStyle/>
          <a:p>
            <a:pPr algn="ctr"/>
            <a:r>
              <a:rPr sz="1300" b="1">
                <a:solidFill>
                  <a:srgbClr val="00A8B5"/>
                </a:solidFill>
                <a:latin typeface="Arial"/>
                <a:ea typeface="Arial"/>
              </a:rPr>
              <a:t>Février 2026</a:t>
            </a:r>
          </a:p>
        </p:txBody>
      </p:sp>
      <p:sp>
        <p:nvSpPr>
          <p:cNvPr id="9" name="TextBox 9">
            <a:extLst>
              <a:ext uri="{FF2B5EF4-FFF2-40B4-BE49-F238E27FC236}">
                <a16:creationId xmlns:a16="http://schemas.microsoft.com/office/drawing/2014/main" id="{B213C686-CF91-41F0-BB73-298557B407E8}"/>
              </a:ext>
            </a:extLst>
          </p:cNvPr>
          <p:cNvSpPr txBox="1"/>
          <p:nvPr/>
        </p:nvSpPr>
        <p:spPr>
          <a:xfrm>
            <a:off x="876300" y="2990850"/>
            <a:ext cx="1905000" cy="533400"/>
          </a:xfrm>
        </p:spPr>
        <p:txBody>
          <a:bodyPr wrap="square" rtlCol="0" lIns="0" tIns="0" rIns="0" bIns="0" anchor="t"/>
          <a:lstStyle/>
          <a:p>
            <a:pPr algn="ctr">
              <a:lnSpc>
                <a:spcPct val="110000"/>
              </a:lnSpc>
            </a:pPr>
            <a:r>
              <a:rPr sz="1500" b="1">
                <a:solidFill>
                  <a:srgbClr val="12233A"/>
                </a:solidFill>
                <a:latin typeface="Arial"/>
                <a:ea typeface="Arial"/>
              </a:rPr>
              <a:t>Prise en main et cadrage</a:t>
            </a:r>
          </a:p>
        </p:txBody>
      </p:sp>
      <p:sp>
        <p:nvSpPr>
          <p:cNvPr id="10" name="TextBox 10">
            <a:extLst>
              <a:ext uri="{FF2B5EF4-FFF2-40B4-BE49-F238E27FC236}">
                <a16:creationId xmlns:a16="http://schemas.microsoft.com/office/drawing/2014/main" id="{4A376EDB-3851-4C37-AE45-576BAD01294A}"/>
              </a:ext>
            </a:extLst>
          </p:cNvPr>
          <p:cNvSpPr txBox="1"/>
          <p:nvPr/>
        </p:nvSpPr>
        <p:spPr>
          <a:xfrm>
            <a:off x="800100" y="3600450"/>
            <a:ext cx="2057400" cy="1333500"/>
          </a:xfrm>
        </p:spPr>
        <p:txBody>
          <a:bodyPr wrap="square" rtlCol="0" lIns="0" tIns="0" rIns="0" bIns="0" anchor="t"/>
          <a:lstStyle/>
          <a:p>
            <a:pPr algn="ctr">
              <a:lnSpc>
                <a:spcPct val="118000"/>
              </a:lnSpc>
            </a:pPr>
            <a:r>
              <a:rPr sz="1150">
                <a:solidFill>
                  <a:srgbClr val="5A6B80"/>
                </a:solidFill>
                <a:latin typeface="Arial"/>
                <a:ea typeface="Arial"/>
              </a:rPr>
              <a:t>Intégration dans l'équipe, étude de l'existant, analyse du besoin, cahier des charges.</a:t>
            </a:r>
          </a:p>
        </p:txBody>
      </p:sp>
      <p:sp>
        <p:nvSpPr>
          <p:cNvPr id="11" name="Shape 11">
            <a:extLst>
              <a:ext uri="{FF2B5EF4-FFF2-40B4-BE49-F238E27FC236}">
                <a16:creationId xmlns:a16="http://schemas.microsoft.com/office/drawing/2014/main" id="{385BE156-8653-4722-80BB-97F6CA60CC7F}"/>
              </a:ext>
            </a:extLst>
          </p:cNvPr>
          <p:cNvSpPr/>
          <p:nvPr/>
        </p:nvSpPr>
        <p:spPr>
          <a:xfrm>
            <a:off x="3876675" y="2647950"/>
            <a:ext cx="171450" cy="171450"/>
          </a:xfrm>
          <a:prstGeom prst="ellipse">
            <a:avLst/>
          </a:prstGeom>
          <a:solidFill>
            <a:srgbClr val="1B4F9C"/>
          </a:solidFill>
        </p:spPr>
        <p:txBody>
          <a:bodyPr wrap="square" rtlCol="0"/>
          <a:lstStyle/>
          <a:p>
            <a:r>
              <a:rPr/>
              <a:t/>
            </a:r>
          </a:p>
        </p:txBody>
      </p:sp>
      <p:sp>
        <p:nvSpPr>
          <p:cNvPr id="12" name="TextBox 12">
            <a:extLst>
              <a:ext uri="{FF2B5EF4-FFF2-40B4-BE49-F238E27FC236}">
                <a16:creationId xmlns:a16="http://schemas.microsoft.com/office/drawing/2014/main" id="{9B62549B-2AEA-4091-8770-762B0E2AE8E2}"/>
              </a:ext>
            </a:extLst>
          </p:cNvPr>
          <p:cNvSpPr txBox="1"/>
          <p:nvPr/>
        </p:nvSpPr>
        <p:spPr>
          <a:xfrm>
            <a:off x="3009900" y="2343150"/>
            <a:ext cx="1905000" cy="228600"/>
          </a:xfrm>
        </p:spPr>
        <p:txBody>
          <a:bodyPr wrap="square" rtlCol="0" lIns="0" tIns="0" rIns="0" bIns="0" anchor="t"/>
          <a:lstStyle/>
          <a:p>
            <a:pPr algn="ctr"/>
            <a:r>
              <a:rPr sz="1300" b="1">
                <a:solidFill>
                  <a:srgbClr val="00A8B5"/>
                </a:solidFill>
                <a:latin typeface="Arial"/>
                <a:ea typeface="Arial"/>
              </a:rPr>
              <a:t>Mars 2026</a:t>
            </a:r>
          </a:p>
        </p:txBody>
      </p:sp>
      <p:sp>
        <p:nvSpPr>
          <p:cNvPr id="13" name="TextBox 13">
            <a:extLst>
              <a:ext uri="{FF2B5EF4-FFF2-40B4-BE49-F238E27FC236}">
                <a16:creationId xmlns:a16="http://schemas.microsoft.com/office/drawing/2014/main" id="{79C49FA3-FE9B-40E3-92B4-D419447E5AAE}"/>
              </a:ext>
            </a:extLst>
          </p:cNvPr>
          <p:cNvSpPr txBox="1"/>
          <p:nvPr/>
        </p:nvSpPr>
        <p:spPr>
          <a:xfrm>
            <a:off x="3009900" y="2990850"/>
            <a:ext cx="1905000" cy="533400"/>
          </a:xfrm>
        </p:spPr>
        <p:txBody>
          <a:bodyPr wrap="square" rtlCol="0" lIns="0" tIns="0" rIns="0" bIns="0" anchor="t"/>
          <a:lstStyle/>
          <a:p>
            <a:pPr algn="ctr">
              <a:lnSpc>
                <a:spcPct val="110000"/>
              </a:lnSpc>
            </a:pPr>
            <a:r>
              <a:rPr sz="1500" b="1">
                <a:solidFill>
                  <a:srgbClr val="12233A"/>
                </a:solidFill>
                <a:latin typeface="Arial"/>
                <a:ea typeface="Arial"/>
              </a:rPr>
              <a:t>Analyse et conception</a:t>
            </a:r>
          </a:p>
        </p:txBody>
      </p:sp>
      <p:sp>
        <p:nvSpPr>
          <p:cNvPr id="14" name="TextBox 14">
            <a:extLst>
              <a:ext uri="{FF2B5EF4-FFF2-40B4-BE49-F238E27FC236}">
                <a16:creationId xmlns:a16="http://schemas.microsoft.com/office/drawing/2014/main" id="{D2EA117C-CC7B-4A3B-BF02-BC59B326E6DA}"/>
              </a:ext>
            </a:extLst>
          </p:cNvPr>
          <p:cNvSpPr txBox="1"/>
          <p:nvPr/>
        </p:nvSpPr>
        <p:spPr>
          <a:xfrm>
            <a:off x="2933700" y="3600450"/>
            <a:ext cx="2057400" cy="1333500"/>
          </a:xfrm>
        </p:spPr>
        <p:txBody>
          <a:bodyPr wrap="square" rtlCol="0" lIns="0" tIns="0" rIns="0" bIns="0" anchor="t"/>
          <a:lstStyle/>
          <a:p>
            <a:pPr algn="ctr">
              <a:lnSpc>
                <a:spcPct val="118000"/>
              </a:lnSpc>
            </a:pPr>
            <a:r>
              <a:rPr sz="1150">
                <a:solidFill>
                  <a:srgbClr val="5A6B80"/>
                </a:solidFill>
                <a:latin typeface="Arial"/>
                <a:ea typeface="Arial"/>
              </a:rPr>
              <a:t>Spécification des besoins, modélisation UML, conception de la base de données.</a:t>
            </a:r>
          </a:p>
        </p:txBody>
      </p:sp>
      <p:sp>
        <p:nvSpPr>
          <p:cNvPr id="15" name="Shape 15">
            <a:extLst>
              <a:ext uri="{FF2B5EF4-FFF2-40B4-BE49-F238E27FC236}">
                <a16:creationId xmlns:a16="http://schemas.microsoft.com/office/drawing/2014/main" id="{1D30BE8E-5003-42D3-97F5-58358DE18876}"/>
              </a:ext>
            </a:extLst>
          </p:cNvPr>
          <p:cNvSpPr/>
          <p:nvPr/>
        </p:nvSpPr>
        <p:spPr>
          <a:xfrm>
            <a:off x="6010275" y="2647950"/>
            <a:ext cx="171450" cy="171450"/>
          </a:xfrm>
          <a:prstGeom prst="ellipse">
            <a:avLst/>
          </a:prstGeom>
          <a:solidFill>
            <a:srgbClr val="1B4F9C"/>
          </a:solidFill>
        </p:spPr>
        <p:txBody>
          <a:bodyPr wrap="square" rtlCol="0"/>
          <a:lstStyle/>
          <a:p>
            <a:r>
              <a:rPr/>
              <a:t/>
            </a:r>
          </a:p>
        </p:txBody>
      </p:sp>
      <p:sp>
        <p:nvSpPr>
          <p:cNvPr id="16" name="TextBox 16">
            <a:extLst>
              <a:ext uri="{FF2B5EF4-FFF2-40B4-BE49-F238E27FC236}">
                <a16:creationId xmlns:a16="http://schemas.microsoft.com/office/drawing/2014/main" id="{EAEF0B52-E5B6-4748-9BB1-DCBAF5F1E53A}"/>
              </a:ext>
            </a:extLst>
          </p:cNvPr>
          <p:cNvSpPr txBox="1"/>
          <p:nvPr/>
        </p:nvSpPr>
        <p:spPr>
          <a:xfrm>
            <a:off x="5143500" y="2343150"/>
            <a:ext cx="1905000" cy="228600"/>
          </a:xfrm>
        </p:spPr>
        <p:txBody>
          <a:bodyPr wrap="square" rtlCol="0" lIns="0" tIns="0" rIns="0" bIns="0" anchor="t"/>
          <a:lstStyle/>
          <a:p>
            <a:pPr algn="ctr"/>
            <a:r>
              <a:rPr sz="1300" b="1">
                <a:solidFill>
                  <a:srgbClr val="00A8B5"/>
                </a:solidFill>
                <a:latin typeface="Arial"/>
                <a:ea typeface="Arial"/>
              </a:rPr>
              <a:t>Avril - Mai 2026</a:t>
            </a:r>
          </a:p>
        </p:txBody>
      </p:sp>
      <p:sp>
        <p:nvSpPr>
          <p:cNvPr id="17" name="TextBox 17">
            <a:extLst>
              <a:ext uri="{FF2B5EF4-FFF2-40B4-BE49-F238E27FC236}">
                <a16:creationId xmlns:a16="http://schemas.microsoft.com/office/drawing/2014/main" id="{7397D35E-D9DF-4428-A5FC-1FAB4BD7F3C1}"/>
              </a:ext>
            </a:extLst>
          </p:cNvPr>
          <p:cNvSpPr txBox="1"/>
          <p:nvPr/>
        </p:nvSpPr>
        <p:spPr>
          <a:xfrm>
            <a:off x="5143500" y="2990850"/>
            <a:ext cx="1905000" cy="533400"/>
          </a:xfrm>
        </p:spPr>
        <p:txBody>
          <a:bodyPr wrap="square" rtlCol="0" lIns="0" tIns="0" rIns="0" bIns="0" anchor="t"/>
          <a:lstStyle/>
          <a:p>
            <a:pPr algn="ctr">
              <a:lnSpc>
                <a:spcPct val="110000"/>
              </a:lnSpc>
            </a:pPr>
            <a:r>
              <a:rPr sz="1500" b="1">
                <a:solidFill>
                  <a:srgbClr val="12233A"/>
                </a:solidFill>
                <a:latin typeface="Arial"/>
                <a:ea typeface="Arial"/>
              </a:rPr>
              <a:t>Socle applicatif</a:t>
            </a:r>
          </a:p>
        </p:txBody>
      </p:sp>
      <p:sp>
        <p:nvSpPr>
          <p:cNvPr id="18" name="TextBox 18">
            <a:extLst>
              <a:ext uri="{FF2B5EF4-FFF2-40B4-BE49-F238E27FC236}">
                <a16:creationId xmlns:a16="http://schemas.microsoft.com/office/drawing/2014/main" id="{224CF2A6-2071-4279-A8EB-714A3152E1B4}"/>
              </a:ext>
            </a:extLst>
          </p:cNvPr>
          <p:cNvSpPr txBox="1"/>
          <p:nvPr/>
        </p:nvSpPr>
        <p:spPr>
          <a:xfrm>
            <a:off x="5067300" y="3600450"/>
            <a:ext cx="2057400" cy="1333500"/>
          </a:xfrm>
        </p:spPr>
        <p:txBody>
          <a:bodyPr wrap="square" rtlCol="0" lIns="0" tIns="0" rIns="0" bIns="0" anchor="t"/>
          <a:lstStyle/>
          <a:p>
            <a:pPr algn="ctr">
              <a:lnSpc>
                <a:spcPct val="118000"/>
              </a:lnSpc>
            </a:pPr>
            <a:r>
              <a:rPr sz="1150">
                <a:solidFill>
                  <a:srgbClr val="5A6B80"/>
                </a:solidFill>
                <a:latin typeface="Arial"/>
                <a:ea typeface="Arial"/>
              </a:rPr>
              <a:t>Architecture back-end et front-end, authentification JWT, rôles, offres et candidatures.</a:t>
            </a:r>
          </a:p>
        </p:txBody>
      </p:sp>
      <p:sp>
        <p:nvSpPr>
          <p:cNvPr id="19" name="Shape 19">
            <a:extLst>
              <a:ext uri="{FF2B5EF4-FFF2-40B4-BE49-F238E27FC236}">
                <a16:creationId xmlns:a16="http://schemas.microsoft.com/office/drawing/2014/main" id="{B720260A-D759-4F76-A6FA-70805CDA22A4}"/>
              </a:ext>
            </a:extLst>
          </p:cNvPr>
          <p:cNvSpPr/>
          <p:nvPr/>
        </p:nvSpPr>
        <p:spPr>
          <a:xfrm>
            <a:off x="8143875" y="2647950"/>
            <a:ext cx="171450" cy="171450"/>
          </a:xfrm>
          <a:prstGeom prst="ellipse">
            <a:avLst/>
          </a:prstGeom>
          <a:solidFill>
            <a:srgbClr val="1B4F9C"/>
          </a:solidFill>
        </p:spPr>
        <p:txBody>
          <a:bodyPr wrap="square" rtlCol="0"/>
          <a:lstStyle/>
          <a:p>
            <a:r>
              <a:rPr/>
              <a:t/>
            </a:r>
          </a:p>
        </p:txBody>
      </p:sp>
      <p:sp>
        <p:nvSpPr>
          <p:cNvPr id="20" name="TextBox 20">
            <a:extLst>
              <a:ext uri="{FF2B5EF4-FFF2-40B4-BE49-F238E27FC236}">
                <a16:creationId xmlns:a16="http://schemas.microsoft.com/office/drawing/2014/main" id="{7D8EFE94-4D88-402C-9BD8-6451B67250EC}"/>
              </a:ext>
            </a:extLst>
          </p:cNvPr>
          <p:cNvSpPr txBox="1"/>
          <p:nvPr/>
        </p:nvSpPr>
        <p:spPr>
          <a:xfrm>
            <a:off x="7277100" y="2343150"/>
            <a:ext cx="1905000" cy="228600"/>
          </a:xfrm>
        </p:spPr>
        <p:txBody>
          <a:bodyPr wrap="square" rtlCol="0" lIns="0" tIns="0" rIns="0" bIns="0" anchor="t"/>
          <a:lstStyle/>
          <a:p>
            <a:pPr algn="ctr"/>
            <a:r>
              <a:rPr sz="1300" b="1">
                <a:solidFill>
                  <a:srgbClr val="00A8B5"/>
                </a:solidFill>
                <a:latin typeface="Arial"/>
                <a:ea typeface="Arial"/>
              </a:rPr>
              <a:t>Juin - Juillet 2026</a:t>
            </a:r>
          </a:p>
        </p:txBody>
      </p:sp>
      <p:sp>
        <p:nvSpPr>
          <p:cNvPr id="21" name="TextBox 21">
            <a:extLst>
              <a:ext uri="{FF2B5EF4-FFF2-40B4-BE49-F238E27FC236}">
                <a16:creationId xmlns:a16="http://schemas.microsoft.com/office/drawing/2014/main" id="{E37A9D57-4269-4616-9383-35E9CD773512}"/>
              </a:ext>
            </a:extLst>
          </p:cNvPr>
          <p:cNvSpPr txBox="1"/>
          <p:nvPr/>
        </p:nvSpPr>
        <p:spPr>
          <a:xfrm>
            <a:off x="7277100" y="2990850"/>
            <a:ext cx="1905000" cy="533400"/>
          </a:xfrm>
        </p:spPr>
        <p:txBody>
          <a:bodyPr wrap="square" rtlCol="0" lIns="0" tIns="0" rIns="0" bIns="0" anchor="t"/>
          <a:lstStyle/>
          <a:p>
            <a:pPr algn="ctr">
              <a:lnSpc>
                <a:spcPct val="110000"/>
              </a:lnSpc>
            </a:pPr>
            <a:r>
              <a:rPr sz="1500" b="1">
                <a:solidFill>
                  <a:srgbClr val="12233A"/>
                </a:solidFill>
                <a:latin typeface="Arial"/>
                <a:ea typeface="Arial"/>
              </a:rPr>
              <a:t>Fonctionnalités avancées</a:t>
            </a:r>
          </a:p>
        </p:txBody>
      </p:sp>
      <p:sp>
        <p:nvSpPr>
          <p:cNvPr id="22" name="TextBox 22">
            <a:extLst>
              <a:ext uri="{FF2B5EF4-FFF2-40B4-BE49-F238E27FC236}">
                <a16:creationId xmlns:a16="http://schemas.microsoft.com/office/drawing/2014/main" id="{11681E7F-332D-4853-A975-3E630F2F54F0}"/>
              </a:ext>
            </a:extLst>
          </p:cNvPr>
          <p:cNvSpPr txBox="1"/>
          <p:nvPr/>
        </p:nvSpPr>
        <p:spPr>
          <a:xfrm>
            <a:off x="7200900" y="3600450"/>
            <a:ext cx="2057400" cy="1333500"/>
          </a:xfrm>
        </p:spPr>
        <p:txBody>
          <a:bodyPr wrap="square" rtlCol="0" lIns="0" tIns="0" rIns="0" bIns="0" anchor="t"/>
          <a:lstStyle/>
          <a:p>
            <a:pPr algn="ctr">
              <a:lnSpc>
                <a:spcPct val="118000"/>
              </a:lnSpc>
            </a:pPr>
            <a:r>
              <a:rPr sz="1150">
                <a:solidFill>
                  <a:srgbClr val="5A6B80"/>
                </a:solidFill>
                <a:latin typeface="Arial"/>
                <a:ea typeface="Arial"/>
              </a:rPr>
              <a:t>Entretiens, feedbacks, scoring IA, agents n8n, notifications e-mail, tableau Kanban.</a:t>
            </a:r>
          </a:p>
        </p:txBody>
      </p:sp>
      <p:sp>
        <p:nvSpPr>
          <p:cNvPr id="23" name="Shape 23">
            <a:extLst>
              <a:ext uri="{FF2B5EF4-FFF2-40B4-BE49-F238E27FC236}">
                <a16:creationId xmlns:a16="http://schemas.microsoft.com/office/drawing/2014/main" id="{5D391B8F-F558-48B6-AA02-AC2982A36777}"/>
              </a:ext>
            </a:extLst>
          </p:cNvPr>
          <p:cNvSpPr/>
          <p:nvPr/>
        </p:nvSpPr>
        <p:spPr>
          <a:xfrm>
            <a:off x="10277475" y="2647950"/>
            <a:ext cx="171450" cy="171450"/>
          </a:xfrm>
          <a:prstGeom prst="ellipse">
            <a:avLst/>
          </a:prstGeom>
          <a:solidFill>
            <a:srgbClr val="00A8B5"/>
          </a:solidFill>
        </p:spPr>
        <p:txBody>
          <a:bodyPr wrap="square" rtlCol="0"/>
          <a:lstStyle/>
          <a:p>
            <a:r>
              <a:rPr/>
              <a:t/>
            </a:r>
          </a:p>
        </p:txBody>
      </p:sp>
      <p:sp>
        <p:nvSpPr>
          <p:cNvPr id="24" name="TextBox 24">
            <a:extLst>
              <a:ext uri="{FF2B5EF4-FFF2-40B4-BE49-F238E27FC236}">
                <a16:creationId xmlns:a16="http://schemas.microsoft.com/office/drawing/2014/main" id="{26BDFA9C-65AC-4EF6-8F15-18277E1F0AB0}"/>
              </a:ext>
            </a:extLst>
          </p:cNvPr>
          <p:cNvSpPr txBox="1"/>
          <p:nvPr/>
        </p:nvSpPr>
        <p:spPr>
          <a:xfrm>
            <a:off x="9410700" y="2343150"/>
            <a:ext cx="1905000" cy="228600"/>
          </a:xfrm>
        </p:spPr>
        <p:txBody>
          <a:bodyPr wrap="square" rtlCol="0" lIns="0" tIns="0" rIns="0" bIns="0" anchor="t"/>
          <a:lstStyle/>
          <a:p>
            <a:pPr algn="ctr"/>
            <a:r>
              <a:rPr sz="1300" b="1">
                <a:solidFill>
                  <a:srgbClr val="00A8B5"/>
                </a:solidFill>
                <a:latin typeface="Arial"/>
                <a:ea typeface="Arial"/>
              </a:rPr>
              <a:t>Août 2026</a:t>
            </a:r>
          </a:p>
        </p:txBody>
      </p:sp>
      <p:sp>
        <p:nvSpPr>
          <p:cNvPr id="25" name="TextBox 25">
            <a:extLst>
              <a:ext uri="{FF2B5EF4-FFF2-40B4-BE49-F238E27FC236}">
                <a16:creationId xmlns:a16="http://schemas.microsoft.com/office/drawing/2014/main" id="{B8C3A2F0-7272-4DFD-8062-9A23C1DE2275}"/>
              </a:ext>
            </a:extLst>
          </p:cNvPr>
          <p:cNvSpPr txBox="1"/>
          <p:nvPr/>
        </p:nvSpPr>
        <p:spPr>
          <a:xfrm>
            <a:off x="9410700" y="2990850"/>
            <a:ext cx="1905000" cy="533400"/>
          </a:xfrm>
        </p:spPr>
        <p:txBody>
          <a:bodyPr wrap="square" rtlCol="0" lIns="0" tIns="0" rIns="0" bIns="0" anchor="t"/>
          <a:lstStyle/>
          <a:p>
            <a:pPr algn="ctr">
              <a:lnSpc>
                <a:spcPct val="110000"/>
              </a:lnSpc>
            </a:pPr>
            <a:r>
              <a:rPr sz="1500" b="1">
                <a:solidFill>
                  <a:srgbClr val="12233A"/>
                </a:solidFill>
                <a:latin typeface="Arial"/>
                <a:ea typeface="Arial"/>
              </a:rPr>
              <a:t>Tests et finalisation</a:t>
            </a:r>
          </a:p>
        </p:txBody>
      </p:sp>
      <p:sp>
        <p:nvSpPr>
          <p:cNvPr id="26" name="TextBox 26">
            <a:extLst>
              <a:ext uri="{FF2B5EF4-FFF2-40B4-BE49-F238E27FC236}">
                <a16:creationId xmlns:a16="http://schemas.microsoft.com/office/drawing/2014/main" id="{47499E6F-0EB0-47E1-81B2-0DF655069020}"/>
              </a:ext>
            </a:extLst>
          </p:cNvPr>
          <p:cNvSpPr txBox="1"/>
          <p:nvPr/>
        </p:nvSpPr>
        <p:spPr>
          <a:xfrm>
            <a:off x="9334500" y="3600450"/>
            <a:ext cx="2057400" cy="1333500"/>
          </a:xfrm>
        </p:spPr>
        <p:txBody>
          <a:bodyPr wrap="square" rtlCol="0" lIns="0" tIns="0" rIns="0" bIns="0" anchor="t"/>
          <a:lstStyle/>
          <a:p>
            <a:pPr algn="ctr">
              <a:lnSpc>
                <a:spcPct val="118000"/>
              </a:lnSpc>
            </a:pPr>
            <a:r>
              <a:rPr sz="1150">
                <a:solidFill>
                  <a:srgbClr val="5A6B80"/>
                </a:solidFill>
                <a:latin typeface="Arial"/>
                <a:ea typeface="Arial"/>
              </a:rPr>
              <a:t>Tests fonctionnels, corrections, améliorations UX et sécurité, rédaction du rapport.</a:t>
            </a:r>
          </a:p>
        </p:txBody>
      </p:sp>
      <p:sp>
        <p:nvSpPr>
          <p:cNvPr id="27" name="Shape 27">
            <a:extLst>
              <a:ext uri="{FF2B5EF4-FFF2-40B4-BE49-F238E27FC236}">
                <a16:creationId xmlns:a16="http://schemas.microsoft.com/office/drawing/2014/main" id="{DC62EF03-27F1-4CB1-899F-2FEC76D46370}"/>
              </a:ext>
            </a:extLst>
          </p:cNvPr>
          <p:cNvSpPr/>
          <p:nvPr/>
        </p:nvSpPr>
        <p:spPr>
          <a:xfrm>
            <a:off x="762000" y="5219700"/>
            <a:ext cx="10668000" cy="952500"/>
          </a:xfrm>
          <a:prstGeom prst="roundRect">
            <a:avLst/>
          </a:prstGeom>
          <a:solidFill>
            <a:srgbClr val="E8F0F9"/>
          </a:solidFill>
        </p:spPr>
        <p:txBody>
          <a:bodyPr wrap="square" rtlCol="0"/>
          <a:lstStyle/>
          <a:p>
            <a:r>
              <a:rPr/>
              <a:t/>
            </a:r>
          </a:p>
        </p:txBody>
      </p:sp>
      <p:sp>
        <p:nvSpPr>
          <p:cNvPr id="28" name="TextBox 28">
            <a:extLst>
              <a:ext uri="{FF2B5EF4-FFF2-40B4-BE49-F238E27FC236}">
                <a16:creationId xmlns:a16="http://schemas.microsoft.com/office/drawing/2014/main" id="{948B38F3-8ECE-4770-9FED-AA10E90B68C5}"/>
              </a:ext>
            </a:extLst>
          </p:cNvPr>
          <p:cNvSpPr txBox="1"/>
          <p:nvPr/>
        </p:nvSpPr>
        <p:spPr>
          <a:xfrm>
            <a:off x="1066800" y="5353050"/>
            <a:ext cx="10058400" cy="723900"/>
          </a:xfrm>
        </p:spPr>
        <p:txBody>
          <a:bodyPr wrap="square" rtlCol="0" lIns="0" tIns="0" rIns="0" bIns="0" anchor="t"/>
          <a:lstStyle/>
          <a:p>
            <a:pPr algn="l">
              <a:lnSpc>
                <a:spcPct val="115000"/>
              </a:lnSpc>
            </a:pPr>
            <a:r>
              <a:rPr sz="1400" b="1">
                <a:solidFill>
                  <a:srgbClr val="1B4F9C"/>
                </a:solidFill>
                <a:latin typeface="Arial"/>
                <a:ea typeface="Arial"/>
              </a:rPr>
              <a:t>Deux corrections notables en fin de développement : </a:t>
            </a:r>
            <a:r>
              <a:rPr sz="1400">
                <a:solidFill>
                  <a:srgbClr val="12233A"/>
                </a:solidFill>
                <a:latin typeface="Arial"/>
                <a:ea typeface="Arial"/>
              </a:rPr>
              <a:t>le routage vers le manager se fait à l'entrée en évaluation technique et non dès la validation du CV, et l'entretien téléphonique RH devient un passage obligé avant toute acceptation.</a:t>
            </a:r>
          </a:p>
        </p:txBody>
      </p:sp>
      <p:sp>
        <p:nvSpPr>
          <p:cNvPr id="29" name="TextBox 29">
            <a:extLst>
              <a:ext uri="{FF2B5EF4-FFF2-40B4-BE49-F238E27FC236}">
                <a16:creationId xmlns:a16="http://schemas.microsoft.com/office/drawing/2014/main" id="{B7C04522-C124-4DC4-9322-1629539349BA}"/>
              </a:ext>
            </a:extLst>
          </p:cNvPr>
          <p:cNvSpPr txBox="1"/>
          <p:nvPr/>
        </p:nvSpPr>
        <p:spPr>
          <a:xfrm>
            <a:off x="762000" y="6515100"/>
            <a:ext cx="3810000" cy="190500"/>
          </a:xfrm>
        </p:spPr>
        <p:txBody>
          <a:bodyPr wrap="square" rtlCol="0" lIns="0" tIns="0" rIns="0" bIns="0" anchor="t"/>
          <a:lstStyle/>
          <a:p>
            <a:pPr algn="l"/>
            <a:r>
              <a:rPr sz="1050">
                <a:solidFill>
                  <a:srgbClr val="9AA9BC"/>
                </a:solidFill>
                <a:latin typeface="Arial"/>
                <a:ea typeface="Arial"/>
              </a:rPr>
              <a:t>JOB4YOU - Soutenance PFE</a:t>
            </a:r>
          </a:p>
        </p:txBody>
      </p:sp>
      <p:sp>
        <p:nvSpPr>
          <p:cNvPr id="30" name="TextBox 30">
            <a:extLst>
              <a:ext uri="{FF2B5EF4-FFF2-40B4-BE49-F238E27FC236}">
                <a16:creationId xmlns:a16="http://schemas.microsoft.com/office/drawing/2014/main" id="{C59EB699-8BFA-4CED-A755-DF3CA70BEB4C}"/>
              </a:ext>
            </a:extLst>
          </p:cNvPr>
          <p:cNvSpPr txBox="1"/>
          <p:nvPr/>
        </p:nvSpPr>
        <p:spPr>
          <a:xfrm>
            <a:off x="10858500" y="6515100"/>
            <a:ext cx="571500" cy="190500"/>
          </a:xfrm>
        </p:spPr>
        <p:txBody>
          <a:bodyPr wrap="square" rtlCol="0" lIns="0" tIns="0" rIns="0" bIns="0" anchor="t"/>
          <a:lstStyle/>
          <a:p>
            <a:pPr algn="r"/>
            <a:r>
              <a:rPr sz="1050">
                <a:solidFill>
                  <a:srgbClr val="9AA9BC"/>
                </a:solidFill>
                <a:latin typeface="Arial"/>
                <a:ea typeface="Arial"/>
              </a:rPr>
              <a:t>7 / 19</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id="{E0853198-FA05-40B7-ACD3-66FD1A830A64}"/>
              </a:ext>
            </a:extLst>
          </p:cNvPr>
          <p:cNvSpPr txBox="1"/>
          <p:nvPr/>
        </p:nvSpPr>
        <p:spPr>
          <a:xfrm>
            <a:off x="762000" y="400050"/>
            <a:ext cx="7620000" cy="209550"/>
          </a:xfrm>
        </p:spPr>
        <p:txBody>
          <a:bodyPr wrap="square" rtlCol="0" lIns="0" tIns="0" rIns="0" bIns="0" anchor="t"/>
          <a:lstStyle/>
          <a:p>
            <a:pPr algn="l"/>
            <a:r>
              <a:rPr sz="1200" b="1">
                <a:solidFill>
                  <a:srgbClr val="00A8B5"/>
                </a:solidFill>
                <a:latin typeface="Arial"/>
                <a:ea typeface="Arial"/>
              </a:rPr>
              <a:t>04 · CONCEPTION</a:t>
            </a:r>
          </a:p>
        </p:txBody>
      </p:sp>
      <p:sp>
        <p:nvSpPr>
          <p:cNvPr id="4" name="TextBox 4">
            <a:extLst>
              <a:ext uri="{FF2B5EF4-FFF2-40B4-BE49-F238E27FC236}">
                <a16:creationId xmlns:a16="http://schemas.microsoft.com/office/drawing/2014/main" id="{01171EB0-1390-4B41-99F9-A2498C57A7B7}"/>
              </a:ext>
            </a:extLst>
          </p:cNvPr>
          <p:cNvSpPr txBox="1"/>
          <p:nvPr/>
        </p:nvSpPr>
        <p:spPr>
          <a:xfrm>
            <a:off x="762000" y="609600"/>
            <a:ext cx="9525000" cy="476250"/>
          </a:xfrm>
        </p:spPr>
        <p:txBody>
          <a:bodyPr wrap="square" rtlCol="0" lIns="0" tIns="0" rIns="0" bIns="0" anchor="t"/>
          <a:lstStyle/>
          <a:p>
            <a:pPr algn="l"/>
            <a:r>
              <a:rPr sz="3000" b="1">
                <a:solidFill>
                  <a:srgbClr val="12233A"/>
                </a:solidFill>
                <a:latin typeface="Arial"/>
                <a:ea typeface="Arial"/>
              </a:rPr>
              <a:t>Architecture technique retenue</a:t>
            </a:r>
          </a:p>
        </p:txBody>
      </p:sp>
      <p:sp>
        <p:nvSpPr>
          <p:cNvPr id="5" name="TextBox 5">
            <a:extLst>
              <a:ext uri="{FF2B5EF4-FFF2-40B4-BE49-F238E27FC236}">
                <a16:creationId xmlns:a16="http://schemas.microsoft.com/office/drawing/2014/main" id="{0277D511-494C-480E-AC87-43130D8C5A8D}"/>
              </a:ext>
            </a:extLst>
          </p:cNvPr>
          <p:cNvSpPr txBox="1"/>
          <p:nvPr/>
        </p:nvSpPr>
        <p:spPr>
          <a:xfrm>
            <a:off x="762000" y="1066800"/>
            <a:ext cx="10668000" cy="495300"/>
          </a:xfrm>
        </p:spPr>
        <p:txBody>
          <a:bodyPr wrap="square" rtlCol="0" lIns="0" tIns="0" rIns="0" bIns="0" anchor="t"/>
          <a:lstStyle/>
          <a:p>
            <a:pPr algn="l">
              <a:lnSpc>
                <a:spcPct val="115000"/>
              </a:lnSpc>
            </a:pPr>
            <a:r>
              <a:rPr sz="1400">
                <a:solidFill>
                  <a:srgbClr val="5A6B80"/>
                </a:solidFill>
                <a:latin typeface="Arial"/>
                <a:ea typeface="Arial"/>
              </a:rPr>
              <a:t>Quatre briques aux responsabilités distinctes : Angular porte l'interface, Spring Boot la logique métier et la sécurité, PostgreSQL la persistance, n8n les automatisations déclenchées par événements.</a:t>
            </a:r>
          </a:p>
        </p:txBody>
      </p:sp>
      <p:pic>
        <p:nvPicPr>
          <p:cNvPr id="6" name="Picture 6">
            <a:extLst>
              <a:ext uri="{FF2B5EF4-FFF2-40B4-BE49-F238E27FC236}">
                <a16:creationId xmlns:a16="http://schemas.microsoft.com/office/drawing/2014/main" id="{050762C2-87F0-4881-9130-F4270EFB4D6D}"/>
              </a:ext>
            </a:extLst>
          </p:cNvPr>
          <p:cNvPicPr/>
          <p:nvPr/>
        </p:nvPicPr>
        <p:blipFill>
          <a:blip r:embed="rId2"/>
          <a:stretch>
            <a:fillRect/>
          </a:stretch>
        </p:blipFill>
        <p:spPr>
          <a:xfrm>
            <a:off x="990600" y="1676400"/>
            <a:ext cx="10210800" cy="3905250"/>
          </a:xfrm>
          <a:prstGeom prst="rect">
            <a:avLst/>
          </a:prstGeom>
        </p:spPr>
      </p:pic>
      <p:sp>
        <p:nvSpPr>
          <p:cNvPr id="7" name="TextBox 7">
            <a:extLst>
              <a:ext uri="{FF2B5EF4-FFF2-40B4-BE49-F238E27FC236}">
                <a16:creationId xmlns:a16="http://schemas.microsoft.com/office/drawing/2014/main" id="{D189F9C6-5DC4-4EAC-B293-452D15F2F88E}"/>
              </a:ext>
            </a:extLst>
          </p:cNvPr>
          <p:cNvSpPr txBox="1"/>
          <p:nvPr/>
        </p:nvSpPr>
        <p:spPr>
          <a:xfrm>
            <a:off x="762000" y="5715000"/>
            <a:ext cx="10668000" cy="457200"/>
          </a:xfrm>
        </p:spPr>
        <p:txBody>
          <a:bodyPr wrap="square" rtlCol="0" lIns="0" tIns="0" rIns="0" bIns="0" anchor="t"/>
          <a:lstStyle/>
          <a:p>
            <a:pPr algn="l">
              <a:lnSpc>
                <a:spcPct val="115000"/>
              </a:lnSpc>
            </a:pPr>
            <a:r>
              <a:rPr sz="1250">
                <a:solidFill>
                  <a:srgbClr val="5A6B80"/>
                </a:solidFill>
                <a:latin typeface="Arial"/>
                <a:ea typeface="Arial"/>
              </a:rPr>
              <a:t>Flux : Angular → Spring Boot → n8n → e-mail et calendrier. Les appels sortants vers n8n transitent par une table outbox, pour ne perdre aucun événement si n8n est indisponible.</a:t>
            </a:r>
          </a:p>
        </p:txBody>
      </p:sp>
      <p:sp>
        <p:nvSpPr>
          <p:cNvPr id="8" name="TextBox 8">
            <a:extLst>
              <a:ext uri="{FF2B5EF4-FFF2-40B4-BE49-F238E27FC236}">
                <a16:creationId xmlns:a16="http://schemas.microsoft.com/office/drawing/2014/main" id="{77463908-DD7A-4685-B355-8EC9CEE8F8D9}"/>
              </a:ext>
            </a:extLst>
          </p:cNvPr>
          <p:cNvSpPr txBox="1"/>
          <p:nvPr/>
        </p:nvSpPr>
        <p:spPr>
          <a:xfrm>
            <a:off x="762000" y="6515100"/>
            <a:ext cx="3810000" cy="190500"/>
          </a:xfrm>
        </p:spPr>
        <p:txBody>
          <a:bodyPr wrap="square" rtlCol="0" lIns="0" tIns="0" rIns="0" bIns="0" anchor="t"/>
          <a:lstStyle/>
          <a:p>
            <a:pPr algn="l"/>
            <a:r>
              <a:rPr sz="1050">
                <a:solidFill>
                  <a:srgbClr val="9AA9BC"/>
                </a:solidFill>
                <a:latin typeface="Arial"/>
                <a:ea typeface="Arial"/>
              </a:rPr>
              <a:t>JOB4YOU - Soutenance PFE</a:t>
            </a:r>
          </a:p>
        </p:txBody>
      </p:sp>
      <p:sp>
        <p:nvSpPr>
          <p:cNvPr id="9" name="TextBox 9">
            <a:extLst>
              <a:ext uri="{FF2B5EF4-FFF2-40B4-BE49-F238E27FC236}">
                <a16:creationId xmlns:a16="http://schemas.microsoft.com/office/drawing/2014/main" id="{B551DE3D-6685-4142-A673-A5E99B23994C}"/>
              </a:ext>
            </a:extLst>
          </p:cNvPr>
          <p:cNvSpPr txBox="1"/>
          <p:nvPr/>
        </p:nvSpPr>
        <p:spPr>
          <a:xfrm>
            <a:off x="10858500" y="6515100"/>
            <a:ext cx="571500" cy="190500"/>
          </a:xfrm>
        </p:spPr>
        <p:txBody>
          <a:bodyPr wrap="square" rtlCol="0" lIns="0" tIns="0" rIns="0" bIns="0" anchor="t"/>
          <a:lstStyle/>
          <a:p>
            <a:pPr algn="r"/>
            <a:r>
              <a:rPr sz="1050">
                <a:solidFill>
                  <a:srgbClr val="9AA9BC"/>
                </a:solidFill>
                <a:latin typeface="Arial"/>
                <a:ea typeface="Arial"/>
              </a:rPr>
              <a:t>8 / 19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id="{C84A72F2-3EEA-4A4D-991B-8A45F51B16BB}"/>
              </a:ext>
            </a:extLst>
          </p:cNvPr>
          <p:cNvSpPr txBox="1"/>
          <p:nvPr/>
        </p:nvSpPr>
        <p:spPr>
          <a:xfrm>
            <a:off x="762000" y="400050"/>
            <a:ext cx="7620000" cy="209550"/>
          </a:xfrm>
        </p:spPr>
        <p:txBody>
          <a:bodyPr wrap="square" rtlCol="0" lIns="0" tIns="0" rIns="0" bIns="0" anchor="t"/>
          <a:lstStyle/>
          <a:p>
            <a:pPr algn="l"/>
            <a:r>
              <a:rPr sz="1200" b="1">
                <a:solidFill>
                  <a:srgbClr val="00A8B5"/>
                </a:solidFill>
                <a:latin typeface="Arial"/>
                <a:ea typeface="Arial"/>
              </a:rPr>
              <a:t>04 · CONCEPTION</a:t>
            </a:r>
          </a:p>
        </p:txBody>
      </p:sp>
      <p:sp>
        <p:nvSpPr>
          <p:cNvPr id="4" name="TextBox 4">
            <a:extLst>
              <a:ext uri="{FF2B5EF4-FFF2-40B4-BE49-F238E27FC236}">
                <a16:creationId xmlns:a16="http://schemas.microsoft.com/office/drawing/2014/main" id="{ADE608AC-7A0F-4994-B9F0-70A8E6658C40}"/>
              </a:ext>
            </a:extLst>
          </p:cNvPr>
          <p:cNvSpPr txBox="1"/>
          <p:nvPr/>
        </p:nvSpPr>
        <p:spPr>
          <a:xfrm>
            <a:off x="762000" y="609600"/>
            <a:ext cx="9525000" cy="476250"/>
          </a:xfrm>
        </p:spPr>
        <p:txBody>
          <a:bodyPr wrap="square" rtlCol="0" lIns="0" tIns="0" rIns="0" bIns="0" anchor="t"/>
          <a:lstStyle/>
          <a:p>
            <a:pPr algn="l"/>
            <a:r>
              <a:rPr sz="3000" b="1">
                <a:solidFill>
                  <a:srgbClr val="12233A"/>
                </a:solidFill>
                <a:latin typeface="Arial"/>
                <a:ea typeface="Arial"/>
              </a:rPr>
              <a:t>Périmètre fonctionnel vu d'en haut</a:t>
            </a:r>
          </a:p>
        </p:txBody>
      </p:sp>
      <p:sp>
        <p:nvSpPr>
          <p:cNvPr id="5" name="TextBox 5">
            <a:extLst>
              <a:ext uri="{FF2B5EF4-FFF2-40B4-BE49-F238E27FC236}">
                <a16:creationId xmlns:a16="http://schemas.microsoft.com/office/drawing/2014/main" id="{732FC4CC-65A1-469B-9617-BDA705417AD8}"/>
              </a:ext>
            </a:extLst>
          </p:cNvPr>
          <p:cNvSpPr txBox="1"/>
          <p:nvPr/>
        </p:nvSpPr>
        <p:spPr>
          <a:xfrm>
            <a:off x="762000" y="1066800"/>
            <a:ext cx="7143750" cy="495300"/>
          </a:xfrm>
        </p:spPr>
        <p:txBody>
          <a:bodyPr wrap="square" rtlCol="0" lIns="0" tIns="0" rIns="0" bIns="0" anchor="t"/>
          <a:lstStyle/>
          <a:p>
            <a:pPr algn="l">
              <a:lnSpc>
                <a:spcPct val="115000"/>
              </a:lnSpc>
            </a:pPr>
            <a:r>
              <a:rPr sz="1400">
                <a:solidFill>
                  <a:srgbClr val="5A6B80"/>
                </a:solidFill>
                <a:latin typeface="Arial"/>
                <a:ea typeface="Arial"/>
              </a:rPr>
              <a:t>Les cas d'utilisation couvrent le périmètre arbitré avec l'encadrant ; les inclusions restent limitées aux cas représentatifs, pour garder le diagramme lisible.</a:t>
            </a:r>
          </a:p>
        </p:txBody>
      </p:sp>
      <p:sp>
        <p:nvSpPr>
          <p:cNvPr id="6" name="TextBox 6">
            <a:extLst>
              <a:ext uri="{FF2B5EF4-FFF2-40B4-BE49-F238E27FC236}">
                <a16:creationId xmlns:a16="http://schemas.microsoft.com/office/drawing/2014/main" id="{CDCA6BA9-D670-4823-AFFE-1045E3EA7145}"/>
              </a:ext>
            </a:extLst>
          </p:cNvPr>
          <p:cNvSpPr txBox="1"/>
          <p:nvPr/>
        </p:nvSpPr>
        <p:spPr>
          <a:xfrm>
            <a:off x="762000" y="1676400"/>
            <a:ext cx="7143750" cy="2000250"/>
          </a:xfrm>
        </p:spPr>
        <p:txBody>
          <a:bodyPr wrap="square" rtlCol="0" lIns="0" tIns="0" rIns="0" bIns="0" anchor="t"/>
          <a:lstStyle/>
          <a:p>
            <a:pPr marL="228600" indent="-228600" algn="l">
              <a:lnSpc>
                <a:spcPct val="115000"/>
              </a:lnSpc>
              <a:spcAft>
                <a:spcPts val="500"/>
              </a:spcAft>
              <a:buChar char="•"/>
            </a:pPr>
            <a:r>
              <a:rPr sz="1350">
                <a:solidFill>
                  <a:srgbClr val="12233A"/>
                </a:solidFill>
                <a:latin typeface="Arial"/>
                <a:ea typeface="Arial"/>
              </a:rPr>
              <a:t>Tous les acteurs authentifiés partagent un unique cas « S'authentifier ».</a:t>
            </a:r>
          </a:p>
          <a:p>
            <a:pPr marL="228600" indent="-228600" algn="l">
              <a:lnSpc>
                <a:spcPct val="115000"/>
              </a:lnSpc>
              <a:spcAft>
                <a:spcPts val="500"/>
              </a:spcAft>
              <a:buChar char="•"/>
            </a:pPr>
            <a:r>
              <a:rPr sz="1350">
                <a:solidFill>
                  <a:srgbClr val="12233A"/>
                </a:solidFill>
                <a:latin typeface="Arial"/>
                <a:ea typeface="Arial"/>
              </a:rPr>
              <a:t>Candidater et Suivre sa candidature portent l'essentiel du flux candidat.</a:t>
            </a:r>
          </a:p>
          <a:p>
            <a:pPr marL="228600" indent="-228600" algn="l">
              <a:lnSpc>
                <a:spcPct val="115000"/>
              </a:lnSpc>
              <a:spcAft>
                <a:spcPts val="500"/>
              </a:spcAft>
              <a:buChar char="•"/>
            </a:pPr>
            <a:r>
              <a:rPr sz="1350">
                <a:solidFill>
                  <a:srgbClr val="12233A"/>
                </a:solidFill>
                <a:latin typeface="Arial"/>
                <a:ea typeface="Arial"/>
              </a:rPr>
              <a:t>Analyse IA et notifications sont incluses dans les cas métier, jamais en série.</a:t>
            </a:r>
          </a:p>
          <a:p>
            <a:pPr marL="228600" indent="-228600" algn="l">
              <a:lnSpc>
                <a:spcPct val="115000"/>
              </a:lnSpc>
              <a:spcAft>
                <a:spcPts val="500"/>
              </a:spcAft>
              <a:buChar char="•"/>
            </a:pPr>
            <a:r>
              <a:rPr sz="1350">
                <a:solidFill>
                  <a:srgbClr val="12233A"/>
                </a:solidFill>
                <a:latin typeface="Arial"/>
                <a:ea typeface="Arial"/>
              </a:rPr>
              <a:t>Gestion des comptes, des rôles et journal d'audit relèvent de l'Administrateur.</a:t>
            </a:r>
          </a:p>
          <a:p>
            <a:pPr marL="228600" indent="-228600" algn="l">
              <a:lnSpc>
                <a:spcPct val="115000"/>
              </a:lnSpc>
              <a:buChar char="•"/>
            </a:pPr>
            <a:r>
              <a:rPr sz="1350">
                <a:solidFill>
                  <a:srgbClr val="12233A"/>
                </a:solidFill>
                <a:latin typeface="Arial"/>
                <a:ea typeface="Arial"/>
              </a:rPr>
              <a:t>Décider une candidature : le manager émet un avis, le RH le contre-signe.</a:t>
            </a:r>
          </a:p>
        </p:txBody>
      </p:sp>
      <p:sp>
        <p:nvSpPr>
          <p:cNvPr id="7" name="Shape 7">
            <a:extLst>
              <a:ext uri="{FF2B5EF4-FFF2-40B4-BE49-F238E27FC236}">
                <a16:creationId xmlns:a16="http://schemas.microsoft.com/office/drawing/2014/main" id="{525A61B2-63E0-4B54-B4D7-622CE6400255}"/>
              </a:ext>
            </a:extLst>
          </p:cNvPr>
          <p:cNvSpPr/>
          <p:nvPr/>
        </p:nvSpPr>
        <p:spPr>
          <a:xfrm>
            <a:off x="762000" y="3771900"/>
            <a:ext cx="7143750" cy="1714500"/>
          </a:xfrm>
          <a:prstGeom prst="roundRect">
            <a:avLst/>
          </a:prstGeom>
          <a:solidFill>
            <a:srgbClr val="FFFFFF"/>
          </a:solidFill>
          <a:ln w="12700">
            <a:solidFill>
              <a:srgbClr val="D8E0EA"/>
            </a:solidFill>
          </a:ln>
        </p:spPr>
        <p:txBody>
          <a:bodyPr wrap="square" rtlCol="0"/>
          <a:lstStyle/>
          <a:p>
            <a:r>
              <a:rPr/>
              <a:t/>
            </a:r>
          </a:p>
        </p:txBody>
      </p:sp>
      <p:sp>
        <p:nvSpPr>
          <p:cNvPr id="8" name="TextBox 8">
            <a:extLst>
              <a:ext uri="{FF2B5EF4-FFF2-40B4-BE49-F238E27FC236}">
                <a16:creationId xmlns:a16="http://schemas.microsoft.com/office/drawing/2014/main" id="{153BE75F-4F5A-4D5C-9E86-DB57E9637A66}"/>
              </a:ext>
            </a:extLst>
          </p:cNvPr>
          <p:cNvSpPr txBox="1"/>
          <p:nvPr/>
        </p:nvSpPr>
        <p:spPr>
          <a:xfrm>
            <a:off x="1028700" y="3981450"/>
            <a:ext cx="6610350" cy="266700"/>
          </a:xfrm>
        </p:spPr>
        <p:txBody>
          <a:bodyPr wrap="square" rtlCol="0" lIns="0" tIns="0" rIns="0" bIns="0" anchor="t"/>
          <a:lstStyle/>
          <a:p>
            <a:pPr algn="l"/>
            <a:r>
              <a:rPr sz="1500" b="1">
                <a:solidFill>
                  <a:srgbClr val="12233A"/>
                </a:solidFill>
                <a:latin typeface="Arial"/>
                <a:ea typeface="Arial"/>
              </a:rPr>
              <a:t>Deux points que le diagramme rend explicites</a:t>
            </a:r>
          </a:p>
        </p:txBody>
      </p:sp>
      <p:sp>
        <p:nvSpPr>
          <p:cNvPr id="9" name="TextBox 9">
            <a:extLst>
              <a:ext uri="{FF2B5EF4-FFF2-40B4-BE49-F238E27FC236}">
                <a16:creationId xmlns:a16="http://schemas.microsoft.com/office/drawing/2014/main" id="{A4FE124C-5FA6-45AD-91DC-4F57A1B77B1A}"/>
              </a:ext>
            </a:extLst>
          </p:cNvPr>
          <p:cNvSpPr txBox="1"/>
          <p:nvPr/>
        </p:nvSpPr>
        <p:spPr>
          <a:xfrm>
            <a:off x="1028700" y="4305300"/>
            <a:ext cx="6610350" cy="1047750"/>
          </a:xfrm>
        </p:spPr>
        <p:txBody>
          <a:bodyPr wrap="square" rtlCol="0" lIns="0" tIns="0" rIns="0" bIns="0" anchor="t"/>
          <a:lstStyle/>
          <a:p>
            <a:pPr marL="228600" indent="-228600" algn="l">
              <a:lnSpc>
                <a:spcPct val="118000"/>
              </a:lnSpc>
              <a:spcAft>
                <a:spcPts val="1000"/>
              </a:spcAft>
              <a:buChar char="•"/>
            </a:pPr>
            <a:r>
              <a:rPr sz="1250">
                <a:solidFill>
                  <a:srgbClr val="12233A"/>
                </a:solidFill>
                <a:latin typeface="Arial"/>
                <a:ea typeface="Arial"/>
              </a:rPr>
              <a:t>L'entretien téléphonique RH est un passage obligé avant toute évaluation technique.</a:t>
            </a:r>
          </a:p>
          <a:p>
            <a:pPr marL="228600" indent="-228600" algn="l">
              <a:lnSpc>
                <a:spcPct val="118000"/>
              </a:lnSpc>
              <a:buChar char="•"/>
            </a:pPr>
            <a:r>
              <a:rPr sz="1250">
                <a:solidFill>
                  <a:srgbClr val="12233A"/>
                </a:solidFill>
                <a:latin typeface="Arial"/>
                <a:ea typeface="Arial"/>
              </a:rPr>
              <a:t>Le routage vers les managers concernés n'intervient qu'à ce moment-là, pas dès la validation du CV.</a:t>
            </a:r>
          </a:p>
        </p:txBody>
      </p:sp>
      <p:pic>
        <p:nvPicPr>
          <p:cNvPr id="10" name="Picture 10">
            <a:extLst>
              <a:ext uri="{FF2B5EF4-FFF2-40B4-BE49-F238E27FC236}">
                <a16:creationId xmlns:a16="http://schemas.microsoft.com/office/drawing/2014/main" id="{94F31F82-8B96-478C-AAD9-69E3029C65F0}"/>
              </a:ext>
            </a:extLst>
          </p:cNvPr>
          <p:cNvPicPr/>
          <p:nvPr/>
        </p:nvPicPr>
        <p:blipFill>
          <a:blip r:embed="rId4"/>
          <a:srcRect l="30" r="30"/>
          <a:stretch>
            <a:fillRect/>
          </a:stretch>
        </p:blipFill>
        <p:spPr>
          <a:xfrm>
            <a:off x="8258175" y="1428750"/>
            <a:ext cx="3171825" cy="4762500"/>
          </a:xfrm>
          <a:prstGeom prst="rect">
            <a:avLst/>
          </a:prstGeom>
        </p:spPr>
      </p:pic>
      <p:sp>
        <p:nvSpPr>
          <p:cNvPr id="11" name="TextBox 11">
            <a:extLst>
              <a:ext uri="{FF2B5EF4-FFF2-40B4-BE49-F238E27FC236}">
                <a16:creationId xmlns:a16="http://schemas.microsoft.com/office/drawing/2014/main" id="{88C3061A-CB47-4640-88DE-9AC5762FBE15}"/>
              </a:ext>
            </a:extLst>
          </p:cNvPr>
          <p:cNvSpPr txBox="1"/>
          <p:nvPr/>
        </p:nvSpPr>
        <p:spPr>
          <a:xfrm>
            <a:off x="8258175" y="6238875"/>
            <a:ext cx="3171825" cy="209550"/>
          </a:xfrm>
        </p:spPr>
        <p:txBody>
          <a:bodyPr wrap="square" rtlCol="0" lIns="0" tIns="0" rIns="0" bIns="0" anchor="t"/>
          <a:lstStyle/>
          <a:p>
            <a:pPr algn="ctr"/>
            <a:r>
              <a:rPr sz="1150">
                <a:solidFill>
                  <a:srgbClr val="9AA9BC"/>
                </a:solidFill>
                <a:latin typeface="Arial"/>
                <a:ea typeface="Arial"/>
              </a:rPr>
              <a:t>Cas d'utilisation global (chapitre 2)</a:t>
            </a:r>
          </a:p>
        </p:txBody>
      </p:sp>
      <p:sp>
        <p:nvSpPr>
          <p:cNvPr id="12" name="TextBox 12">
            <a:extLst>
              <a:ext uri="{FF2B5EF4-FFF2-40B4-BE49-F238E27FC236}">
                <a16:creationId xmlns:a16="http://schemas.microsoft.com/office/drawing/2014/main" id="{7F5D4ED5-3E1E-4811-9B75-1DE1989D9A72}"/>
              </a:ext>
            </a:extLst>
          </p:cNvPr>
          <p:cNvSpPr txBox="1"/>
          <p:nvPr/>
        </p:nvSpPr>
        <p:spPr>
          <a:xfrm>
            <a:off x="762000" y="6515100"/>
            <a:ext cx="3810000" cy="190500"/>
          </a:xfrm>
        </p:spPr>
        <p:txBody>
          <a:bodyPr wrap="square" rtlCol="0" lIns="0" tIns="0" rIns="0" bIns="0" anchor="t"/>
          <a:lstStyle/>
          <a:p>
            <a:pPr algn="l"/>
            <a:r>
              <a:rPr sz="1050">
                <a:solidFill>
                  <a:srgbClr val="9AA9BC"/>
                </a:solidFill>
                <a:latin typeface="Arial"/>
                <a:ea typeface="Arial"/>
              </a:rPr>
              <a:t>JOB4YOU - Soutenance PFE</a:t>
            </a:r>
          </a:p>
        </p:txBody>
      </p:sp>
      <p:sp>
        <p:nvSpPr>
          <p:cNvPr id="13" name="TextBox 13">
            <a:extLst>
              <a:ext uri="{FF2B5EF4-FFF2-40B4-BE49-F238E27FC236}">
                <a16:creationId xmlns:a16="http://schemas.microsoft.com/office/drawing/2014/main" id="{84965762-4B03-4715-BA74-FA635FA2AAB1}"/>
              </a:ext>
            </a:extLst>
          </p:cNvPr>
          <p:cNvSpPr txBox="1"/>
          <p:nvPr/>
        </p:nvSpPr>
        <p:spPr>
          <a:xfrm>
            <a:off x="10858500" y="6515100"/>
            <a:ext cx="571500" cy="190500"/>
          </a:xfrm>
        </p:spPr>
        <p:txBody>
          <a:bodyPr wrap="square" rtlCol="0" lIns="0" tIns="0" rIns="0" bIns="0" anchor="t"/>
          <a:lstStyle/>
          <a:p>
            <a:pPr algn="r"/>
            <a:r>
              <a:rPr sz="1050">
                <a:solidFill>
                  <a:srgbClr val="9AA9BC"/>
                </a:solidFill>
                <a:latin typeface="Arial"/>
                <a:ea typeface="Arial"/>
              </a:rPr>
              <a:t>9 / 19</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id="{976C11F5-23C9-431E-A26C-005413B24A16}"/>
              </a:ext>
            </a:extLst>
          </p:cNvPr>
          <p:cNvSpPr txBox="1"/>
          <p:nvPr/>
        </p:nvSpPr>
        <p:spPr>
          <a:xfrm>
            <a:off x="762000" y="400050"/>
            <a:ext cx="7620000" cy="209550"/>
          </a:xfrm>
        </p:spPr>
        <p:txBody>
          <a:bodyPr wrap="square" rtlCol="0" lIns="0" tIns="0" rIns="0" bIns="0" anchor="t"/>
          <a:lstStyle/>
          <a:p>
            <a:pPr algn="l"/>
            <a:r>
              <a:rPr sz="1200" b="1">
                <a:solidFill>
                  <a:srgbClr val="00A8B5"/>
                </a:solidFill>
                <a:latin typeface="Arial"/>
                <a:ea typeface="Arial"/>
              </a:rPr>
              <a:t>04 · CONCEPTION</a:t>
            </a:r>
          </a:p>
        </p:txBody>
      </p:sp>
      <p:sp>
        <p:nvSpPr>
          <p:cNvPr id="4" name="TextBox 4">
            <a:extLst>
              <a:ext uri="{FF2B5EF4-FFF2-40B4-BE49-F238E27FC236}">
                <a16:creationId xmlns:a16="http://schemas.microsoft.com/office/drawing/2014/main" id="{22C772A9-3459-47ED-B93C-85A806DDA2FC}"/>
              </a:ext>
            </a:extLst>
          </p:cNvPr>
          <p:cNvSpPr txBox="1"/>
          <p:nvPr/>
        </p:nvSpPr>
        <p:spPr>
          <a:xfrm>
            <a:off x="762000" y="609600"/>
            <a:ext cx="9525000" cy="476250"/>
          </a:xfrm>
        </p:spPr>
        <p:txBody>
          <a:bodyPr wrap="square" rtlCol="0" lIns="0" tIns="0" rIns="0" bIns="0" anchor="t"/>
          <a:lstStyle/>
          <a:p>
            <a:pPr algn="l"/>
            <a:r>
              <a:rPr sz="3000" b="1">
                <a:solidFill>
                  <a:srgbClr val="12233A"/>
                </a:solidFill>
                <a:latin typeface="Arial"/>
                <a:ea typeface="Arial"/>
              </a:rPr>
              <a:t>Modèle de données du domaine</a:t>
            </a:r>
          </a:p>
        </p:txBody>
      </p:sp>
      <p:sp>
        <p:nvSpPr>
          <p:cNvPr id="5" name="TextBox 5">
            <a:extLst>
              <a:ext uri="{FF2B5EF4-FFF2-40B4-BE49-F238E27FC236}">
                <a16:creationId xmlns:a16="http://schemas.microsoft.com/office/drawing/2014/main" id="{244F348A-8694-4EFB-B32A-308DED884E1D}"/>
              </a:ext>
            </a:extLst>
          </p:cNvPr>
          <p:cNvSpPr txBox="1"/>
          <p:nvPr/>
        </p:nvSpPr>
        <p:spPr>
          <a:xfrm>
            <a:off x="762000" y="1066800"/>
            <a:ext cx="7239000" cy="495300"/>
          </a:xfrm>
        </p:spPr>
        <p:txBody>
          <a:bodyPr wrap="square" rtlCol="0" lIns="0" tIns="0" rIns="0" bIns="0" anchor="t"/>
          <a:lstStyle/>
          <a:p>
            <a:pPr algn="l">
              <a:lnSpc>
                <a:spcPct val="115000"/>
              </a:lnSpc>
            </a:pPr>
            <a:r>
              <a:rPr sz="1400">
                <a:solidFill>
                  <a:srgbClr val="5A6B80"/>
                </a:solidFill>
                <a:latin typeface="Arial"/>
                <a:ea typeface="Arial"/>
              </a:rPr>
              <a:t>Neuf entités métier, onze associations, des cardinalités relevées directement sur les annotations JPA des entités.</a:t>
            </a:r>
          </a:p>
        </p:txBody>
      </p:sp>
      <p:sp>
        <p:nvSpPr>
          <p:cNvPr id="6" name="Shape 6">
            <a:extLst>
              <a:ext uri="{FF2B5EF4-FFF2-40B4-BE49-F238E27FC236}">
                <a16:creationId xmlns:a16="http://schemas.microsoft.com/office/drawing/2014/main" id="{B97152A7-9599-4FDC-994F-47EC341446FB}"/>
              </a:ext>
            </a:extLst>
          </p:cNvPr>
          <p:cNvSpPr/>
          <p:nvPr/>
        </p:nvSpPr>
        <p:spPr>
          <a:xfrm>
            <a:off x="762000" y="1676400"/>
            <a:ext cx="3505200" cy="1619250"/>
          </a:xfrm>
          <a:prstGeom prst="roundRect">
            <a:avLst/>
          </a:prstGeom>
          <a:solidFill>
            <a:srgbClr val="FFFFFF"/>
          </a:solidFill>
          <a:ln w="12700">
            <a:solidFill>
              <a:srgbClr val="D8E0EA"/>
            </a:solidFill>
          </a:ln>
        </p:spPr>
        <p:txBody>
          <a:bodyPr wrap="square" rtlCol="0"/>
          <a:lstStyle/>
          <a:p>
            <a:r>
              <a:rPr/>
              <a:t/>
            </a:r>
          </a:p>
        </p:txBody>
      </p:sp>
      <p:sp>
        <p:nvSpPr>
          <p:cNvPr id="7" name="TextBox 7">
            <a:extLst>
              <a:ext uri="{FF2B5EF4-FFF2-40B4-BE49-F238E27FC236}">
                <a16:creationId xmlns:a16="http://schemas.microsoft.com/office/drawing/2014/main" id="{09515FBA-CAE5-468B-A33B-E17F7118DAA2}"/>
              </a:ext>
            </a:extLst>
          </p:cNvPr>
          <p:cNvSpPr txBox="1"/>
          <p:nvPr/>
        </p:nvSpPr>
        <p:spPr>
          <a:xfrm>
            <a:off x="952500" y="1847850"/>
            <a:ext cx="3124200" cy="247650"/>
          </a:xfrm>
        </p:spPr>
        <p:txBody>
          <a:bodyPr wrap="square" rtlCol="0" lIns="0" tIns="0" rIns="0" bIns="0" anchor="t"/>
          <a:lstStyle/>
          <a:p>
            <a:pPr algn="l"/>
            <a:r>
              <a:rPr sz="1500" b="1">
                <a:solidFill>
                  <a:srgbClr val="12233A"/>
                </a:solidFill>
                <a:latin typeface="Arial"/>
                <a:ea typeface="Arial"/>
              </a:rPr>
              <a:t>Référentiel</a:t>
            </a:r>
          </a:p>
        </p:txBody>
      </p:sp>
      <p:sp>
        <p:nvSpPr>
          <p:cNvPr id="8" name="TextBox 8">
            <a:extLst>
              <a:ext uri="{FF2B5EF4-FFF2-40B4-BE49-F238E27FC236}">
                <a16:creationId xmlns:a16="http://schemas.microsoft.com/office/drawing/2014/main" id="{093EFE09-77DD-47E0-9F98-5B0EDCD0E693}"/>
              </a:ext>
            </a:extLst>
          </p:cNvPr>
          <p:cNvSpPr txBox="1"/>
          <p:nvPr/>
        </p:nvSpPr>
        <p:spPr>
          <a:xfrm>
            <a:off x="952500" y="2114550"/>
            <a:ext cx="3124200" cy="228600"/>
          </a:xfrm>
        </p:spPr>
        <p:txBody>
          <a:bodyPr wrap="square" rtlCol="0" lIns="0" tIns="0" rIns="0" bIns="0" anchor="t"/>
          <a:lstStyle/>
          <a:p>
            <a:pPr algn="l"/>
            <a:r>
              <a:rPr sz="1300" b="1">
                <a:solidFill>
                  <a:srgbClr val="1B4F9C"/>
                </a:solidFill>
                <a:latin typeface="Arial"/>
                <a:ea typeface="Arial"/>
              </a:rPr>
              <a:t>User · Role · Department</a:t>
            </a:r>
          </a:p>
        </p:txBody>
      </p:sp>
      <p:sp>
        <p:nvSpPr>
          <p:cNvPr id="9" name="TextBox 9">
            <a:extLst>
              <a:ext uri="{FF2B5EF4-FFF2-40B4-BE49-F238E27FC236}">
                <a16:creationId xmlns:a16="http://schemas.microsoft.com/office/drawing/2014/main" id="{9096F9BA-A941-4640-8570-2F6498668E7C}"/>
              </a:ext>
            </a:extLst>
          </p:cNvPr>
          <p:cNvSpPr txBox="1"/>
          <p:nvPr/>
        </p:nvSpPr>
        <p:spPr>
          <a:xfrm>
            <a:off x="952500" y="2400300"/>
            <a:ext cx="3124200" cy="800100"/>
          </a:xfrm>
        </p:spPr>
        <p:txBody>
          <a:bodyPr wrap="square" rtlCol="0" lIns="0" tIns="0" rIns="0" bIns="0" anchor="t"/>
          <a:lstStyle/>
          <a:p>
            <a:pPr algn="l">
              <a:lnSpc>
                <a:spcPct val="118000"/>
              </a:lnSpc>
            </a:pPr>
            <a:r>
              <a:rPr sz="1150">
                <a:solidFill>
                  <a:srgbClr val="12233A"/>
                </a:solidFill>
                <a:latin typeface="Arial"/>
                <a:ea typeface="Arial"/>
              </a:rPr>
              <a:t>Un utilisateur porte plusieurs rôles via la table user_roles ; une offre est rattachée à un département.</a:t>
            </a:r>
          </a:p>
        </p:txBody>
      </p:sp>
      <p:sp>
        <p:nvSpPr>
          <p:cNvPr id="10" name="Shape 10">
            <a:extLst>
              <a:ext uri="{FF2B5EF4-FFF2-40B4-BE49-F238E27FC236}">
                <a16:creationId xmlns:a16="http://schemas.microsoft.com/office/drawing/2014/main" id="{A00C7794-27DB-46AC-B9E3-54F48B38FDCB}"/>
              </a:ext>
            </a:extLst>
          </p:cNvPr>
          <p:cNvSpPr/>
          <p:nvPr/>
        </p:nvSpPr>
        <p:spPr>
          <a:xfrm>
            <a:off x="4495800" y="1676400"/>
            <a:ext cx="3505200" cy="1619250"/>
          </a:xfrm>
          <a:prstGeom prst="roundRect">
            <a:avLst/>
          </a:prstGeom>
          <a:solidFill>
            <a:srgbClr val="FFFFFF"/>
          </a:solidFill>
          <a:ln w="12700">
            <a:solidFill>
              <a:srgbClr val="D8E0EA"/>
            </a:solidFill>
          </a:ln>
        </p:spPr>
        <p:txBody>
          <a:bodyPr wrap="square" rtlCol="0"/>
          <a:lstStyle/>
          <a:p>
            <a:r>
              <a:rPr/>
              <a:t/>
            </a:r>
          </a:p>
        </p:txBody>
      </p:sp>
      <p:sp>
        <p:nvSpPr>
          <p:cNvPr id="11" name="TextBox 11">
            <a:extLst>
              <a:ext uri="{FF2B5EF4-FFF2-40B4-BE49-F238E27FC236}">
                <a16:creationId xmlns:a16="http://schemas.microsoft.com/office/drawing/2014/main" id="{2CB71E56-2561-4E7D-A4C9-61B72F273B2D}"/>
              </a:ext>
            </a:extLst>
          </p:cNvPr>
          <p:cNvSpPr txBox="1"/>
          <p:nvPr/>
        </p:nvSpPr>
        <p:spPr>
          <a:xfrm>
            <a:off x="4686300" y="1847850"/>
            <a:ext cx="3124200" cy="247650"/>
          </a:xfrm>
        </p:spPr>
        <p:txBody>
          <a:bodyPr wrap="square" rtlCol="0" lIns="0" tIns="0" rIns="0" bIns="0" anchor="t"/>
          <a:lstStyle/>
          <a:p>
            <a:pPr algn="l"/>
            <a:r>
              <a:rPr sz="1500" b="1">
                <a:solidFill>
                  <a:srgbClr val="12233A"/>
                </a:solidFill>
                <a:latin typeface="Arial"/>
                <a:ea typeface="Arial"/>
              </a:rPr>
              <a:t>Offre et candidature</a:t>
            </a:r>
          </a:p>
        </p:txBody>
      </p:sp>
      <p:sp>
        <p:nvSpPr>
          <p:cNvPr id="12" name="TextBox 12">
            <a:extLst>
              <a:ext uri="{FF2B5EF4-FFF2-40B4-BE49-F238E27FC236}">
                <a16:creationId xmlns:a16="http://schemas.microsoft.com/office/drawing/2014/main" id="{FA6EB6A3-5EC5-4516-8833-02AFFAC7FDC0}"/>
              </a:ext>
            </a:extLst>
          </p:cNvPr>
          <p:cNvSpPr txBox="1"/>
          <p:nvPr/>
        </p:nvSpPr>
        <p:spPr>
          <a:xfrm>
            <a:off x="4686300" y="2114550"/>
            <a:ext cx="3124200" cy="228600"/>
          </a:xfrm>
        </p:spPr>
        <p:txBody>
          <a:bodyPr wrap="square" rtlCol="0" lIns="0" tIns="0" rIns="0" bIns="0" anchor="t"/>
          <a:lstStyle/>
          <a:p>
            <a:pPr algn="l"/>
            <a:r>
              <a:rPr sz="1300" b="1">
                <a:solidFill>
                  <a:srgbClr val="1B4F9C"/>
                </a:solidFill>
                <a:latin typeface="Arial"/>
                <a:ea typeface="Arial"/>
              </a:rPr>
              <a:t>JobOffer · Candidate · CV</a:t>
            </a:r>
          </a:p>
        </p:txBody>
      </p:sp>
      <p:sp>
        <p:nvSpPr>
          <p:cNvPr id="13" name="TextBox 13">
            <a:extLst>
              <a:ext uri="{FF2B5EF4-FFF2-40B4-BE49-F238E27FC236}">
                <a16:creationId xmlns:a16="http://schemas.microsoft.com/office/drawing/2014/main" id="{127F6F31-0815-450A-8D99-6F2DBDAD1C87}"/>
              </a:ext>
            </a:extLst>
          </p:cNvPr>
          <p:cNvSpPr txBox="1"/>
          <p:nvPr/>
        </p:nvSpPr>
        <p:spPr>
          <a:xfrm>
            <a:off x="4686300" y="2400300"/>
            <a:ext cx="3124200" cy="800100"/>
          </a:xfrm>
        </p:spPr>
        <p:txBody>
          <a:bodyPr wrap="square" rtlCol="0" lIns="0" tIns="0" rIns="0" bIns="0" anchor="t"/>
          <a:lstStyle/>
          <a:p>
            <a:pPr algn="l">
              <a:lnSpc>
                <a:spcPct val="118000"/>
              </a:lnSpc>
            </a:pPr>
            <a:r>
              <a:rPr sz="1200">
                <a:solidFill>
                  <a:srgbClr val="12233A"/>
                </a:solidFill>
                <a:latin typeface="Arial"/>
                <a:ea typeface="Arial"/>
              </a:rPr>
              <a:t>Une offre reçoit plusieurs candidatures ; un CV au plus. Le statut porte son motif, la destination managers est gelée sur le dossier.</a:t>
            </a:r>
          </a:p>
        </p:txBody>
      </p:sp>
      <p:sp>
        <p:nvSpPr>
          <p:cNvPr id="14" name="Shape 14">
            <a:extLst>
              <a:ext uri="{FF2B5EF4-FFF2-40B4-BE49-F238E27FC236}">
                <a16:creationId xmlns:a16="http://schemas.microsoft.com/office/drawing/2014/main" id="{7E836E26-DE36-4AA3-9B32-590522B7ACDF}"/>
              </a:ext>
            </a:extLst>
          </p:cNvPr>
          <p:cNvSpPr/>
          <p:nvPr/>
        </p:nvSpPr>
        <p:spPr>
          <a:xfrm>
            <a:off x="762000" y="3486150"/>
            <a:ext cx="3505200" cy="1619250"/>
          </a:xfrm>
          <a:prstGeom prst="roundRect">
            <a:avLst/>
          </a:prstGeom>
          <a:solidFill>
            <a:srgbClr val="FFFFFF"/>
          </a:solidFill>
          <a:ln w="12700">
            <a:solidFill>
              <a:srgbClr val="D8E0EA"/>
            </a:solidFill>
          </a:ln>
        </p:spPr>
        <p:txBody>
          <a:bodyPr wrap="square" rtlCol="0"/>
          <a:lstStyle/>
          <a:p>
            <a:r>
              <a:rPr/>
              <a:t/>
            </a:r>
          </a:p>
        </p:txBody>
      </p:sp>
      <p:sp>
        <p:nvSpPr>
          <p:cNvPr id="15" name="TextBox 15">
            <a:extLst>
              <a:ext uri="{FF2B5EF4-FFF2-40B4-BE49-F238E27FC236}">
                <a16:creationId xmlns:a16="http://schemas.microsoft.com/office/drawing/2014/main" id="{BB3012D9-7AC9-4800-B6E2-5DC2651189BD}"/>
              </a:ext>
            </a:extLst>
          </p:cNvPr>
          <p:cNvSpPr txBox="1"/>
          <p:nvPr/>
        </p:nvSpPr>
        <p:spPr>
          <a:xfrm>
            <a:off x="952500" y="3657600"/>
            <a:ext cx="3124200" cy="247650"/>
          </a:xfrm>
        </p:spPr>
        <p:txBody>
          <a:bodyPr wrap="square" rtlCol="0" lIns="0" tIns="0" rIns="0" bIns="0" anchor="t"/>
          <a:lstStyle/>
          <a:p>
            <a:pPr algn="l"/>
            <a:r>
              <a:rPr sz="1500" b="1">
                <a:solidFill>
                  <a:srgbClr val="12233A"/>
                </a:solidFill>
                <a:latin typeface="Arial"/>
                <a:ea typeface="Arial"/>
              </a:rPr>
              <a:t>Évaluation</a:t>
            </a:r>
          </a:p>
        </p:txBody>
      </p:sp>
      <p:sp>
        <p:nvSpPr>
          <p:cNvPr id="16" name="TextBox 16">
            <a:extLst>
              <a:ext uri="{FF2B5EF4-FFF2-40B4-BE49-F238E27FC236}">
                <a16:creationId xmlns:a16="http://schemas.microsoft.com/office/drawing/2014/main" id="{66401B1F-79C9-461A-8C23-266A318B745B}"/>
              </a:ext>
            </a:extLst>
          </p:cNvPr>
          <p:cNvSpPr txBox="1"/>
          <p:nvPr/>
        </p:nvSpPr>
        <p:spPr>
          <a:xfrm>
            <a:off x="952500" y="3924300"/>
            <a:ext cx="3124200" cy="228600"/>
          </a:xfrm>
        </p:spPr>
        <p:txBody>
          <a:bodyPr wrap="square" rtlCol="0" lIns="0" tIns="0" rIns="0" bIns="0" anchor="t"/>
          <a:lstStyle/>
          <a:p>
            <a:pPr algn="l"/>
            <a:r>
              <a:rPr sz="1300" b="1">
                <a:solidFill>
                  <a:srgbClr val="1B4F9C"/>
                </a:solidFill>
                <a:latin typeface="Arial"/>
                <a:ea typeface="Arial"/>
              </a:rPr>
              <a:t>Interview · Feedback</a:t>
            </a:r>
          </a:p>
        </p:txBody>
      </p:sp>
      <p:sp>
        <p:nvSpPr>
          <p:cNvPr id="17" name="TextBox 17">
            <a:extLst>
              <a:ext uri="{FF2B5EF4-FFF2-40B4-BE49-F238E27FC236}">
                <a16:creationId xmlns:a16="http://schemas.microsoft.com/office/drawing/2014/main" id="{E448AEA9-85CF-4E74-A06A-B90EDDE33585}"/>
              </a:ext>
            </a:extLst>
          </p:cNvPr>
          <p:cNvSpPr txBox="1"/>
          <p:nvPr/>
        </p:nvSpPr>
        <p:spPr>
          <a:xfrm>
            <a:off x="952500" y="4210050"/>
            <a:ext cx="3124200" cy="800100"/>
          </a:xfrm>
        </p:spPr>
        <p:txBody>
          <a:bodyPr wrap="square" rtlCol="0" lIns="0" tIns="0" rIns="0" bIns="0" anchor="t"/>
          <a:lstStyle/>
          <a:p>
            <a:pPr algn="l">
              <a:lnSpc>
                <a:spcPct val="118000"/>
              </a:lnSpc>
            </a:pPr>
            <a:r>
              <a:rPr sz="1150">
                <a:solidFill>
                  <a:srgbClr val="12233A"/>
                </a:solidFill>
                <a:latin typeface="Arial"/>
                <a:ea typeface="Arial"/>
              </a:rPr>
              <a:t>Un candidat passe plusieurs entretiens ; un feedback est rédigé par un utilisateur et concerne un candidat.</a:t>
            </a:r>
          </a:p>
        </p:txBody>
      </p:sp>
      <p:sp>
        <p:nvSpPr>
          <p:cNvPr id="18" name="Shape 18">
            <a:extLst>
              <a:ext uri="{FF2B5EF4-FFF2-40B4-BE49-F238E27FC236}">
                <a16:creationId xmlns:a16="http://schemas.microsoft.com/office/drawing/2014/main" id="{B87A0A85-7504-4BFA-A38B-7E9F05271338}"/>
              </a:ext>
            </a:extLst>
          </p:cNvPr>
          <p:cNvSpPr/>
          <p:nvPr/>
        </p:nvSpPr>
        <p:spPr>
          <a:xfrm>
            <a:off x="4495800" y="3486150"/>
            <a:ext cx="3505200" cy="1619250"/>
          </a:xfrm>
          <a:prstGeom prst="roundRect">
            <a:avLst/>
          </a:prstGeom>
          <a:solidFill>
            <a:srgbClr val="FFFFFF"/>
          </a:solidFill>
          <a:ln w="12700">
            <a:solidFill>
              <a:srgbClr val="D8E0EA"/>
            </a:solidFill>
          </a:ln>
        </p:spPr>
        <p:txBody>
          <a:bodyPr wrap="square" rtlCol="0"/>
          <a:lstStyle/>
          <a:p>
            <a:r>
              <a:rPr/>
              <a:t/>
            </a:r>
          </a:p>
        </p:txBody>
      </p:sp>
      <p:sp>
        <p:nvSpPr>
          <p:cNvPr id="19" name="TextBox 19">
            <a:extLst>
              <a:ext uri="{FF2B5EF4-FFF2-40B4-BE49-F238E27FC236}">
                <a16:creationId xmlns:a16="http://schemas.microsoft.com/office/drawing/2014/main" id="{57106CC4-5BE2-4C4D-A0B0-9F3BDE4A0C64}"/>
              </a:ext>
            </a:extLst>
          </p:cNvPr>
          <p:cNvSpPr txBox="1"/>
          <p:nvPr/>
        </p:nvSpPr>
        <p:spPr>
          <a:xfrm>
            <a:off x="4686300" y="3657600"/>
            <a:ext cx="3124200" cy="247650"/>
          </a:xfrm>
        </p:spPr>
        <p:txBody>
          <a:bodyPr wrap="square" rtlCol="0" lIns="0" tIns="0" rIns="0" bIns="0" anchor="t"/>
          <a:lstStyle/>
          <a:p>
            <a:pPr algn="l"/>
            <a:r>
              <a:rPr sz="1500" b="1">
                <a:solidFill>
                  <a:srgbClr val="12233A"/>
                </a:solidFill>
                <a:latin typeface="Arial"/>
                <a:ea typeface="Arial"/>
              </a:rPr>
              <a:t>Vue transverse</a:t>
            </a:r>
          </a:p>
        </p:txBody>
      </p:sp>
      <p:sp>
        <p:nvSpPr>
          <p:cNvPr id="20" name="TextBox 20">
            <a:extLst>
              <a:ext uri="{FF2B5EF4-FFF2-40B4-BE49-F238E27FC236}">
                <a16:creationId xmlns:a16="http://schemas.microsoft.com/office/drawing/2014/main" id="{B6477F0A-39A0-4D69-913D-4D415E9C59F6}"/>
              </a:ext>
            </a:extLst>
          </p:cNvPr>
          <p:cNvSpPr txBox="1"/>
          <p:nvPr/>
        </p:nvSpPr>
        <p:spPr>
          <a:xfrm>
            <a:off x="4686300" y="3924300"/>
            <a:ext cx="3124200" cy="228600"/>
          </a:xfrm>
        </p:spPr>
        <p:txBody>
          <a:bodyPr wrap="square" rtlCol="0" lIns="0" tIns="0" rIns="0" bIns="0" anchor="t"/>
          <a:lstStyle/>
          <a:p>
            <a:pPr algn="l"/>
            <a:r>
              <a:rPr sz="1300" b="1">
                <a:solidFill>
                  <a:srgbClr val="1B4F9C"/>
                </a:solidFill>
                <a:latin typeface="Arial"/>
                <a:ea typeface="Arial"/>
              </a:rPr>
              <a:t>AuditLog</a:t>
            </a:r>
          </a:p>
        </p:txBody>
      </p:sp>
      <p:sp>
        <p:nvSpPr>
          <p:cNvPr id="21" name="TextBox 21">
            <a:extLst>
              <a:ext uri="{FF2B5EF4-FFF2-40B4-BE49-F238E27FC236}">
                <a16:creationId xmlns:a16="http://schemas.microsoft.com/office/drawing/2014/main" id="{9E26B3CF-6DEB-4871-A0CA-0B0D0D4C222B}"/>
              </a:ext>
            </a:extLst>
          </p:cNvPr>
          <p:cNvSpPr txBox="1"/>
          <p:nvPr/>
        </p:nvSpPr>
        <p:spPr>
          <a:xfrm>
            <a:off x="4686300" y="4210050"/>
            <a:ext cx="3124200" cy="800100"/>
          </a:xfrm>
        </p:spPr>
        <p:txBody>
          <a:bodyPr wrap="square" rtlCol="0" lIns="0" tIns="0" rIns="0" bIns="0" anchor="t"/>
          <a:lstStyle/>
          <a:p>
            <a:pPr algn="l">
              <a:lnSpc>
                <a:spcPct val="118000"/>
              </a:lnSpc>
            </a:pPr>
            <a:r>
              <a:rPr sz="1150">
                <a:solidFill>
                  <a:srgbClr val="12233A"/>
                </a:solidFill>
                <a:latin typeface="Arial"/>
                <a:ea typeface="Arial"/>
              </a:rPr>
              <a:t>Journalisation par entityType et entityId, sans association JPA avec les entités suivies.</a:t>
            </a:r>
          </a:p>
        </p:txBody>
      </p:sp>
      <p:sp>
        <p:nvSpPr>
          <p:cNvPr id="22" name="TextBox 22">
            <a:extLst>
              <a:ext uri="{FF2B5EF4-FFF2-40B4-BE49-F238E27FC236}">
                <a16:creationId xmlns:a16="http://schemas.microsoft.com/office/drawing/2014/main" id="{E457D441-6123-4918-86B3-E6497539BA17}"/>
              </a:ext>
            </a:extLst>
          </p:cNvPr>
          <p:cNvSpPr txBox="1"/>
          <p:nvPr/>
        </p:nvSpPr>
        <p:spPr>
          <a:xfrm>
            <a:off x="762000" y="5295900"/>
            <a:ext cx="7239000" cy="495300"/>
          </a:xfrm>
        </p:spPr>
        <p:txBody>
          <a:bodyPr wrap="square" rtlCol="0" lIns="0" tIns="0" rIns="0" bIns="0" anchor="t"/>
          <a:lstStyle/>
          <a:p>
            <a:pPr algn="l">
              <a:lnSpc>
                <a:spcPct val="118000"/>
              </a:lnSpc>
            </a:pPr>
            <a:r>
              <a:rPr sz="1250">
                <a:solidFill>
                  <a:srgbClr val="5A6B80"/>
                </a:solidFill>
                <a:latin typeface="Arial"/>
                <a:ea typeface="Arial"/>
              </a:rPr>
              <a:t>Les contrôleurs, services et DTO restent hors de cette vue, qui ne montre que le domaine métier ; le découpage détaillé figure au chapitre 3 du rapport.</a:t>
            </a:r>
          </a:p>
        </p:txBody>
      </p:sp>
      <p:pic>
        <p:nvPicPr>
          <p:cNvPr id="23" name="Picture 23">
            <a:extLst>
              <a:ext uri="{FF2B5EF4-FFF2-40B4-BE49-F238E27FC236}">
                <a16:creationId xmlns:a16="http://schemas.microsoft.com/office/drawing/2014/main" id="{7F90AD99-2A61-4071-B58D-F430D7FF238A}"/>
              </a:ext>
            </a:extLst>
          </p:cNvPr>
          <p:cNvPicPr/>
          <p:nvPr/>
        </p:nvPicPr>
        <p:blipFill>
          <a:blip r:embed="rId5"/>
          <a:stretch>
            <a:fillRect/>
          </a:stretch>
        </p:blipFill>
        <p:spPr>
          <a:xfrm>
            <a:off x="8391525" y="1428750"/>
            <a:ext cx="3038475" cy="4476750"/>
          </a:xfrm>
          <a:prstGeom prst="rect">
            <a:avLst/>
          </a:prstGeom>
        </p:spPr>
      </p:pic>
      <p:sp>
        <p:nvSpPr>
          <p:cNvPr id="24" name="TextBox 24">
            <a:extLst>
              <a:ext uri="{FF2B5EF4-FFF2-40B4-BE49-F238E27FC236}">
                <a16:creationId xmlns:a16="http://schemas.microsoft.com/office/drawing/2014/main" id="{12A05576-71F6-465C-9F44-A0D3F6E1F32C}"/>
              </a:ext>
            </a:extLst>
          </p:cNvPr>
          <p:cNvSpPr txBox="1"/>
          <p:nvPr/>
        </p:nvSpPr>
        <p:spPr>
          <a:xfrm>
            <a:off x="8391525" y="6096000"/>
            <a:ext cx="3038475" cy="209550"/>
          </a:xfrm>
        </p:spPr>
        <p:txBody>
          <a:bodyPr wrap="square" rtlCol="0" lIns="0" tIns="0" rIns="0" bIns="0" anchor="t"/>
          <a:lstStyle/>
          <a:p>
            <a:pPr algn="ctr"/>
            <a:r>
              <a:rPr sz="1150">
                <a:solidFill>
                  <a:srgbClr val="9AA9BC"/>
                </a:solidFill>
                <a:latin typeface="Arial"/>
                <a:ea typeface="Arial"/>
              </a:rPr>
              <a:t>Diagramme de classes (chapitre 3)</a:t>
            </a:r>
          </a:p>
        </p:txBody>
      </p:sp>
      <p:sp>
        <p:nvSpPr>
          <p:cNvPr id="25" name="TextBox 25">
            <a:extLst>
              <a:ext uri="{FF2B5EF4-FFF2-40B4-BE49-F238E27FC236}">
                <a16:creationId xmlns:a16="http://schemas.microsoft.com/office/drawing/2014/main" id="{4EAB40AB-D4DB-4E61-AD36-8D0084BF030A}"/>
              </a:ext>
            </a:extLst>
          </p:cNvPr>
          <p:cNvSpPr txBox="1"/>
          <p:nvPr/>
        </p:nvSpPr>
        <p:spPr>
          <a:xfrm>
            <a:off x="762000" y="6515100"/>
            <a:ext cx="3810000" cy="190500"/>
          </a:xfrm>
        </p:spPr>
        <p:txBody>
          <a:bodyPr wrap="square" rtlCol="0" lIns="0" tIns="0" rIns="0" bIns="0" anchor="t"/>
          <a:lstStyle/>
          <a:p>
            <a:pPr algn="l"/>
            <a:r>
              <a:rPr sz="1050">
                <a:solidFill>
                  <a:srgbClr val="9AA9BC"/>
                </a:solidFill>
                <a:latin typeface="Arial"/>
                <a:ea typeface="Arial"/>
              </a:rPr>
              <a:t>JOB4YOU - Soutenance PFE</a:t>
            </a:r>
          </a:p>
        </p:txBody>
      </p:sp>
      <p:sp>
        <p:nvSpPr>
          <p:cNvPr id="26" name="TextBox 26">
            <a:extLst>
              <a:ext uri="{FF2B5EF4-FFF2-40B4-BE49-F238E27FC236}">
                <a16:creationId xmlns:a16="http://schemas.microsoft.com/office/drawing/2014/main" id="{541AB6FD-88AB-4F91-981A-0D478AF18D7F}"/>
              </a:ext>
            </a:extLst>
          </p:cNvPr>
          <p:cNvSpPr txBox="1"/>
          <p:nvPr/>
        </p:nvSpPr>
        <p:spPr>
          <a:xfrm>
            <a:off x="10858500" y="6515100"/>
            <a:ext cx="571500" cy="190500"/>
          </a:xfrm>
        </p:spPr>
        <p:txBody>
          <a:bodyPr wrap="square" rtlCol="0" lIns="0" tIns="0" rIns="0" bIns="0" anchor="t"/>
          <a:lstStyle/>
          <a:p>
            <a:pPr algn="r"/>
            <a:r>
              <a:rPr sz="1050">
                <a:solidFill>
                  <a:srgbClr val="9AA9BC"/>
                </a:solidFill>
                <a:latin typeface="Arial"/>
                <a:ea typeface="Arial"/>
              </a:rPr>
              <a:t>10 / 19</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id="{25BDEE77-E423-4F48-9CB3-1A0234A6D157}"/>
              </a:ext>
            </a:extLst>
          </p:cNvPr>
          <p:cNvSpPr txBox="1"/>
          <p:nvPr/>
        </p:nvSpPr>
        <p:spPr>
          <a:xfrm>
            <a:off x="762000" y="400050"/>
            <a:ext cx="7620000" cy="209550"/>
          </a:xfrm>
        </p:spPr>
        <p:txBody>
          <a:bodyPr wrap="square" rtlCol="0" lIns="0" tIns="0" rIns="0" bIns="0" anchor="t"/>
          <a:lstStyle/>
          <a:p>
            <a:pPr algn="l"/>
            <a:r>
              <a:rPr sz="1200" b="1">
                <a:solidFill>
                  <a:srgbClr val="00A8B5"/>
                </a:solidFill>
                <a:latin typeface="Arial"/>
                <a:ea typeface="Arial"/>
              </a:rPr>
              <a:t>04 · CONCEPTION</a:t>
            </a:r>
          </a:p>
        </p:txBody>
      </p:sp>
      <p:sp>
        <p:nvSpPr>
          <p:cNvPr id="4" name="TextBox 4">
            <a:extLst>
              <a:ext uri="{FF2B5EF4-FFF2-40B4-BE49-F238E27FC236}">
                <a16:creationId xmlns:a16="http://schemas.microsoft.com/office/drawing/2014/main" id="{39D42ED4-510C-484E-9BF1-8BF9F7340083}"/>
              </a:ext>
            </a:extLst>
          </p:cNvPr>
          <p:cNvSpPr txBox="1"/>
          <p:nvPr/>
        </p:nvSpPr>
        <p:spPr>
          <a:xfrm>
            <a:off x="762000" y="609600"/>
            <a:ext cx="9525000" cy="476250"/>
          </a:xfrm>
        </p:spPr>
        <p:txBody>
          <a:bodyPr wrap="square" rtlCol="0" lIns="0" tIns="0" rIns="0" bIns="0" anchor="t"/>
          <a:lstStyle/>
          <a:p>
            <a:pPr algn="l"/>
            <a:r>
              <a:rPr sz="3000" b="1">
                <a:solidFill>
                  <a:srgbClr val="12233A"/>
                </a:solidFill>
                <a:latin typeface="Arial"/>
                <a:ea typeface="Arial"/>
              </a:rPr>
              <a:t>Cycle de vie d'une candidature</a:t>
            </a:r>
          </a:p>
        </p:txBody>
      </p:sp>
      <p:sp>
        <p:nvSpPr>
          <p:cNvPr id="5" name="TextBox 5">
            <a:extLst>
              <a:ext uri="{FF2B5EF4-FFF2-40B4-BE49-F238E27FC236}">
                <a16:creationId xmlns:a16="http://schemas.microsoft.com/office/drawing/2014/main" id="{8B911666-6D41-4B03-A2B2-8EC80B103BB3}"/>
              </a:ext>
            </a:extLst>
          </p:cNvPr>
          <p:cNvSpPr txBox="1"/>
          <p:nvPr/>
        </p:nvSpPr>
        <p:spPr>
          <a:xfrm>
            <a:off x="762000" y="1066800"/>
            <a:ext cx="5905500" cy="495300"/>
          </a:xfrm>
        </p:spPr>
        <p:txBody>
          <a:bodyPr wrap="square" rtlCol="0" lIns="0" tIns="0" rIns="0" bIns="0" anchor="t"/>
          <a:lstStyle/>
          <a:p>
            <a:pPr algn="l">
              <a:lnSpc>
                <a:spcPct val="115000"/>
              </a:lnSpc>
            </a:pPr>
            <a:r>
              <a:rPr sz="1400">
                <a:solidFill>
                  <a:srgbClr val="5A6B80"/>
                </a:solidFill>
                <a:latin typeface="Arial"/>
                <a:ea typeface="Arial"/>
              </a:rPr>
              <a:t>Un statut ne se choisit pas librement : chaque transition est contrôlée côté service, et un refus reste possible dès l'examen du CV.</a:t>
            </a:r>
          </a:p>
        </p:txBody>
      </p:sp>
      <p:sp>
        <p:nvSpPr>
          <p:cNvPr id="6" name="TextBox 6">
            <a:extLst>
              <a:ext uri="{FF2B5EF4-FFF2-40B4-BE49-F238E27FC236}">
                <a16:creationId xmlns:a16="http://schemas.microsoft.com/office/drawing/2014/main" id="{BE9BB420-E198-44FA-B61E-7BC7838981BB}"/>
              </a:ext>
            </a:extLst>
          </p:cNvPr>
          <p:cNvSpPr txBox="1"/>
          <p:nvPr/>
        </p:nvSpPr>
        <p:spPr>
          <a:xfrm>
            <a:off x="762000" y="1676400"/>
            <a:ext cx="5905500" cy="2247900"/>
          </a:xfrm>
        </p:spPr>
        <p:txBody>
          <a:bodyPr wrap="square" rtlCol="0" lIns="0" tIns="0" rIns="0" bIns="0" anchor="t"/>
          <a:lstStyle/>
          <a:p>
            <a:pPr algn="l">
              <a:lnSpc>
                <a:spcPct val="118000"/>
              </a:lnSpc>
              <a:spcAft>
                <a:spcPts val="500"/>
              </a:spcAft>
            </a:pPr>
            <a:r>
              <a:rPr sz="1300">
                <a:solidFill>
                  <a:srgbClr val="12233A"/>
                </a:solidFill>
                <a:latin typeface="Arial"/>
                <a:ea typeface="Arial"/>
              </a:rPr>
              <a:t>01  Tri et présélection  APPLIED devient CV_REVIEWED si le score franchit le</a:t>
            </a:r>
            <a:br/>
            <a:r>
              <a:rPr sz="1300">
                <a:solidFill>
                  <a:srgbClr val="12233A"/>
                </a:solidFill>
                <a:latin typeface="Arial"/>
                <a:ea typeface="Arial"/>
              </a:rPr>
              <a:t>seuil, sinon AUTO_REJECTED.</a:t>
            </a:r>
            <a:br/>
            <a:r>
              <a:rPr sz="1300">
                <a:solidFill>
                  <a:srgbClr val="12233A"/>
                </a:solidFill>
                <a:latin typeface="Arial"/>
                <a:ea typeface="Arial"/>
              </a:rPr>
              <a:t>02  Qualification RH  PHONE_SCREENING obligatoire : pas d'acceptation sans</a:t>
            </a:r>
            <a:br/>
            <a:r>
              <a:rPr sz="1300">
                <a:solidFill>
                  <a:srgbClr val="12233A"/>
                </a:solidFill>
                <a:latin typeface="Arial"/>
                <a:ea typeface="Arial"/>
              </a:rPr>
              <a:t>entretien téléphonique.</a:t>
            </a:r>
            <a:br/>
            <a:r>
              <a:rPr sz="1300">
                <a:solidFill>
                  <a:srgbClr val="12233A"/>
                </a:solidFill>
                <a:latin typeface="Arial"/>
                <a:ea typeface="Arial"/>
              </a:rPr>
              <a:t>03  Évaluation technique  TECHNICAL_TEST gèle la destination : manager</a:t>
            </a:r>
            <a:br/>
            <a:r>
              <a:rPr sz="1300">
                <a:solidFill>
                  <a:srgbClr val="12233A"/>
                </a:solidFill>
                <a:latin typeface="Arial"/>
                <a:ea typeface="Arial"/>
              </a:rPr>
              <a:t>désigné de l'offre, sinon département, puis famille métier.</a:t>
            </a:r>
            <a:br/>
            <a:r>
              <a:rPr sz="1300">
                <a:solidFill>
                  <a:srgbClr val="12233A"/>
                </a:solidFill>
                <a:latin typeface="Arial"/>
                <a:ea typeface="Arial"/>
              </a:rPr>
              <a:t>04  Avis manager  ACCEPTED ou MANAGER_REJECTED ; le RH contre-signe</a:t>
            </a:r>
            <a:br/>
            <a:r>
              <a:rPr sz="1300">
                <a:solidFill>
                  <a:srgbClr val="12233A"/>
                </a:solidFill>
                <a:latin typeface="Arial"/>
                <a:ea typeface="Arial"/>
              </a:rPr>
              <a:t>par HIRED ou par REJECTED motivé.</a:t>
            </a:r>
          </a:p>
        </p:txBody>
      </p:sp>
      <p:sp>
        <p:nvSpPr>
          <p:cNvPr id="7" name="Shape 7">
            <a:extLst>
              <a:ext uri="{FF2B5EF4-FFF2-40B4-BE49-F238E27FC236}">
                <a16:creationId xmlns:a16="http://schemas.microsoft.com/office/drawing/2014/main" id="{7BFEFC74-594F-4ACC-BE65-8F88BDA6F1F8}"/>
              </a:ext>
            </a:extLst>
          </p:cNvPr>
          <p:cNvSpPr/>
          <p:nvPr/>
        </p:nvSpPr>
        <p:spPr>
          <a:xfrm>
            <a:off x="762000" y="4000500"/>
            <a:ext cx="5905500" cy="1428750"/>
          </a:xfrm>
          <a:prstGeom prst="roundRect">
            <a:avLst/>
          </a:prstGeom>
          <a:solidFill>
            <a:srgbClr val="E8F0F9"/>
          </a:solidFill>
        </p:spPr>
        <p:txBody>
          <a:bodyPr wrap="square" rtlCol="0"/>
          <a:lstStyle/>
          <a:p>
            <a:r>
              <a:rPr/>
              <a:t/>
            </a:r>
          </a:p>
        </p:txBody>
      </p:sp>
      <p:sp>
        <p:nvSpPr>
          <p:cNvPr id="8" name="TextBox 8">
            <a:extLst>
              <a:ext uri="{FF2B5EF4-FFF2-40B4-BE49-F238E27FC236}">
                <a16:creationId xmlns:a16="http://schemas.microsoft.com/office/drawing/2014/main" id="{67027304-2E9B-41CF-99CD-046B47B365D4}"/>
              </a:ext>
            </a:extLst>
          </p:cNvPr>
          <p:cNvSpPr txBox="1"/>
          <p:nvPr/>
        </p:nvSpPr>
        <p:spPr>
          <a:xfrm>
            <a:off x="1028700" y="4191000"/>
            <a:ext cx="5372100" cy="266700"/>
          </a:xfrm>
        </p:spPr>
        <p:txBody>
          <a:bodyPr wrap="square" rtlCol="0" lIns="0" tIns="0" rIns="0" bIns="0" anchor="t"/>
          <a:lstStyle/>
          <a:p>
            <a:pPr algn="l"/>
            <a:r>
              <a:rPr sz="1500" b="1">
                <a:solidFill>
                  <a:srgbClr val="12233A"/>
                </a:solidFill>
                <a:latin typeface="Arial"/>
                <a:ea typeface="Arial"/>
              </a:rPr>
              <a:t>Garde-fous implémentés</a:t>
            </a:r>
          </a:p>
        </p:txBody>
      </p:sp>
      <p:sp>
        <p:nvSpPr>
          <p:cNvPr id="9" name="TextBox 9">
            <a:extLst>
              <a:ext uri="{FF2B5EF4-FFF2-40B4-BE49-F238E27FC236}">
                <a16:creationId xmlns:a16="http://schemas.microsoft.com/office/drawing/2014/main" id="{0EE666FD-AE6A-441C-8F59-0075D906B6E4}"/>
              </a:ext>
            </a:extLst>
          </p:cNvPr>
          <p:cNvSpPr txBox="1"/>
          <p:nvPr/>
        </p:nvSpPr>
        <p:spPr>
          <a:xfrm>
            <a:off x="1028700" y="4495800"/>
            <a:ext cx="5372100" cy="876300"/>
          </a:xfrm>
        </p:spPr>
        <p:txBody>
          <a:bodyPr wrap="square" rtlCol="0" lIns="0" tIns="0" rIns="0" bIns="0" anchor="t"/>
          <a:lstStyle/>
          <a:p>
            <a:pPr marL="228600" indent="-228600" algn="l">
              <a:lnSpc>
                <a:spcPct val="118000"/>
              </a:lnSpc>
              <a:spcAft>
                <a:spcPts val="400"/>
              </a:spcAft>
              <a:buChar char="•"/>
            </a:pPr>
            <a:r>
              <a:rPr sz="1250">
                <a:solidFill>
                  <a:srgbClr val="12233A"/>
                </a:solidFill>
                <a:latin typeface="Arial"/>
                <a:ea typeface="Arial"/>
              </a:rPr>
              <a:t>Aucun statut final sans validation préalable du RH.</a:t>
            </a:r>
          </a:p>
          <a:p>
            <a:pPr marL="228600" indent="-228600" algn="l">
              <a:lnSpc>
                <a:spcPct val="118000"/>
              </a:lnSpc>
              <a:spcAft>
                <a:spcPts val="400"/>
              </a:spcAft>
              <a:buChar char="•"/>
            </a:pPr>
            <a:r>
              <a:rPr sz="1250">
                <a:solidFill>
                  <a:srgbClr val="12233A"/>
                </a:solidFill>
                <a:latin typeface="Arial"/>
                <a:ea typeface="Arial"/>
              </a:rPr>
              <a:t>Aucun e-mail au candidat avant la contre-signature RH.</a:t>
            </a:r>
          </a:p>
          <a:p>
            <a:pPr marL="228600" indent="-228600" algn="l">
              <a:lnSpc>
                <a:spcPct val="118000"/>
              </a:lnSpc>
              <a:buChar char="•"/>
            </a:pPr>
            <a:r>
              <a:rPr sz="1250">
                <a:solidFill>
                  <a:srgbClr val="12233A"/>
                </a:solidFill>
                <a:latin typeface="Arial"/>
                <a:ea typeface="Arial"/>
              </a:rPr>
              <a:t>Un compte purement manager est refusé (403) sur HIRED.</a:t>
            </a:r>
          </a:p>
        </p:txBody>
      </p:sp>
      <p:sp>
        <p:nvSpPr>
          <p:cNvPr id="10" name="TextBox 10">
            <a:extLst>
              <a:ext uri="{FF2B5EF4-FFF2-40B4-BE49-F238E27FC236}">
                <a16:creationId xmlns:a16="http://schemas.microsoft.com/office/drawing/2014/main" id="{0A375B6C-304F-4679-9989-15043AEDB0DA}"/>
              </a:ext>
            </a:extLst>
          </p:cNvPr>
          <p:cNvSpPr txBox="1"/>
          <p:nvPr/>
        </p:nvSpPr>
        <p:spPr>
          <a:xfrm>
            <a:off x="762000" y="5505450"/>
            <a:ext cx="5905500" cy="685800"/>
          </a:xfrm>
        </p:spPr>
        <p:txBody>
          <a:bodyPr wrap="square" rtlCol="0" lIns="0" tIns="0" rIns="0" bIns="0" anchor="t"/>
          <a:lstStyle/>
          <a:p>
            <a:pPr algn="l">
              <a:lnSpc>
                <a:spcPct val="118000"/>
              </a:lnSpc>
            </a:pPr>
            <a:r>
              <a:rPr sz="1150">
                <a:solidFill>
                  <a:srgbClr val="5A6B80"/>
                </a:solidFill>
                <a:latin typeface="Arial"/>
                <a:ea typeface="Arial"/>
              </a:rPr>
              <a:t>L'avis favorable est possible dès PHONE_SCREENING, le refus proposé dès CV_REVIEWED ; HIRED exige une date de présentation des documents.</a:t>
            </a:r>
          </a:p>
        </p:txBody>
      </p:sp>
      <p:pic>
        <p:nvPicPr>
          <p:cNvPr id="11" name="Picture 11">
            <a:extLst>
              <a:ext uri="{FF2B5EF4-FFF2-40B4-BE49-F238E27FC236}">
                <a16:creationId xmlns:a16="http://schemas.microsoft.com/office/drawing/2014/main" id="{58BD8211-DFA2-43C3-893C-A757A74A071B}"/>
              </a:ext>
            </a:extLst>
          </p:cNvPr>
          <p:cNvPicPr/>
          <p:nvPr/>
        </p:nvPicPr>
        <p:blipFill>
          <a:blip r:embed="rId4"/>
          <a:srcRect l="34" r="34"/>
          <a:stretch>
            <a:fillRect/>
          </a:stretch>
        </p:blipFill>
        <p:spPr>
          <a:xfrm>
            <a:off x="7048500" y="1428750"/>
            <a:ext cx="4381500" cy="4762500"/>
          </a:xfrm>
          <a:prstGeom prst="rect">
            <a:avLst/>
          </a:prstGeom>
        </p:spPr>
      </p:pic>
      <p:sp>
        <p:nvSpPr>
          <p:cNvPr id="12" name="TextBox 12">
            <a:extLst>
              <a:ext uri="{FF2B5EF4-FFF2-40B4-BE49-F238E27FC236}">
                <a16:creationId xmlns:a16="http://schemas.microsoft.com/office/drawing/2014/main" id="{DC771312-5F48-44E2-861E-0041F46F920A}"/>
              </a:ext>
            </a:extLst>
          </p:cNvPr>
          <p:cNvSpPr txBox="1"/>
          <p:nvPr/>
        </p:nvSpPr>
        <p:spPr>
          <a:xfrm>
            <a:off x="7048500" y="6238875"/>
            <a:ext cx="4381500" cy="209550"/>
          </a:xfrm>
        </p:spPr>
        <p:txBody>
          <a:bodyPr wrap="square" rtlCol="0" lIns="0" tIns="0" rIns="0" bIns="0" anchor="t"/>
          <a:lstStyle/>
          <a:p>
            <a:pPr algn="ctr"/>
            <a:r>
              <a:rPr sz="1150">
                <a:solidFill>
                  <a:srgbClr val="9AA9BC"/>
                </a:solidFill>
                <a:latin typeface="Arial"/>
                <a:ea typeface="Arial"/>
              </a:rPr>
              <a:t>Machine à états (chapitre 3)</a:t>
            </a:r>
          </a:p>
        </p:txBody>
      </p:sp>
      <p:sp>
        <p:nvSpPr>
          <p:cNvPr id="13" name="TextBox 13">
            <a:extLst>
              <a:ext uri="{FF2B5EF4-FFF2-40B4-BE49-F238E27FC236}">
                <a16:creationId xmlns:a16="http://schemas.microsoft.com/office/drawing/2014/main" id="{1631AD25-FFB7-4E57-89E1-E59B730ED55C}"/>
              </a:ext>
            </a:extLst>
          </p:cNvPr>
          <p:cNvSpPr txBox="1"/>
          <p:nvPr/>
        </p:nvSpPr>
        <p:spPr>
          <a:xfrm>
            <a:off x="762000" y="6515100"/>
            <a:ext cx="3810000" cy="190500"/>
          </a:xfrm>
        </p:spPr>
        <p:txBody>
          <a:bodyPr wrap="square" rtlCol="0" lIns="0" tIns="0" rIns="0" bIns="0" anchor="t"/>
          <a:lstStyle/>
          <a:p>
            <a:pPr algn="l"/>
            <a:r>
              <a:rPr sz="1050">
                <a:solidFill>
                  <a:srgbClr val="9AA9BC"/>
                </a:solidFill>
                <a:latin typeface="Arial"/>
                <a:ea typeface="Arial"/>
              </a:rPr>
              <a:t>JOB4YOU - Soutenance PFE</a:t>
            </a:r>
          </a:p>
        </p:txBody>
      </p:sp>
      <p:sp>
        <p:nvSpPr>
          <p:cNvPr id="14" name="TextBox 14">
            <a:extLst>
              <a:ext uri="{FF2B5EF4-FFF2-40B4-BE49-F238E27FC236}">
                <a16:creationId xmlns:a16="http://schemas.microsoft.com/office/drawing/2014/main" id="{1A1B5A96-F5AD-43D2-9965-31DA46BDE9BF}"/>
              </a:ext>
            </a:extLst>
          </p:cNvPr>
          <p:cNvSpPr txBox="1"/>
          <p:nvPr/>
        </p:nvSpPr>
        <p:spPr>
          <a:xfrm>
            <a:off x="10858500" y="6515100"/>
            <a:ext cx="571500" cy="190500"/>
          </a:xfrm>
        </p:spPr>
        <p:txBody>
          <a:bodyPr wrap="square" rtlCol="0" lIns="0" tIns="0" rIns="0" bIns="0" anchor="t"/>
          <a:lstStyle/>
          <a:p>
            <a:pPr algn="r"/>
            <a:r>
              <a:rPr sz="1050">
                <a:solidFill>
                  <a:srgbClr val="9AA9BC"/>
                </a:solidFill>
                <a:latin typeface="Arial"/>
                <a:ea typeface="Arial"/>
              </a:rPr>
              <a:t>11 / 19</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id="{F282E0A6-B4D6-4B00-8872-989512CE375E}"/>
              </a:ext>
            </a:extLst>
          </p:cNvPr>
          <p:cNvSpPr txBox="1"/>
          <p:nvPr/>
        </p:nvSpPr>
        <p:spPr>
          <a:xfrm>
            <a:off x="762000" y="400050"/>
            <a:ext cx="7620000" cy="209550"/>
          </a:xfrm>
        </p:spPr>
        <p:txBody>
          <a:bodyPr wrap="square" rtlCol="0" lIns="0" tIns="0" rIns="0" bIns="0" anchor="t"/>
          <a:lstStyle/>
          <a:p>
            <a:pPr algn="l"/>
            <a:r>
              <a:rPr sz="1200" b="1">
                <a:solidFill>
                  <a:srgbClr val="00A8B5"/>
                </a:solidFill>
                <a:latin typeface="Arial"/>
                <a:ea typeface="Arial"/>
              </a:rPr>
              <a:t>05 · AUTOMATISATION</a:t>
            </a:r>
          </a:p>
        </p:txBody>
      </p:sp>
      <p:sp>
        <p:nvSpPr>
          <p:cNvPr id="4" name="TextBox 4">
            <a:extLst>
              <a:ext uri="{FF2B5EF4-FFF2-40B4-BE49-F238E27FC236}">
                <a16:creationId xmlns:a16="http://schemas.microsoft.com/office/drawing/2014/main" id="{8FA659F5-AA17-42FC-AB90-A5449DF39439}"/>
              </a:ext>
            </a:extLst>
          </p:cNvPr>
          <p:cNvSpPr txBox="1"/>
          <p:nvPr/>
        </p:nvSpPr>
        <p:spPr>
          <a:xfrm>
            <a:off x="762000" y="609600"/>
            <a:ext cx="9525000" cy="476250"/>
          </a:xfrm>
        </p:spPr>
        <p:txBody>
          <a:bodyPr wrap="square" rtlCol="0" lIns="0" tIns="0" rIns="0" bIns="0" anchor="t"/>
          <a:lstStyle/>
          <a:p>
            <a:pPr algn="l"/>
            <a:r>
              <a:rPr sz="3000" b="1">
                <a:solidFill>
                  <a:srgbClr val="12233A"/>
                </a:solidFill>
                <a:latin typeface="Arial"/>
                <a:ea typeface="Arial"/>
              </a:rPr>
              <a:t>Trois agents n8n, trois moments du processus</a:t>
            </a:r>
          </a:p>
        </p:txBody>
      </p:sp>
      <p:sp>
        <p:nvSpPr>
          <p:cNvPr id="5" name="TextBox 5">
            <a:extLst>
              <a:ext uri="{FF2B5EF4-FFF2-40B4-BE49-F238E27FC236}">
                <a16:creationId xmlns:a16="http://schemas.microsoft.com/office/drawing/2014/main" id="{805131ED-BEDD-4260-9161-EE010F6BAE11}"/>
              </a:ext>
            </a:extLst>
          </p:cNvPr>
          <p:cNvSpPr txBox="1"/>
          <p:nvPr/>
        </p:nvSpPr>
        <p:spPr>
          <a:xfrm>
            <a:off x="762000" y="1066800"/>
            <a:ext cx="10668000" cy="495300"/>
          </a:xfrm>
        </p:spPr>
        <p:txBody>
          <a:bodyPr wrap="square" rtlCol="0" lIns="0" tIns="0" rIns="0" bIns="0" anchor="t"/>
          <a:lstStyle/>
          <a:p>
            <a:pPr algn="l">
              <a:lnSpc>
                <a:spcPct val="115000"/>
              </a:lnSpc>
            </a:pPr>
            <a:r>
              <a:rPr sz="1400">
                <a:solidFill>
                  <a:srgbClr val="5A6B80"/>
                </a:solidFill>
                <a:latin typeface="Arial"/>
                <a:ea typeface="Arial"/>
              </a:rPr>
              <a:t>Spring Boot garde la logique métier et la sécurité ; n8n prend en charge les effets externes - analyse du CV, calendrier, notifications - appelés par webhook à chaque événement.</a:t>
            </a:r>
          </a:p>
        </p:txBody>
      </p:sp>
      <p:sp>
        <p:nvSpPr>
          <p:cNvPr id="6" name="Shape 6">
            <a:extLst>
              <a:ext uri="{FF2B5EF4-FFF2-40B4-BE49-F238E27FC236}">
                <a16:creationId xmlns:a16="http://schemas.microsoft.com/office/drawing/2014/main" id="{C1E14862-5954-4657-B8A1-BA4FE36CE6A3}"/>
              </a:ext>
            </a:extLst>
          </p:cNvPr>
          <p:cNvSpPr/>
          <p:nvPr/>
        </p:nvSpPr>
        <p:spPr>
          <a:xfrm>
            <a:off x="762000" y="1619250"/>
            <a:ext cx="3352800" cy="3619500"/>
          </a:xfrm>
          <a:prstGeom prst="roundRect">
            <a:avLst/>
          </a:prstGeom>
          <a:solidFill>
            <a:srgbClr val="FFFFFF"/>
          </a:solidFill>
          <a:ln w="12700">
            <a:solidFill>
              <a:srgbClr val="D8E0EA"/>
            </a:solidFill>
          </a:ln>
        </p:spPr>
        <p:txBody>
          <a:bodyPr wrap="square" rtlCol="0"/>
          <a:lstStyle/>
          <a:p>
            <a:r>
              <a:rPr/>
              <a:t/>
            </a:r>
          </a:p>
        </p:txBody>
      </p:sp>
      <p:sp>
        <p:nvSpPr>
          <p:cNvPr id="7" name="TextBox 7">
            <a:extLst>
              <a:ext uri="{FF2B5EF4-FFF2-40B4-BE49-F238E27FC236}">
                <a16:creationId xmlns:a16="http://schemas.microsoft.com/office/drawing/2014/main" id="{88DC8C0E-394D-46EE-9F4D-1AE5A756340B}"/>
              </a:ext>
            </a:extLst>
          </p:cNvPr>
          <p:cNvSpPr txBox="1"/>
          <p:nvPr/>
        </p:nvSpPr>
        <p:spPr>
          <a:xfrm>
            <a:off x="1028700" y="1847850"/>
            <a:ext cx="2819400" cy="304800"/>
          </a:xfrm>
        </p:spPr>
        <p:txBody>
          <a:bodyPr wrap="square" rtlCol="0" lIns="0" tIns="0" rIns="0" bIns="0" anchor="t"/>
          <a:lstStyle/>
          <a:p>
            <a:pPr algn="l"/>
            <a:r>
              <a:rPr sz="1700" b="1">
                <a:solidFill>
                  <a:srgbClr val="12233A"/>
                </a:solidFill>
                <a:latin typeface="Arial"/>
                <a:ea typeface="Arial"/>
              </a:rPr>
              <a:t>Agent 1 — CV Parser</a:t>
            </a:r>
          </a:p>
        </p:txBody>
      </p:sp>
      <p:sp>
        <p:nvSpPr>
          <p:cNvPr id="8" name="TextBox 8">
            <a:extLst>
              <a:ext uri="{FF2B5EF4-FFF2-40B4-BE49-F238E27FC236}">
                <a16:creationId xmlns:a16="http://schemas.microsoft.com/office/drawing/2014/main" id="{FA30060A-4B65-4BBD-9251-A80001EE9C06}"/>
              </a:ext>
            </a:extLst>
          </p:cNvPr>
          <p:cNvSpPr txBox="1"/>
          <p:nvPr/>
        </p:nvSpPr>
        <p:spPr>
          <a:xfrm>
            <a:off x="1028700" y="2209800"/>
            <a:ext cx="2819400" cy="190500"/>
          </a:xfrm>
        </p:spPr>
        <p:txBody>
          <a:bodyPr wrap="square" rtlCol="0" lIns="0" tIns="0" rIns="0" bIns="0" anchor="t"/>
          <a:lstStyle/>
          <a:p>
            <a:pPr algn="l"/>
            <a:r>
              <a:rPr sz="1100" b="1">
                <a:solidFill>
                  <a:srgbClr val="00A8B5"/>
                </a:solidFill>
                <a:latin typeface="Arial"/>
                <a:ea typeface="Arial"/>
              </a:rPr>
              <a:t>DÉCLENCHEUR</a:t>
            </a:r>
          </a:p>
        </p:txBody>
      </p:sp>
      <p:sp>
        <p:nvSpPr>
          <p:cNvPr id="9" name="TextBox 9">
            <a:extLst>
              <a:ext uri="{FF2B5EF4-FFF2-40B4-BE49-F238E27FC236}">
                <a16:creationId xmlns:a16="http://schemas.microsoft.com/office/drawing/2014/main" id="{05AB06E5-8576-498A-8C6C-F5CA5C49D1E4}"/>
              </a:ext>
            </a:extLst>
          </p:cNvPr>
          <p:cNvSpPr txBox="1"/>
          <p:nvPr/>
        </p:nvSpPr>
        <p:spPr>
          <a:xfrm>
            <a:off x="1028700" y="2419350"/>
            <a:ext cx="2819400" cy="457200"/>
          </a:xfrm>
        </p:spPr>
        <p:txBody>
          <a:bodyPr wrap="square" rtlCol="0" lIns="0" tIns="0" rIns="0" bIns="0" anchor="t"/>
          <a:lstStyle/>
          <a:p>
            <a:pPr algn="l">
              <a:lnSpc>
                <a:spcPct val="118000"/>
              </a:lnSpc>
            </a:pPr>
            <a:r>
              <a:rPr sz="1250">
                <a:solidFill>
                  <a:srgbClr val="12233A"/>
                </a:solidFill>
                <a:latin typeface="Arial"/>
                <a:ea typeface="Arial"/>
              </a:rPr>
              <a:t>Création d'une candidature, statut APPLIED.</a:t>
            </a:r>
          </a:p>
        </p:txBody>
      </p:sp>
      <p:sp>
        <p:nvSpPr>
          <p:cNvPr id="10" name="TextBox 10">
            <a:extLst>
              <a:ext uri="{FF2B5EF4-FFF2-40B4-BE49-F238E27FC236}">
                <a16:creationId xmlns:a16="http://schemas.microsoft.com/office/drawing/2014/main" id="{07B41C3F-727C-4FF6-B447-0D5AE4AD434A}"/>
              </a:ext>
            </a:extLst>
          </p:cNvPr>
          <p:cNvSpPr txBox="1"/>
          <p:nvPr/>
        </p:nvSpPr>
        <p:spPr>
          <a:xfrm>
            <a:off x="1028700" y="2914650"/>
            <a:ext cx="2819400" cy="190500"/>
          </a:xfrm>
        </p:spPr>
        <p:txBody>
          <a:bodyPr wrap="square" rtlCol="0" lIns="0" tIns="0" rIns="0" bIns="0" anchor="t"/>
          <a:lstStyle/>
          <a:p>
            <a:pPr algn="l"/>
            <a:r>
              <a:rPr sz="1100" b="1">
                <a:solidFill>
                  <a:srgbClr val="00A8B5"/>
                </a:solidFill>
                <a:latin typeface="Arial"/>
                <a:ea typeface="Arial"/>
              </a:rPr>
              <a:t>CE QU'IL FAIT</a:t>
            </a:r>
          </a:p>
        </p:txBody>
      </p:sp>
      <p:sp>
        <p:nvSpPr>
          <p:cNvPr id="11" name="TextBox 11">
            <a:extLst>
              <a:ext uri="{FF2B5EF4-FFF2-40B4-BE49-F238E27FC236}">
                <a16:creationId xmlns:a16="http://schemas.microsoft.com/office/drawing/2014/main" id="{7231CC1F-9259-46C5-8409-FAD01E94DE89}"/>
              </a:ext>
            </a:extLst>
          </p:cNvPr>
          <p:cNvSpPr txBox="1"/>
          <p:nvPr/>
        </p:nvSpPr>
        <p:spPr>
          <a:xfrm>
            <a:off x="1028700" y="3124200"/>
            <a:ext cx="2819400" cy="1809750"/>
          </a:xfrm>
        </p:spPr>
        <p:txBody>
          <a:bodyPr wrap="square" rtlCol="0" lIns="0" tIns="0" rIns="0" bIns="0" anchor="t"/>
          <a:lstStyle/>
          <a:p>
            <a:pPr algn="l">
              <a:lnSpc>
                <a:spcPct val="118000"/>
              </a:lnSpc>
            </a:pPr>
            <a:r>
              <a:rPr sz="1250">
                <a:solidFill>
                  <a:srgbClr val="12233A"/>
                </a:solidFill>
                <a:latin typeface="Arial"/>
                <a:ea typeface="Arial"/>
              </a:rPr>
              <a:t>Extrait le texte du CV, rappelle le back-end pour recalculer le score, puis envoie l'accusé de réception au candidat. Le statut bascule ensuite vers CV_REVIEWED ou AUTO_REJECTED selon le seuil.</a:t>
            </a:r>
          </a:p>
        </p:txBody>
      </p:sp>
      <p:sp>
        <p:nvSpPr>
          <p:cNvPr id="12" name="Shape 12">
            <a:extLst>
              <a:ext uri="{FF2B5EF4-FFF2-40B4-BE49-F238E27FC236}">
                <a16:creationId xmlns:a16="http://schemas.microsoft.com/office/drawing/2014/main" id="{241215E4-2F3B-4EED-AD95-F3C4BCC1B2A7}"/>
              </a:ext>
            </a:extLst>
          </p:cNvPr>
          <p:cNvSpPr/>
          <p:nvPr/>
        </p:nvSpPr>
        <p:spPr>
          <a:xfrm>
            <a:off x="4419600" y="1619250"/>
            <a:ext cx="3352800" cy="3619500"/>
          </a:xfrm>
          <a:prstGeom prst="roundRect">
            <a:avLst/>
          </a:prstGeom>
          <a:solidFill>
            <a:srgbClr val="FFFFFF"/>
          </a:solidFill>
          <a:ln w="12700">
            <a:solidFill>
              <a:srgbClr val="D8E0EA"/>
            </a:solidFill>
          </a:ln>
        </p:spPr>
        <p:txBody>
          <a:bodyPr wrap="square" rtlCol="0"/>
          <a:lstStyle/>
          <a:p>
            <a:r>
              <a:rPr/>
              <a:t/>
            </a:r>
          </a:p>
        </p:txBody>
      </p:sp>
      <p:sp>
        <p:nvSpPr>
          <p:cNvPr id="13" name="TextBox 13">
            <a:extLst>
              <a:ext uri="{FF2B5EF4-FFF2-40B4-BE49-F238E27FC236}">
                <a16:creationId xmlns:a16="http://schemas.microsoft.com/office/drawing/2014/main" id="{22ADBA3E-F065-4B56-92E4-85E5C9D85C2C}"/>
              </a:ext>
            </a:extLst>
          </p:cNvPr>
          <p:cNvSpPr txBox="1"/>
          <p:nvPr/>
        </p:nvSpPr>
        <p:spPr>
          <a:xfrm>
            <a:off x="4686300" y="1847850"/>
            <a:ext cx="2819400" cy="304800"/>
          </a:xfrm>
        </p:spPr>
        <p:txBody>
          <a:bodyPr wrap="square" rtlCol="0" lIns="0" tIns="0" rIns="0" bIns="0" anchor="t"/>
          <a:lstStyle/>
          <a:p>
            <a:pPr algn="l"/>
            <a:r>
              <a:rPr sz="1700" b="1">
                <a:solidFill>
                  <a:srgbClr val="12233A"/>
                </a:solidFill>
                <a:latin typeface="Arial"/>
                <a:ea typeface="Arial"/>
              </a:rPr>
              <a:t>Agent 2 — Entretiens</a:t>
            </a:r>
          </a:p>
        </p:txBody>
      </p:sp>
      <p:sp>
        <p:nvSpPr>
          <p:cNvPr id="14" name="TextBox 14">
            <a:extLst>
              <a:ext uri="{FF2B5EF4-FFF2-40B4-BE49-F238E27FC236}">
                <a16:creationId xmlns:a16="http://schemas.microsoft.com/office/drawing/2014/main" id="{85DCE603-A9FE-4DBC-B5DC-110BCC0FECC9}"/>
              </a:ext>
            </a:extLst>
          </p:cNvPr>
          <p:cNvSpPr txBox="1"/>
          <p:nvPr/>
        </p:nvSpPr>
        <p:spPr>
          <a:xfrm>
            <a:off x="4686300" y="2209800"/>
            <a:ext cx="2819400" cy="190500"/>
          </a:xfrm>
        </p:spPr>
        <p:txBody>
          <a:bodyPr wrap="square" rtlCol="0" lIns="0" tIns="0" rIns="0" bIns="0" anchor="t"/>
          <a:lstStyle/>
          <a:p>
            <a:pPr algn="l"/>
            <a:r>
              <a:rPr sz="1100" b="1">
                <a:solidFill>
                  <a:srgbClr val="00A8B5"/>
                </a:solidFill>
                <a:latin typeface="Arial"/>
                <a:ea typeface="Arial"/>
              </a:rPr>
              <a:t>DÉCLENCHEUR</a:t>
            </a:r>
          </a:p>
        </p:txBody>
      </p:sp>
      <p:sp>
        <p:nvSpPr>
          <p:cNvPr id="15" name="TextBox 15">
            <a:extLst>
              <a:ext uri="{FF2B5EF4-FFF2-40B4-BE49-F238E27FC236}">
                <a16:creationId xmlns:a16="http://schemas.microsoft.com/office/drawing/2014/main" id="{FAAA2144-5EB6-4B73-9EA3-5FE8D7F8B68E}"/>
              </a:ext>
            </a:extLst>
          </p:cNvPr>
          <p:cNvSpPr txBox="1"/>
          <p:nvPr/>
        </p:nvSpPr>
        <p:spPr>
          <a:xfrm>
            <a:off x="4686300" y="2419350"/>
            <a:ext cx="2819400" cy="457200"/>
          </a:xfrm>
        </p:spPr>
        <p:txBody>
          <a:bodyPr wrap="square" rtlCol="0" lIns="0" tIns="0" rIns="0" bIns="0" anchor="t"/>
          <a:lstStyle/>
          <a:p>
            <a:pPr algn="l">
              <a:lnSpc>
                <a:spcPct val="118000"/>
              </a:lnSpc>
            </a:pPr>
            <a:r>
              <a:rPr sz="1250">
                <a:solidFill>
                  <a:srgbClr val="12233A"/>
                </a:solidFill>
                <a:latin typeface="Arial"/>
                <a:ea typeface="Arial"/>
              </a:rPr>
              <a:t>Planification d'un entretien, et CV retenu par l'IA.</a:t>
            </a:r>
          </a:p>
        </p:txBody>
      </p:sp>
      <p:sp>
        <p:nvSpPr>
          <p:cNvPr id="16" name="TextBox 16">
            <a:extLst>
              <a:ext uri="{FF2B5EF4-FFF2-40B4-BE49-F238E27FC236}">
                <a16:creationId xmlns:a16="http://schemas.microsoft.com/office/drawing/2014/main" id="{8A5471D7-70C5-42C6-BAE4-32E005FD81A0}"/>
              </a:ext>
            </a:extLst>
          </p:cNvPr>
          <p:cNvSpPr txBox="1"/>
          <p:nvPr/>
        </p:nvSpPr>
        <p:spPr>
          <a:xfrm>
            <a:off x="4686300" y="2914650"/>
            <a:ext cx="2819400" cy="190500"/>
          </a:xfrm>
        </p:spPr>
        <p:txBody>
          <a:bodyPr wrap="square" rtlCol="0" lIns="0" tIns="0" rIns="0" bIns="0" anchor="t"/>
          <a:lstStyle/>
          <a:p>
            <a:pPr algn="l"/>
            <a:r>
              <a:rPr sz="1100" b="1">
                <a:solidFill>
                  <a:srgbClr val="00A8B5"/>
                </a:solidFill>
                <a:latin typeface="Arial"/>
                <a:ea typeface="Arial"/>
              </a:rPr>
              <a:t>CE QU'IL FAIT</a:t>
            </a:r>
          </a:p>
        </p:txBody>
      </p:sp>
      <p:sp>
        <p:nvSpPr>
          <p:cNvPr id="17" name="TextBox 17">
            <a:extLst>
              <a:ext uri="{FF2B5EF4-FFF2-40B4-BE49-F238E27FC236}">
                <a16:creationId xmlns:a16="http://schemas.microsoft.com/office/drawing/2014/main" id="{A6C355D8-101D-4990-A5CD-A656EDAB79DC}"/>
              </a:ext>
            </a:extLst>
          </p:cNvPr>
          <p:cNvSpPr txBox="1"/>
          <p:nvPr/>
        </p:nvSpPr>
        <p:spPr>
          <a:xfrm>
            <a:off x="4686300" y="3124200"/>
            <a:ext cx="2819400" cy="1809750"/>
          </a:xfrm>
        </p:spPr>
        <p:txBody>
          <a:bodyPr wrap="square" rtlCol="0" lIns="0" tIns="0" rIns="0" bIns="0" anchor="t"/>
          <a:lstStyle/>
          <a:p>
            <a:pPr algn="l">
              <a:lnSpc>
                <a:spcPct val="118000"/>
              </a:lnSpc>
            </a:pPr>
            <a:r>
              <a:rPr sz="1250">
                <a:solidFill>
                  <a:srgbClr val="12233A"/>
                </a:solidFill>
                <a:latin typeface="Arial"/>
                <a:ea typeface="Arial"/>
              </a:rPr>
              <a:t>Crée l'événement Google Calendar, génère le lien Google Meet, ajoute les participants, puis envoie invitations et rappels au candidat comme à l'intervieweur.</a:t>
            </a:r>
          </a:p>
        </p:txBody>
      </p:sp>
      <p:sp>
        <p:nvSpPr>
          <p:cNvPr id="18" name="Shape 18">
            <a:extLst>
              <a:ext uri="{FF2B5EF4-FFF2-40B4-BE49-F238E27FC236}">
                <a16:creationId xmlns:a16="http://schemas.microsoft.com/office/drawing/2014/main" id="{0C895015-65D5-4FAB-B4B1-5365BA51E3C7}"/>
              </a:ext>
            </a:extLst>
          </p:cNvPr>
          <p:cNvSpPr/>
          <p:nvPr/>
        </p:nvSpPr>
        <p:spPr>
          <a:xfrm>
            <a:off x="8077200" y="1619250"/>
            <a:ext cx="3352800" cy="3619500"/>
          </a:xfrm>
          <a:prstGeom prst="roundRect">
            <a:avLst/>
          </a:prstGeom>
          <a:solidFill>
            <a:srgbClr val="FFFFFF"/>
          </a:solidFill>
          <a:ln w="12700">
            <a:solidFill>
              <a:srgbClr val="D8E0EA"/>
            </a:solidFill>
          </a:ln>
        </p:spPr>
        <p:txBody>
          <a:bodyPr wrap="square" rtlCol="0"/>
          <a:lstStyle/>
          <a:p>
            <a:r>
              <a:rPr/>
              <a:t/>
            </a:r>
          </a:p>
        </p:txBody>
      </p:sp>
      <p:sp>
        <p:nvSpPr>
          <p:cNvPr id="19" name="TextBox 19">
            <a:extLst>
              <a:ext uri="{FF2B5EF4-FFF2-40B4-BE49-F238E27FC236}">
                <a16:creationId xmlns:a16="http://schemas.microsoft.com/office/drawing/2014/main" id="{0F89E879-1739-4422-8CE1-C907A21C16E8}"/>
              </a:ext>
            </a:extLst>
          </p:cNvPr>
          <p:cNvSpPr txBox="1"/>
          <p:nvPr/>
        </p:nvSpPr>
        <p:spPr>
          <a:xfrm>
            <a:off x="8343900" y="1847850"/>
            <a:ext cx="2819400" cy="304800"/>
          </a:xfrm>
        </p:spPr>
        <p:txBody>
          <a:bodyPr wrap="square" rtlCol="0" lIns="0" tIns="0" rIns="0" bIns="0" anchor="t"/>
          <a:lstStyle/>
          <a:p>
            <a:pPr algn="l"/>
            <a:r>
              <a:rPr sz="1700" b="1">
                <a:solidFill>
                  <a:srgbClr val="12233A"/>
                </a:solidFill>
                <a:latin typeface="Arial"/>
                <a:ea typeface="Arial"/>
              </a:rPr>
              <a:t>Agent 3 — Décisions</a:t>
            </a:r>
          </a:p>
        </p:txBody>
      </p:sp>
      <p:sp>
        <p:nvSpPr>
          <p:cNvPr id="20" name="TextBox 20">
            <a:extLst>
              <a:ext uri="{FF2B5EF4-FFF2-40B4-BE49-F238E27FC236}">
                <a16:creationId xmlns:a16="http://schemas.microsoft.com/office/drawing/2014/main" id="{DE06B50B-18E7-485F-B758-8E129AE29DC6}"/>
              </a:ext>
            </a:extLst>
          </p:cNvPr>
          <p:cNvSpPr txBox="1"/>
          <p:nvPr/>
        </p:nvSpPr>
        <p:spPr>
          <a:xfrm>
            <a:off x="8343900" y="2209800"/>
            <a:ext cx="2819400" cy="190500"/>
          </a:xfrm>
        </p:spPr>
        <p:txBody>
          <a:bodyPr wrap="square" rtlCol="0" lIns="0" tIns="0" rIns="0" bIns="0" anchor="t"/>
          <a:lstStyle/>
          <a:p>
            <a:pPr algn="l"/>
            <a:r>
              <a:rPr sz="1100" b="1">
                <a:solidFill>
                  <a:srgbClr val="00A8B5"/>
                </a:solidFill>
                <a:latin typeface="Arial"/>
                <a:ea typeface="Arial"/>
              </a:rPr>
              <a:t>DÉCLENCHEUR</a:t>
            </a:r>
          </a:p>
        </p:txBody>
      </p:sp>
      <p:sp>
        <p:nvSpPr>
          <p:cNvPr id="21" name="TextBox 21">
            <a:extLst>
              <a:ext uri="{FF2B5EF4-FFF2-40B4-BE49-F238E27FC236}">
                <a16:creationId xmlns:a16="http://schemas.microsoft.com/office/drawing/2014/main" id="{00D15B6E-895A-4C43-93F8-9224F23DCF1F}"/>
              </a:ext>
            </a:extLst>
          </p:cNvPr>
          <p:cNvSpPr txBox="1"/>
          <p:nvPr/>
        </p:nvSpPr>
        <p:spPr>
          <a:xfrm>
            <a:off x="8343900" y="2419350"/>
            <a:ext cx="2819400" cy="457200"/>
          </a:xfrm>
        </p:spPr>
        <p:txBody>
          <a:bodyPr wrap="square" rtlCol="0" lIns="0" tIns="0" rIns="0" bIns="0" anchor="t"/>
          <a:lstStyle/>
          <a:p>
            <a:pPr algn="l">
              <a:lnSpc>
                <a:spcPct val="118000"/>
              </a:lnSpc>
            </a:pPr>
            <a:r>
              <a:rPr sz="1250">
                <a:solidFill>
                  <a:srgbClr val="12233A"/>
                </a:solidFill>
                <a:latin typeface="Arial"/>
                <a:ea typeface="Arial"/>
              </a:rPr>
              <a:t>Entrée en TECHNICAL_TEST, puis avis du manager.</a:t>
            </a:r>
          </a:p>
        </p:txBody>
      </p:sp>
      <p:sp>
        <p:nvSpPr>
          <p:cNvPr id="22" name="TextBox 22">
            <a:extLst>
              <a:ext uri="{FF2B5EF4-FFF2-40B4-BE49-F238E27FC236}">
                <a16:creationId xmlns:a16="http://schemas.microsoft.com/office/drawing/2014/main" id="{9E209F73-C33A-4A33-BB1D-EDBA6DA557D9}"/>
              </a:ext>
            </a:extLst>
          </p:cNvPr>
          <p:cNvSpPr txBox="1"/>
          <p:nvPr/>
        </p:nvSpPr>
        <p:spPr>
          <a:xfrm>
            <a:off x="8343900" y="2914650"/>
            <a:ext cx="2819400" cy="190500"/>
          </a:xfrm>
        </p:spPr>
        <p:txBody>
          <a:bodyPr wrap="square" rtlCol="0" lIns="0" tIns="0" rIns="0" bIns="0" anchor="t"/>
          <a:lstStyle/>
          <a:p>
            <a:pPr algn="l"/>
            <a:r>
              <a:rPr sz="1100" b="1">
                <a:solidFill>
                  <a:srgbClr val="00A8B5"/>
                </a:solidFill>
                <a:latin typeface="Arial"/>
                <a:ea typeface="Arial"/>
              </a:rPr>
              <a:t>CE QU'IL FAIT</a:t>
            </a:r>
          </a:p>
        </p:txBody>
      </p:sp>
      <p:sp>
        <p:nvSpPr>
          <p:cNvPr id="23" name="TextBox 23">
            <a:extLst>
              <a:ext uri="{FF2B5EF4-FFF2-40B4-BE49-F238E27FC236}">
                <a16:creationId xmlns:a16="http://schemas.microsoft.com/office/drawing/2014/main" id="{C09A65DF-7331-4D7D-875A-2AAE7E6F0323}"/>
              </a:ext>
            </a:extLst>
          </p:cNvPr>
          <p:cNvSpPr txBox="1"/>
          <p:nvPr/>
        </p:nvSpPr>
        <p:spPr>
          <a:xfrm>
            <a:off x="8343900" y="3124200"/>
            <a:ext cx="2819400" cy="1809750"/>
          </a:xfrm>
        </p:spPr>
        <p:txBody>
          <a:bodyPr wrap="square" rtlCol="0" lIns="0" tIns="0" rIns="0" bIns="0" anchor="t"/>
          <a:lstStyle/>
          <a:p>
            <a:pPr algn="l">
              <a:lnSpc>
                <a:spcPct val="118000"/>
              </a:lnSpc>
            </a:pPr>
            <a:r>
              <a:rPr sz="1300">
                <a:solidFill>
                  <a:srgbClr val="12233A"/>
                </a:solidFill>
                <a:latin typeface="Arial"/>
                <a:ea typeface="Arial"/>
              </a:rPr>
              <a:t>Résout la destination puis la gèle sur le dossier : manager désigné de l'offre, à défaut département, puis famille métier. Un e-mail par destinataire, avis transmis au RH, convocation ou refus après contre-signature.</a:t>
            </a:r>
          </a:p>
        </p:txBody>
      </p:sp>
      <p:sp>
        <p:nvSpPr>
          <p:cNvPr id="24" name="Shape 24">
            <a:extLst>
              <a:ext uri="{FF2B5EF4-FFF2-40B4-BE49-F238E27FC236}">
                <a16:creationId xmlns:a16="http://schemas.microsoft.com/office/drawing/2014/main" id="{AD875E62-9AE1-4EFB-8641-7741F5FCFA02}"/>
              </a:ext>
            </a:extLst>
          </p:cNvPr>
          <p:cNvSpPr/>
          <p:nvPr/>
        </p:nvSpPr>
        <p:spPr>
          <a:xfrm>
            <a:off x="762000" y="5391150"/>
            <a:ext cx="10668000" cy="838200"/>
          </a:xfrm>
          <a:prstGeom prst="roundRect">
            <a:avLst/>
          </a:prstGeom>
          <a:solidFill>
            <a:srgbClr val="E8F0F9"/>
          </a:solidFill>
        </p:spPr>
        <p:txBody>
          <a:bodyPr wrap="square" rtlCol="0"/>
          <a:lstStyle/>
          <a:p>
            <a:r>
              <a:rPr/>
              <a:t/>
            </a:r>
          </a:p>
        </p:txBody>
      </p:sp>
      <p:sp>
        <p:nvSpPr>
          <p:cNvPr id="25" name="TextBox 25">
            <a:extLst>
              <a:ext uri="{FF2B5EF4-FFF2-40B4-BE49-F238E27FC236}">
                <a16:creationId xmlns:a16="http://schemas.microsoft.com/office/drawing/2014/main" id="{054290B3-A02E-4A5F-82C0-64D325383551}"/>
              </a:ext>
            </a:extLst>
          </p:cNvPr>
          <p:cNvSpPr txBox="1"/>
          <p:nvPr/>
        </p:nvSpPr>
        <p:spPr>
          <a:xfrm>
            <a:off x="1066800" y="5524500"/>
            <a:ext cx="10058400" cy="647700"/>
          </a:xfrm>
        </p:spPr>
        <p:txBody>
          <a:bodyPr wrap="square" rtlCol="0" lIns="0" tIns="0" rIns="0" bIns="0" anchor="t"/>
          <a:lstStyle/>
          <a:p>
            <a:pPr algn="l">
              <a:lnSpc>
                <a:spcPct val="118000"/>
              </a:lnSpc>
            </a:pPr>
            <a:r>
              <a:rPr sz="1300">
                <a:solidFill>
                  <a:srgbClr val="12233A"/>
                </a:solidFill>
                <a:latin typeface="Arial"/>
                <a:ea typeface="Arial"/>
              </a:rPr>
              <a:t>Fiabilité des appels sortants : chaque événement est d'abord écrit dans une table outbox avec une clé propre à chaque destinataire, repris au bout de cinq secondes si n8n est indisponible, puis envoyé avec cinq tentatives au plus.</a:t>
            </a:r>
          </a:p>
        </p:txBody>
      </p:sp>
      <p:sp>
        <p:nvSpPr>
          <p:cNvPr id="26" name="TextBox 26">
            <a:extLst>
              <a:ext uri="{FF2B5EF4-FFF2-40B4-BE49-F238E27FC236}">
                <a16:creationId xmlns:a16="http://schemas.microsoft.com/office/drawing/2014/main" id="{507B034D-D309-42E0-9788-3C425EDCF8AC}"/>
              </a:ext>
            </a:extLst>
          </p:cNvPr>
          <p:cNvSpPr txBox="1"/>
          <p:nvPr/>
        </p:nvSpPr>
        <p:spPr>
          <a:xfrm>
            <a:off x="762000" y="6515100"/>
            <a:ext cx="3810000" cy="190500"/>
          </a:xfrm>
        </p:spPr>
        <p:txBody>
          <a:bodyPr wrap="square" rtlCol="0" lIns="0" tIns="0" rIns="0" bIns="0" anchor="t"/>
          <a:lstStyle/>
          <a:p>
            <a:pPr algn="l"/>
            <a:r>
              <a:rPr sz="1050">
                <a:solidFill>
                  <a:srgbClr val="9AA9BC"/>
                </a:solidFill>
                <a:latin typeface="Arial"/>
                <a:ea typeface="Arial"/>
              </a:rPr>
              <a:t>JOB4YOU - Soutenance PFE</a:t>
            </a:r>
          </a:p>
        </p:txBody>
      </p:sp>
      <p:sp>
        <p:nvSpPr>
          <p:cNvPr id="27" name="TextBox 27">
            <a:extLst>
              <a:ext uri="{FF2B5EF4-FFF2-40B4-BE49-F238E27FC236}">
                <a16:creationId xmlns:a16="http://schemas.microsoft.com/office/drawing/2014/main" id="{0950638D-9718-4105-BD1F-9A1E41B862F2}"/>
              </a:ext>
            </a:extLst>
          </p:cNvPr>
          <p:cNvSpPr txBox="1"/>
          <p:nvPr/>
        </p:nvSpPr>
        <p:spPr>
          <a:xfrm>
            <a:off x="10858500" y="6515100"/>
            <a:ext cx="571500" cy="190500"/>
          </a:xfrm>
        </p:spPr>
        <p:txBody>
          <a:bodyPr wrap="square" rtlCol="0" lIns="0" tIns="0" rIns="0" bIns="0" anchor="t"/>
          <a:lstStyle/>
          <a:p>
            <a:pPr algn="r"/>
            <a:r>
              <a:rPr sz="1050">
                <a:solidFill>
                  <a:srgbClr val="9AA9BC"/>
                </a:solidFill>
                <a:latin typeface="Arial"/>
                <a:ea typeface="Arial"/>
              </a:rPr>
              <a:t>12 / 19</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id="{B7480F9B-5497-4D76-BA69-A9BED25FAC77}"/>
              </a:ext>
            </a:extLst>
          </p:cNvPr>
          <p:cNvSpPr txBox="1"/>
          <p:nvPr/>
        </p:nvSpPr>
        <p:spPr>
          <a:xfrm>
            <a:off x="762000" y="400050"/>
            <a:ext cx="7620000" cy="209550"/>
          </a:xfrm>
        </p:spPr>
        <p:txBody>
          <a:bodyPr wrap="square" rtlCol="0" lIns="0" tIns="0" rIns="0" bIns="0" anchor="t"/>
          <a:lstStyle/>
          <a:p>
            <a:pPr algn="l"/>
            <a:r>
              <a:rPr sz="1200" b="1">
                <a:solidFill>
                  <a:srgbClr val="00A8B5"/>
                </a:solidFill>
                <a:latin typeface="Arial"/>
                <a:ea typeface="Arial"/>
              </a:rPr>
              <a:t>05 · AUTOMATISATION</a:t>
            </a:r>
          </a:p>
        </p:txBody>
      </p:sp>
      <p:sp>
        <p:nvSpPr>
          <p:cNvPr id="4" name="TextBox 4">
            <a:extLst>
              <a:ext uri="{FF2B5EF4-FFF2-40B4-BE49-F238E27FC236}">
                <a16:creationId xmlns:a16="http://schemas.microsoft.com/office/drawing/2014/main" id="{89B9AAD0-15AB-492C-A563-69EBB3303DC3}"/>
              </a:ext>
            </a:extLst>
          </p:cNvPr>
          <p:cNvSpPr txBox="1"/>
          <p:nvPr/>
        </p:nvSpPr>
        <p:spPr>
          <a:xfrm>
            <a:off x="762000" y="609600"/>
            <a:ext cx="9525000" cy="476250"/>
          </a:xfrm>
        </p:spPr>
        <p:txBody>
          <a:bodyPr wrap="square" rtlCol="0" lIns="0" tIns="0" rIns="0" bIns="0" anchor="t"/>
          <a:lstStyle/>
          <a:p>
            <a:pPr algn="l"/>
            <a:r>
              <a:rPr sz="3000" b="1">
                <a:solidFill>
                  <a:srgbClr val="12233A"/>
                </a:solidFill>
                <a:latin typeface="Arial"/>
                <a:ea typeface="Arial"/>
              </a:rPr>
              <a:t>Scoring IA : Cohere dans le processus</a:t>
            </a:r>
          </a:p>
        </p:txBody>
      </p:sp>
      <p:sp>
        <p:nvSpPr>
          <p:cNvPr id="5" name="TextBox 5">
            <a:extLst>
              <a:ext uri="{FF2B5EF4-FFF2-40B4-BE49-F238E27FC236}">
                <a16:creationId xmlns:a16="http://schemas.microsoft.com/office/drawing/2014/main" id="{2433E660-BE7B-4B5D-8C6A-A8FC2860A4D4}"/>
              </a:ext>
            </a:extLst>
          </p:cNvPr>
          <p:cNvSpPr txBox="1"/>
          <p:nvPr/>
        </p:nvSpPr>
        <p:spPr>
          <a:xfrm>
            <a:off x="762000" y="1066800"/>
            <a:ext cx="10668000" cy="247650"/>
          </a:xfrm>
        </p:spPr>
        <p:txBody>
          <a:bodyPr wrap="square" rtlCol="0" lIns="0" tIns="0" rIns="0" bIns="0" anchor="t"/>
          <a:lstStyle/>
          <a:p>
            <a:pPr algn="l"/>
            <a:r>
              <a:rPr sz="1400">
                <a:solidFill>
                  <a:srgbClr val="5A6B80"/>
                </a:solidFill>
                <a:latin typeface="Arial"/>
                <a:ea typeface="Arial"/>
              </a:rPr>
              <a:t>C'est le back-end qui interroge l'API de Cohere, calcule le score et le persiste ; l'agent n8n se contente de déclencher l'analyse.</a:t>
            </a:r>
          </a:p>
        </p:txBody>
      </p:sp>
      <p:sp>
        <p:nvSpPr>
          <p:cNvPr id="6" name="TextBox 6">
            <a:extLst>
              <a:ext uri="{FF2B5EF4-FFF2-40B4-BE49-F238E27FC236}">
                <a16:creationId xmlns:a16="http://schemas.microsoft.com/office/drawing/2014/main" id="{ED45025B-453D-4A60-B565-59E3CF67434D}"/>
              </a:ext>
            </a:extLst>
          </p:cNvPr>
          <p:cNvSpPr txBox="1"/>
          <p:nvPr/>
        </p:nvSpPr>
        <p:spPr>
          <a:xfrm>
            <a:off x="762000" y="1428750"/>
            <a:ext cx="4953000" cy="2786380"/>
          </a:xfrm>
        </p:spPr>
        <p:txBody>
          <a:bodyPr wrap="square" rtlCol="0" lIns="0" tIns="0" rIns="0" bIns="0" anchor="t"/>
          <a:lstStyle/>
          <a:p>
            <a:pPr marL="228600" indent="-228600" algn="l">
              <a:lnSpc>
                <a:spcPct val="115000"/>
              </a:lnSpc>
              <a:spcAft>
                <a:spcPts val="1000"/>
              </a:spcAft>
              <a:buChar char="•"/>
            </a:pPr>
            <a:r>
              <a:rPr sz="1300">
                <a:solidFill>
                  <a:srgbClr val="12233A"/>
                </a:solidFill>
                <a:latin typeface="Arial"/>
                <a:ea typeface="Arial"/>
              </a:rPr>
              <a:t>Trois dimensions notées : technique, communication, adéquation à la séniorité.</a:t>
            </a:r>
          </a:p>
          <a:p>
            <a:pPr marL="228600" indent="-228600" algn="l">
              <a:lnSpc>
                <a:spcPct val="115000"/>
              </a:lnSpc>
              <a:spcAft>
                <a:spcPts val="1000"/>
              </a:spcAft>
              <a:buChar char="•"/>
            </a:pPr>
            <a:r>
              <a:rPr sz="1300">
                <a:solidFill>
                  <a:srgbClr val="12233A"/>
                </a:solidFill>
                <a:latin typeface="Arial"/>
                <a:ea typeface="Arial"/>
              </a:rPr>
              <a:t>Pondérations portées par la famille de métier et le niveau de séniorité.</a:t>
            </a:r>
          </a:p>
          <a:p>
            <a:pPr marL="228600" indent="-228600" algn="l">
              <a:lnSpc>
                <a:spcPct val="115000"/>
              </a:lnSpc>
              <a:spcAft>
                <a:spcPts val="1000"/>
              </a:spcAft>
              <a:buChar char="•"/>
            </a:pPr>
            <a:r>
              <a:rPr sz="1300">
                <a:solidFill>
                  <a:srgbClr val="12233A"/>
                </a:solidFill>
                <a:latin typeface="Arial"/>
                <a:ea typeface="Arial"/>
              </a:rPr>
              <a:t>Score sur 100 : à partir de 60 le dossier passe en CV_REVIEWED, sinon AUTO_REJECTED.</a:t>
            </a:r>
          </a:p>
          <a:p>
            <a:pPr marL="228600" indent="-228600" algn="l">
              <a:lnSpc>
                <a:spcPct val="115000"/>
              </a:lnSpc>
              <a:spcAft>
                <a:spcPts val="1000"/>
              </a:spcAft>
              <a:buChar char="•"/>
            </a:pPr>
            <a:r>
              <a:rPr sz="1300">
                <a:solidFill>
                  <a:srgbClr val="12233A"/>
                </a:solidFill>
                <a:latin typeface="Arial"/>
                <a:ea typeface="Arial"/>
              </a:rPr>
              <a:t>Le RH peut surcharger le score : justification obligatoire, trace dans l'audit.</a:t>
            </a:r>
          </a:p>
          <a:p>
            <a:pPr marL="228600" indent="-228600" algn="l">
              <a:lnSpc>
                <a:spcPct val="115000"/>
              </a:lnSpc>
              <a:buChar char="•"/>
            </a:pPr>
            <a:r>
              <a:rPr sz="1300">
                <a:solidFill>
                  <a:srgbClr val="12233A"/>
                </a:solidFill>
                <a:latin typeface="Arial"/>
                <a:ea typeface="Arial"/>
              </a:rPr>
              <a:t>Le score hiérarchise les dossiers, il ne décide jamais l'embauche.</a:t>
            </a:r>
          </a:p>
        </p:txBody>
      </p:sp>
      <p:pic>
        <p:nvPicPr>
          <p:cNvPr id="7" name="Picture 7">
            <a:extLst>
              <a:ext uri="{FF2B5EF4-FFF2-40B4-BE49-F238E27FC236}">
                <a16:creationId xmlns:a16="http://schemas.microsoft.com/office/drawing/2014/main" id="{75A80C1F-FAC2-41A1-AFF4-42ED1BEF63F7}"/>
              </a:ext>
            </a:extLst>
          </p:cNvPr>
          <p:cNvPicPr/>
          <p:nvPr/>
        </p:nvPicPr>
        <p:blipFill>
          <a:blip r:embed="rId2"/>
          <a:stretch>
            <a:fillRect/>
          </a:stretch>
        </p:blipFill>
        <p:spPr>
          <a:xfrm>
            <a:off x="6153150" y="1409700"/>
            <a:ext cx="5276850" cy="2724150"/>
          </a:xfrm>
          <a:prstGeom prst="rect">
            <a:avLst/>
          </a:prstGeom>
        </p:spPr>
      </p:pic>
      <p:sp>
        <p:nvSpPr>
          <p:cNvPr id="8" name="TextBox 8">
            <a:extLst>
              <a:ext uri="{FF2B5EF4-FFF2-40B4-BE49-F238E27FC236}">
                <a16:creationId xmlns:a16="http://schemas.microsoft.com/office/drawing/2014/main" id="{E84D7CB8-F91C-4F39-850F-48F8C5946A37}"/>
              </a:ext>
            </a:extLst>
          </p:cNvPr>
          <p:cNvSpPr txBox="1"/>
          <p:nvPr/>
        </p:nvSpPr>
        <p:spPr>
          <a:xfrm>
            <a:off x="6153150" y="4191000"/>
            <a:ext cx="5276850" cy="190500"/>
          </a:xfrm>
        </p:spPr>
        <p:txBody>
          <a:bodyPr wrap="square" rtlCol="0" lIns="0" tIns="0" rIns="0" bIns="0" anchor="t"/>
          <a:lstStyle/>
          <a:p>
            <a:pPr algn="ctr"/>
            <a:r>
              <a:rPr sz="1150">
                <a:solidFill>
                  <a:srgbClr val="9AA9BC"/>
                </a:solidFill>
                <a:latin typeface="Arial"/>
                <a:ea typeface="Arial"/>
              </a:rPr>
              <a:t>Séquence d'analyse IA (chapitre 3)</a:t>
            </a:r>
          </a:p>
        </p:txBody>
      </p:sp>
      <p:sp>
        <p:nvSpPr>
          <p:cNvPr id="9" name="Shape 9">
            <a:extLst>
              <a:ext uri="{FF2B5EF4-FFF2-40B4-BE49-F238E27FC236}">
                <a16:creationId xmlns:a16="http://schemas.microsoft.com/office/drawing/2014/main" id="{23D5D34B-CA16-488F-BC94-EDB59D9E6396}"/>
              </a:ext>
            </a:extLst>
          </p:cNvPr>
          <p:cNvSpPr/>
          <p:nvPr/>
        </p:nvSpPr>
        <p:spPr>
          <a:xfrm>
            <a:off x="762000" y="4514850"/>
            <a:ext cx="3352800" cy="914400"/>
          </a:xfrm>
          <a:prstGeom prst="roundRect">
            <a:avLst/>
          </a:prstGeom>
          <a:solidFill>
            <a:srgbClr val="FFFFFF"/>
          </a:solidFill>
          <a:ln w="12700">
            <a:solidFill>
              <a:srgbClr val="D8E0EA"/>
            </a:solidFill>
          </a:ln>
        </p:spPr>
        <p:txBody>
          <a:bodyPr wrap="square" rtlCol="0"/>
          <a:lstStyle/>
          <a:p>
            <a:r>
              <a:rPr/>
              <a:t/>
            </a:r>
          </a:p>
        </p:txBody>
      </p:sp>
      <p:sp>
        <p:nvSpPr>
          <p:cNvPr id="10" name="TextBox 10">
            <a:extLst>
              <a:ext uri="{FF2B5EF4-FFF2-40B4-BE49-F238E27FC236}">
                <a16:creationId xmlns:a16="http://schemas.microsoft.com/office/drawing/2014/main" id="{EC62C26B-C4DA-4723-BFE3-511954428775}"/>
              </a:ext>
            </a:extLst>
          </p:cNvPr>
          <p:cNvSpPr txBox="1"/>
          <p:nvPr/>
        </p:nvSpPr>
        <p:spPr>
          <a:xfrm>
            <a:off x="1028700" y="4686300"/>
            <a:ext cx="2819400" cy="190500"/>
          </a:xfrm>
        </p:spPr>
        <p:txBody>
          <a:bodyPr wrap="square" rtlCol="0" lIns="0" tIns="0" rIns="0" bIns="0" anchor="t"/>
          <a:lstStyle/>
          <a:p>
            <a:pPr algn="l"/>
            <a:r>
              <a:rPr sz="1100" b="1">
                <a:solidFill>
                  <a:srgbClr val="00A8B5"/>
                </a:solidFill>
                <a:latin typeface="Arial"/>
                <a:ea typeface="Arial"/>
              </a:rPr>
              <a:t>MODÈLE UTILISÉ</a:t>
            </a:r>
          </a:p>
        </p:txBody>
      </p:sp>
      <p:sp>
        <p:nvSpPr>
          <p:cNvPr id="11" name="TextBox 11">
            <a:extLst>
              <a:ext uri="{FF2B5EF4-FFF2-40B4-BE49-F238E27FC236}">
                <a16:creationId xmlns:a16="http://schemas.microsoft.com/office/drawing/2014/main" id="{AA2FB62A-F74D-4ED5-9234-219DCD94F334}"/>
              </a:ext>
            </a:extLst>
          </p:cNvPr>
          <p:cNvSpPr txBox="1"/>
          <p:nvPr/>
        </p:nvSpPr>
        <p:spPr>
          <a:xfrm>
            <a:off x="1028700" y="4914900"/>
            <a:ext cx="2819400" cy="457200"/>
          </a:xfrm>
        </p:spPr>
        <p:txBody>
          <a:bodyPr wrap="square" rtlCol="0" lIns="0" tIns="0" rIns="0" bIns="0" anchor="t"/>
          <a:lstStyle/>
          <a:p>
            <a:pPr algn="l">
              <a:lnSpc>
                <a:spcPct val="118000"/>
              </a:lnSpc>
            </a:pPr>
            <a:r>
              <a:rPr sz="1300">
                <a:solidFill>
                  <a:srgbClr val="12233A"/>
                </a:solidFill>
                <a:latin typeface="Arial"/>
                <a:ea typeface="Arial"/>
              </a:rPr>
              <a:t>command-a-03-2025, API de chat v2</a:t>
            </a:r>
          </a:p>
        </p:txBody>
      </p:sp>
      <p:sp>
        <p:nvSpPr>
          <p:cNvPr id="12" name="Shape 12">
            <a:extLst>
              <a:ext uri="{FF2B5EF4-FFF2-40B4-BE49-F238E27FC236}">
                <a16:creationId xmlns:a16="http://schemas.microsoft.com/office/drawing/2014/main" id="{24C328EA-FDD6-45BA-832A-CB802EB3F794}"/>
              </a:ext>
            </a:extLst>
          </p:cNvPr>
          <p:cNvSpPr/>
          <p:nvPr/>
        </p:nvSpPr>
        <p:spPr>
          <a:xfrm>
            <a:off x="4419600" y="4514850"/>
            <a:ext cx="3352800" cy="914400"/>
          </a:xfrm>
          <a:prstGeom prst="roundRect">
            <a:avLst/>
          </a:prstGeom>
          <a:solidFill>
            <a:srgbClr val="FFFFFF"/>
          </a:solidFill>
          <a:ln w="12700">
            <a:solidFill>
              <a:srgbClr val="D8E0EA"/>
            </a:solidFill>
          </a:ln>
        </p:spPr>
        <p:txBody>
          <a:bodyPr wrap="square" rtlCol="0"/>
          <a:lstStyle/>
          <a:p>
            <a:r>
              <a:rPr/>
              <a:t/>
            </a:r>
          </a:p>
        </p:txBody>
      </p:sp>
      <p:sp>
        <p:nvSpPr>
          <p:cNvPr id="13" name="TextBox 13">
            <a:extLst>
              <a:ext uri="{FF2B5EF4-FFF2-40B4-BE49-F238E27FC236}">
                <a16:creationId xmlns:a16="http://schemas.microsoft.com/office/drawing/2014/main" id="{5725F6F2-489A-4723-B22A-AE3BE71E0D3C}"/>
              </a:ext>
            </a:extLst>
          </p:cNvPr>
          <p:cNvSpPr txBox="1"/>
          <p:nvPr/>
        </p:nvSpPr>
        <p:spPr>
          <a:xfrm>
            <a:off x="4686300" y="4686300"/>
            <a:ext cx="2819400" cy="190500"/>
          </a:xfrm>
        </p:spPr>
        <p:txBody>
          <a:bodyPr wrap="square" rtlCol="0" lIns="0" tIns="0" rIns="0" bIns="0" anchor="t"/>
          <a:lstStyle/>
          <a:p>
            <a:pPr algn="l"/>
            <a:r>
              <a:rPr sz="1100" b="1">
                <a:solidFill>
                  <a:srgbClr val="00A8B5"/>
                </a:solidFill>
                <a:latin typeface="Arial"/>
                <a:ea typeface="Arial"/>
              </a:rPr>
              <a:t>SOURCE DU SCORE</a:t>
            </a:r>
          </a:p>
        </p:txBody>
      </p:sp>
      <p:sp>
        <p:nvSpPr>
          <p:cNvPr id="14" name="TextBox 14">
            <a:extLst>
              <a:ext uri="{FF2B5EF4-FFF2-40B4-BE49-F238E27FC236}">
                <a16:creationId xmlns:a16="http://schemas.microsoft.com/office/drawing/2014/main" id="{A4E19F1E-3130-4892-9054-49CD1A0868D7}"/>
              </a:ext>
            </a:extLst>
          </p:cNvPr>
          <p:cNvSpPr txBox="1"/>
          <p:nvPr/>
        </p:nvSpPr>
        <p:spPr>
          <a:xfrm>
            <a:off x="4686300" y="4914900"/>
            <a:ext cx="2819400" cy="467563"/>
          </a:xfrm>
        </p:spPr>
        <p:txBody>
          <a:bodyPr wrap="square" rtlCol="0" lIns="0" tIns="0" rIns="0" bIns="0" anchor="t"/>
          <a:lstStyle/>
          <a:p>
            <a:pPr algn="l">
              <a:lnSpc>
                <a:spcPct val="118000"/>
              </a:lnSpc>
            </a:pPr>
            <a:r>
              <a:rPr sz="1300">
                <a:solidFill>
                  <a:srgbClr val="12233A"/>
                </a:solidFill>
                <a:latin typeface="Arial"/>
                <a:ea typeface="Arial"/>
              </a:rPr>
              <a:t>COHERE quand l'API répond, SIMULATED sinon</a:t>
            </a:r>
          </a:p>
        </p:txBody>
      </p:sp>
      <p:sp>
        <p:nvSpPr>
          <p:cNvPr id="15" name="Shape 15">
            <a:extLst>
              <a:ext uri="{FF2B5EF4-FFF2-40B4-BE49-F238E27FC236}">
                <a16:creationId xmlns:a16="http://schemas.microsoft.com/office/drawing/2014/main" id="{05E8D7E0-F7C3-49A4-B1C0-B419D5B0FAFB}"/>
              </a:ext>
            </a:extLst>
          </p:cNvPr>
          <p:cNvSpPr/>
          <p:nvPr/>
        </p:nvSpPr>
        <p:spPr>
          <a:xfrm>
            <a:off x="8077200" y="4514850"/>
            <a:ext cx="3352800" cy="914400"/>
          </a:xfrm>
          <a:prstGeom prst="roundRect">
            <a:avLst/>
          </a:prstGeom>
          <a:solidFill>
            <a:srgbClr val="FFFFFF"/>
          </a:solidFill>
          <a:ln w="12700">
            <a:solidFill>
              <a:srgbClr val="D8E0EA"/>
            </a:solidFill>
          </a:ln>
        </p:spPr>
        <p:txBody>
          <a:bodyPr wrap="square" rtlCol="0"/>
          <a:lstStyle/>
          <a:p>
            <a:r>
              <a:rPr/>
              <a:t/>
            </a:r>
          </a:p>
        </p:txBody>
      </p:sp>
      <p:sp>
        <p:nvSpPr>
          <p:cNvPr id="16" name="TextBox 16">
            <a:extLst>
              <a:ext uri="{FF2B5EF4-FFF2-40B4-BE49-F238E27FC236}">
                <a16:creationId xmlns:a16="http://schemas.microsoft.com/office/drawing/2014/main" id="{4917F836-568B-4D7B-9582-21B66CE4A224}"/>
              </a:ext>
            </a:extLst>
          </p:cNvPr>
          <p:cNvSpPr txBox="1"/>
          <p:nvPr/>
        </p:nvSpPr>
        <p:spPr>
          <a:xfrm>
            <a:off x="8343900" y="4686300"/>
            <a:ext cx="2819400" cy="190500"/>
          </a:xfrm>
        </p:spPr>
        <p:txBody>
          <a:bodyPr wrap="square" rtlCol="0" lIns="0" tIns="0" rIns="0" bIns="0" anchor="t"/>
          <a:lstStyle/>
          <a:p>
            <a:pPr algn="l"/>
            <a:r>
              <a:rPr sz="1100" b="1">
                <a:solidFill>
                  <a:srgbClr val="00A8B5"/>
                </a:solidFill>
                <a:latin typeface="Arial"/>
                <a:ea typeface="Arial"/>
              </a:rPr>
              <a:t>MODE DÉGRADÉ</a:t>
            </a:r>
          </a:p>
        </p:txBody>
      </p:sp>
      <p:sp>
        <p:nvSpPr>
          <p:cNvPr id="17" name="TextBox 17">
            <a:extLst>
              <a:ext uri="{FF2B5EF4-FFF2-40B4-BE49-F238E27FC236}">
                <a16:creationId xmlns:a16="http://schemas.microsoft.com/office/drawing/2014/main" id="{8B6545C4-4E79-4E98-A7A3-308160472737}"/>
              </a:ext>
            </a:extLst>
          </p:cNvPr>
          <p:cNvSpPr txBox="1"/>
          <p:nvPr/>
        </p:nvSpPr>
        <p:spPr>
          <a:xfrm>
            <a:off x="8343900" y="4914900"/>
            <a:ext cx="2819400" cy="467563"/>
          </a:xfrm>
        </p:spPr>
        <p:txBody>
          <a:bodyPr wrap="square" rtlCol="0" lIns="0" tIns="0" rIns="0" bIns="0" anchor="t"/>
          <a:lstStyle/>
          <a:p>
            <a:pPr algn="l">
              <a:lnSpc>
                <a:spcPct val="118000"/>
              </a:lnSpc>
            </a:pPr>
            <a:r>
              <a:rPr sz="1300">
                <a:solidFill>
                  <a:srgbClr val="12233A"/>
                </a:solidFill>
                <a:latin typeface="Arial"/>
                <a:ea typeface="Arial"/>
              </a:rPr>
              <a:t>Heuristique locale : mots-clés et structure du CV</a:t>
            </a:r>
          </a:p>
        </p:txBody>
      </p:sp>
      <p:sp>
        <p:nvSpPr>
          <p:cNvPr id="18" name="TextBox 18">
            <a:extLst>
              <a:ext uri="{FF2B5EF4-FFF2-40B4-BE49-F238E27FC236}">
                <a16:creationId xmlns:a16="http://schemas.microsoft.com/office/drawing/2014/main" id="{CDC0B3BB-A672-449F-9073-8882D57A196E}"/>
              </a:ext>
            </a:extLst>
          </p:cNvPr>
          <p:cNvSpPr txBox="1"/>
          <p:nvPr/>
        </p:nvSpPr>
        <p:spPr>
          <a:xfrm>
            <a:off x="762000" y="5600700"/>
            <a:ext cx="10668000" cy="457200"/>
          </a:xfrm>
        </p:spPr>
        <p:txBody>
          <a:bodyPr wrap="square" rtlCol="0" lIns="0" tIns="0" rIns="0" bIns="0" anchor="t"/>
          <a:lstStyle/>
          <a:p>
            <a:pPr algn="l">
              <a:lnSpc>
                <a:spcPct val="118000"/>
              </a:lnSpc>
            </a:pPr>
            <a:r>
              <a:rPr sz="1250">
                <a:solidFill>
                  <a:srgbClr val="5A6B80"/>
                </a:solidFill>
                <a:latin typeface="Arial"/>
                <a:ea typeface="Arial"/>
              </a:rPr>
              <a:t>La source du score est conservée en base : un score simulé reste identifiable comme tel, et l'audit permet de distinguer ce qui vient du modèle de ce qui vient d'une décision humaine.</a:t>
            </a:r>
          </a:p>
        </p:txBody>
      </p:sp>
      <p:sp>
        <p:nvSpPr>
          <p:cNvPr id="19" name="TextBox 19">
            <a:extLst>
              <a:ext uri="{FF2B5EF4-FFF2-40B4-BE49-F238E27FC236}">
                <a16:creationId xmlns:a16="http://schemas.microsoft.com/office/drawing/2014/main" id="{738E1CDA-BDE1-49BA-8D4C-5B37979B3280}"/>
              </a:ext>
            </a:extLst>
          </p:cNvPr>
          <p:cNvSpPr txBox="1"/>
          <p:nvPr/>
        </p:nvSpPr>
        <p:spPr>
          <a:xfrm>
            <a:off x="762000" y="6515100"/>
            <a:ext cx="3810000" cy="190500"/>
          </a:xfrm>
        </p:spPr>
        <p:txBody>
          <a:bodyPr wrap="square" rtlCol="0" lIns="0" tIns="0" rIns="0" bIns="0" anchor="t"/>
          <a:lstStyle/>
          <a:p>
            <a:pPr algn="l"/>
            <a:r>
              <a:rPr sz="1050">
                <a:solidFill>
                  <a:srgbClr val="9AA9BC"/>
                </a:solidFill>
                <a:latin typeface="Arial"/>
                <a:ea typeface="Arial"/>
              </a:rPr>
              <a:t>JOB4YOU - Soutenance PFE</a:t>
            </a:r>
          </a:p>
        </p:txBody>
      </p:sp>
      <p:sp>
        <p:nvSpPr>
          <p:cNvPr id="20" name="TextBox 20">
            <a:extLst>
              <a:ext uri="{FF2B5EF4-FFF2-40B4-BE49-F238E27FC236}">
                <a16:creationId xmlns:a16="http://schemas.microsoft.com/office/drawing/2014/main" id="{201FCF4B-C336-47D9-A525-0149C569C3B4}"/>
              </a:ext>
            </a:extLst>
          </p:cNvPr>
          <p:cNvSpPr txBox="1"/>
          <p:nvPr/>
        </p:nvSpPr>
        <p:spPr>
          <a:xfrm>
            <a:off x="10858500" y="6515100"/>
            <a:ext cx="571500" cy="190500"/>
          </a:xfrm>
        </p:spPr>
        <p:txBody>
          <a:bodyPr wrap="square" rtlCol="0" lIns="0" tIns="0" rIns="0" bIns="0" anchor="t"/>
          <a:lstStyle/>
          <a:p>
            <a:pPr algn="r"/>
            <a:r>
              <a:rPr sz="1050">
                <a:solidFill>
                  <a:srgbClr val="9AA9BC"/>
                </a:solidFill>
                <a:latin typeface="Arial"/>
                <a:ea typeface="Arial"/>
              </a:rPr>
              <a:t>13 / 19</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id="{8D7C2FB7-B2CC-40E9-BBA0-B2620499CC8A}"/>
              </a:ext>
            </a:extLst>
          </p:cNvPr>
          <p:cNvSpPr txBox="1"/>
          <p:nvPr/>
        </p:nvSpPr>
        <p:spPr>
          <a:xfrm>
            <a:off x="762000" y="400050"/>
            <a:ext cx="7620000" cy="209550"/>
          </a:xfrm>
        </p:spPr>
        <p:txBody>
          <a:bodyPr wrap="square" rtlCol="0" lIns="0" tIns="0" rIns="0" bIns="0" anchor="t"/>
          <a:lstStyle/>
          <a:p>
            <a:pPr algn="l"/>
            <a:r>
              <a:rPr sz="1200" b="1">
                <a:solidFill>
                  <a:srgbClr val="00A8B5"/>
                </a:solidFill>
                <a:latin typeface="Arial"/>
                <a:ea typeface="Arial"/>
              </a:rPr>
              <a:t>05 · AUTOMATISATION</a:t>
            </a:r>
          </a:p>
        </p:txBody>
      </p:sp>
      <p:sp>
        <p:nvSpPr>
          <p:cNvPr id="4" name="TextBox 4">
            <a:extLst>
              <a:ext uri="{FF2B5EF4-FFF2-40B4-BE49-F238E27FC236}">
                <a16:creationId xmlns:a16="http://schemas.microsoft.com/office/drawing/2014/main" id="{F3F476A3-5A95-4BA7-B2CD-7A2EB44831A4}"/>
              </a:ext>
            </a:extLst>
          </p:cNvPr>
          <p:cNvSpPr txBox="1"/>
          <p:nvPr/>
        </p:nvSpPr>
        <p:spPr>
          <a:xfrm>
            <a:off x="762000" y="609600"/>
            <a:ext cx="9525000" cy="476250"/>
          </a:xfrm>
        </p:spPr>
        <p:txBody>
          <a:bodyPr wrap="square" rtlCol="0" lIns="0" tIns="0" rIns="0" bIns="0" anchor="t"/>
          <a:lstStyle/>
          <a:p>
            <a:pPr algn="l"/>
            <a:r>
              <a:rPr sz="3000" b="1">
                <a:solidFill>
                  <a:srgbClr val="12233A"/>
                </a:solidFill>
                <a:latin typeface="Arial"/>
                <a:ea typeface="Arial"/>
              </a:rPr>
              <a:t>Un assistant conversationnel côté candidat</a:t>
            </a:r>
          </a:p>
        </p:txBody>
      </p:sp>
      <p:sp>
        <p:nvSpPr>
          <p:cNvPr id="5" name="TextBox 5">
            <a:extLst>
              <a:ext uri="{FF2B5EF4-FFF2-40B4-BE49-F238E27FC236}">
                <a16:creationId xmlns:a16="http://schemas.microsoft.com/office/drawing/2014/main" id="{EBEC0B67-7EB7-4383-B088-818760C42CF6}"/>
              </a:ext>
            </a:extLst>
          </p:cNvPr>
          <p:cNvSpPr txBox="1"/>
          <p:nvPr/>
        </p:nvSpPr>
        <p:spPr>
          <a:xfrm>
            <a:off x="762000" y="1047750"/>
            <a:ext cx="7048500" cy="495300"/>
          </a:xfrm>
        </p:spPr>
        <p:txBody>
          <a:bodyPr wrap="square" rtlCol="0" lIns="0" tIns="0" rIns="0" bIns="0" anchor="t"/>
          <a:lstStyle/>
          <a:p>
            <a:pPr algn="l">
              <a:lnSpc>
                <a:spcPct val="115000"/>
              </a:lnSpc>
            </a:pPr>
            <a:r>
              <a:rPr sz="1400">
                <a:solidFill>
                  <a:srgbClr val="5A6B80"/>
                </a:solidFill>
                <a:latin typeface="Arial"/>
                <a:ea typeface="Arial"/>
              </a:rPr>
              <a:t>Le candidat peut poser des questions sur l'avancement de son dossier : l'assistant répond à partir des données réelles, sans en inventer.</a:t>
            </a:r>
          </a:p>
        </p:txBody>
      </p:sp>
      <p:sp>
        <p:nvSpPr>
          <p:cNvPr id="6" name="TextBox 6">
            <a:extLst>
              <a:ext uri="{FF2B5EF4-FFF2-40B4-BE49-F238E27FC236}">
                <a16:creationId xmlns:a16="http://schemas.microsoft.com/office/drawing/2014/main" id="{8CAE6EA6-435C-4BE3-9B49-8D7C6A51B47D}"/>
              </a:ext>
            </a:extLst>
          </p:cNvPr>
          <p:cNvSpPr txBox="1"/>
          <p:nvPr/>
        </p:nvSpPr>
        <p:spPr>
          <a:xfrm>
            <a:off x="762000" y="1619250"/>
            <a:ext cx="7048500" cy="1809750"/>
          </a:xfrm>
        </p:spPr>
        <p:txBody>
          <a:bodyPr wrap="square" rtlCol="0" lIns="0" tIns="0" rIns="0" bIns="0" anchor="t"/>
          <a:lstStyle/>
          <a:p>
            <a:pPr marL="228600" indent="-228600" algn="l">
              <a:lnSpc>
                <a:spcPct val="115000"/>
              </a:lnSpc>
              <a:spcAft>
                <a:spcPts val="1000"/>
              </a:spcAft>
              <a:buChar char="•"/>
            </a:pPr>
            <a:r>
              <a:rPr sz="1300">
                <a:solidFill>
                  <a:srgbClr val="12233A"/>
                </a:solidFill>
                <a:latin typeface="Arial"/>
                <a:ea typeface="Arial"/>
              </a:rPr>
              <a:t>Modèle servi par OpenRouter, retenu pour la phase de développement.</a:t>
            </a:r>
          </a:p>
          <a:p>
            <a:pPr marL="228600" indent="-228600" algn="l">
              <a:lnSpc>
                <a:spcPct val="115000"/>
              </a:lnSpc>
              <a:spcAft>
                <a:spcPts val="1000"/>
              </a:spcAft>
              <a:buChar char="•"/>
            </a:pPr>
            <a:r>
              <a:rPr sz="1300">
                <a:solidFill>
                  <a:srgbClr val="12233A"/>
                </a:solidFill>
                <a:latin typeface="Arial"/>
                <a:ea typeface="Arial"/>
              </a:rPr>
              <a:t>Point d'entrée protégé : le candidat doit être authentifié par jeton JWT.</a:t>
            </a:r>
          </a:p>
          <a:p>
            <a:pPr marL="228600" indent="-228600" algn="l">
              <a:lnSpc>
                <a:spcPct val="115000"/>
              </a:lnSpc>
              <a:spcAft>
                <a:spcPts val="1000"/>
              </a:spcAft>
              <a:buChar char="•"/>
            </a:pPr>
            <a:r>
              <a:rPr sz="1300">
                <a:solidFill>
                  <a:srgbClr val="12233A"/>
                </a:solidFill>
                <a:latin typeface="Arial"/>
                <a:ea typeface="Arial"/>
              </a:rPr>
              <a:t>Contexte limité à ses propres candidatures, construit depuis la base.</a:t>
            </a:r>
          </a:p>
          <a:p>
            <a:pPr marL="228600" indent="-228600" algn="l">
              <a:lnSpc>
                <a:spcPct val="115000"/>
              </a:lnSpc>
              <a:spcAft>
                <a:spcPts val="1000"/>
              </a:spcAft>
              <a:buChar char="•"/>
            </a:pPr>
            <a:r>
              <a:rPr sz="1300">
                <a:solidFill>
                  <a:srgbClr val="12233A"/>
                </a:solidFill>
                <a:latin typeface="Arial"/>
                <a:ea typeface="Arial"/>
              </a:rPr>
              <a:t>Score IA et identité de l'intervieweur ne sont jamais révélés.</a:t>
            </a:r>
          </a:p>
          <a:p>
            <a:pPr marL="228600" indent="-228600" algn="l">
              <a:lnSpc>
                <a:spcPct val="115000"/>
              </a:lnSpc>
              <a:buChar char="•"/>
            </a:pPr>
            <a:r>
              <a:rPr sz="1300">
                <a:solidFill>
                  <a:srgbClr val="12233A"/>
                </a:solidFill>
                <a:latin typeface="Arial"/>
                <a:ea typeface="Arial"/>
              </a:rPr>
              <a:t>Injection de prompt testée : le contexte système reste confidentiel.</a:t>
            </a:r>
          </a:p>
        </p:txBody>
      </p:sp>
      <p:sp>
        <p:nvSpPr>
          <p:cNvPr id="7" name="Shape 7">
            <a:extLst>
              <a:ext uri="{FF2B5EF4-FFF2-40B4-BE49-F238E27FC236}">
                <a16:creationId xmlns:a16="http://schemas.microsoft.com/office/drawing/2014/main" id="{73FB1A37-9B76-41D9-B37C-4F7BCE4743B7}"/>
              </a:ext>
            </a:extLst>
          </p:cNvPr>
          <p:cNvSpPr/>
          <p:nvPr/>
        </p:nvSpPr>
        <p:spPr>
          <a:xfrm>
            <a:off x="762000" y="3524250"/>
            <a:ext cx="7048500" cy="1714500"/>
          </a:xfrm>
          <a:prstGeom prst="roundRect">
            <a:avLst/>
          </a:prstGeom>
          <a:solidFill>
            <a:srgbClr val="E8F0F9"/>
          </a:solidFill>
        </p:spPr>
        <p:txBody>
          <a:bodyPr wrap="square" rtlCol="0"/>
          <a:lstStyle/>
          <a:p>
            <a:r>
              <a:rPr/>
              <a:t/>
            </a:r>
          </a:p>
        </p:txBody>
      </p:sp>
      <p:sp>
        <p:nvSpPr>
          <p:cNvPr id="8" name="TextBox 8">
            <a:extLst>
              <a:ext uri="{FF2B5EF4-FFF2-40B4-BE49-F238E27FC236}">
                <a16:creationId xmlns:a16="http://schemas.microsoft.com/office/drawing/2014/main" id="{D98928B9-AF71-45E3-8F4F-7EF21F30A05A}"/>
              </a:ext>
            </a:extLst>
          </p:cNvPr>
          <p:cNvSpPr txBox="1"/>
          <p:nvPr/>
        </p:nvSpPr>
        <p:spPr>
          <a:xfrm>
            <a:off x="1028700" y="3733800"/>
            <a:ext cx="6515100" cy="266700"/>
          </a:xfrm>
        </p:spPr>
        <p:txBody>
          <a:bodyPr wrap="square" rtlCol="0" lIns="0" tIns="0" rIns="0" bIns="0" anchor="t"/>
          <a:lstStyle/>
          <a:p>
            <a:pPr algn="l"/>
            <a:r>
              <a:rPr sz="1500" b="1">
                <a:solidFill>
                  <a:srgbClr val="12233A"/>
                </a:solidFill>
                <a:latin typeface="Arial"/>
                <a:ea typeface="Arial"/>
              </a:rPr>
              <a:t>Un choix assumé, à documenter</a:t>
            </a:r>
          </a:p>
        </p:txBody>
      </p:sp>
      <p:sp>
        <p:nvSpPr>
          <p:cNvPr id="9" name="TextBox 9">
            <a:extLst>
              <a:ext uri="{FF2B5EF4-FFF2-40B4-BE49-F238E27FC236}">
                <a16:creationId xmlns:a16="http://schemas.microsoft.com/office/drawing/2014/main" id="{B7808F49-1002-4945-B08E-29B85646CCDA}"/>
              </a:ext>
            </a:extLst>
          </p:cNvPr>
          <p:cNvSpPr txBox="1"/>
          <p:nvPr/>
        </p:nvSpPr>
        <p:spPr>
          <a:xfrm>
            <a:off x="1028700" y="4057650"/>
            <a:ext cx="6515100" cy="1047750"/>
          </a:xfrm>
        </p:spPr>
        <p:txBody>
          <a:bodyPr wrap="square" rtlCol="0" lIns="0" tIns="0" rIns="0" bIns="0" anchor="t"/>
          <a:lstStyle/>
          <a:p>
            <a:pPr algn="l">
              <a:lnSpc>
                <a:spcPct val="118000"/>
              </a:lnSpc>
            </a:pPr>
            <a:r>
              <a:rPr sz="1250">
                <a:solidFill>
                  <a:srgbClr val="12233A"/>
                </a:solidFill>
                <a:latin typeface="Arial"/>
                <a:ea typeface="Arial"/>
              </a:rPr>
              <a:t>Le fournisseur du modèle n'étant pas identifié explicitement, ce choix doit être documenté puis remplacé avant toute mise en production par un modèle dont le fournisseur et les conditions de conservation des données sont connus.</a:t>
            </a:r>
          </a:p>
        </p:txBody>
      </p:sp>
      <p:sp>
        <p:nvSpPr>
          <p:cNvPr id="10" name="TextBox 10">
            <a:extLst>
              <a:ext uri="{FF2B5EF4-FFF2-40B4-BE49-F238E27FC236}">
                <a16:creationId xmlns:a16="http://schemas.microsoft.com/office/drawing/2014/main" id="{BC04675D-6AAE-4487-A58D-0815AA14BA61}"/>
              </a:ext>
            </a:extLst>
          </p:cNvPr>
          <p:cNvSpPr txBox="1"/>
          <p:nvPr/>
        </p:nvSpPr>
        <p:spPr>
          <a:xfrm>
            <a:off x="762000" y="5429250"/>
            <a:ext cx="7048500" cy="495300"/>
          </a:xfrm>
        </p:spPr>
        <p:txBody>
          <a:bodyPr wrap="square" rtlCol="0" lIns="0" tIns="0" rIns="0" bIns="0" anchor="t"/>
          <a:lstStyle/>
          <a:p>
            <a:pPr algn="l">
              <a:lnSpc>
                <a:spcPct val="118000"/>
              </a:lnSpc>
            </a:pPr>
            <a:r>
              <a:rPr sz="1250">
                <a:solidFill>
                  <a:srgbClr val="5A6B80"/>
                </a:solidFill>
                <a:latin typeface="Arial"/>
                <a:ea typeface="Arial"/>
              </a:rPr>
              <a:t>L'assistant ne remplace pas l'échange humain avec le RH : il documente l'état du dossier et le fonctionnement de la plateforme.</a:t>
            </a:r>
          </a:p>
        </p:txBody>
      </p:sp>
      <p:pic>
        <p:nvPicPr>
          <p:cNvPr id="11" name="Picture 11">
            <a:extLst>
              <a:ext uri="{FF2B5EF4-FFF2-40B4-BE49-F238E27FC236}">
                <a16:creationId xmlns:a16="http://schemas.microsoft.com/office/drawing/2014/main" id="{8F6FFB11-B823-4AB5-94F1-E6D5841ADBC2}"/>
              </a:ext>
            </a:extLst>
          </p:cNvPr>
          <p:cNvPicPr/>
          <p:nvPr/>
        </p:nvPicPr>
        <p:blipFill>
          <a:blip r:embed="rId2"/>
          <a:stretch>
            <a:fillRect/>
          </a:stretch>
        </p:blipFill>
        <p:spPr>
          <a:xfrm>
            <a:off x="8220075" y="1428750"/>
            <a:ext cx="3209925" cy="4333875"/>
          </a:xfrm>
          <a:prstGeom prst="rect">
            <a:avLst/>
          </a:prstGeom>
        </p:spPr>
      </p:pic>
      <p:sp>
        <p:nvSpPr>
          <p:cNvPr id="12" name="TextBox 12">
            <a:extLst>
              <a:ext uri="{FF2B5EF4-FFF2-40B4-BE49-F238E27FC236}">
                <a16:creationId xmlns:a16="http://schemas.microsoft.com/office/drawing/2014/main" id="{72B60DB0-6F1F-4420-98F7-4001743DA243}"/>
              </a:ext>
            </a:extLst>
          </p:cNvPr>
          <p:cNvSpPr txBox="1"/>
          <p:nvPr/>
        </p:nvSpPr>
        <p:spPr>
          <a:xfrm>
            <a:off x="8220075" y="5829300"/>
            <a:ext cx="3209925" cy="190500"/>
          </a:xfrm>
        </p:spPr>
        <p:txBody>
          <a:bodyPr wrap="square" rtlCol="0" lIns="0" tIns="0" rIns="0" bIns="0" anchor="t"/>
          <a:lstStyle/>
          <a:p>
            <a:pPr algn="ctr"/>
            <a:r>
              <a:rPr sz="1150">
                <a:solidFill>
                  <a:srgbClr val="9AA9BC"/>
                </a:solidFill>
                <a:latin typeface="Arial"/>
                <a:ea typeface="Arial"/>
              </a:rPr>
              <a:t>Interface de l'assistant (chapitre 4)</a:t>
            </a:r>
          </a:p>
        </p:txBody>
      </p:sp>
      <p:sp>
        <p:nvSpPr>
          <p:cNvPr id="13" name="TextBox 13">
            <a:extLst>
              <a:ext uri="{FF2B5EF4-FFF2-40B4-BE49-F238E27FC236}">
                <a16:creationId xmlns:a16="http://schemas.microsoft.com/office/drawing/2014/main" id="{AABC9D8C-3D16-48A3-A1F2-0D88126D797F}"/>
              </a:ext>
            </a:extLst>
          </p:cNvPr>
          <p:cNvSpPr txBox="1"/>
          <p:nvPr/>
        </p:nvSpPr>
        <p:spPr>
          <a:xfrm>
            <a:off x="762000" y="6515100"/>
            <a:ext cx="3810000" cy="190500"/>
          </a:xfrm>
        </p:spPr>
        <p:txBody>
          <a:bodyPr wrap="square" rtlCol="0" lIns="0" tIns="0" rIns="0" bIns="0" anchor="t"/>
          <a:lstStyle/>
          <a:p>
            <a:pPr algn="l"/>
            <a:r>
              <a:rPr sz="1050">
                <a:solidFill>
                  <a:srgbClr val="9AA9BC"/>
                </a:solidFill>
                <a:latin typeface="Arial"/>
                <a:ea typeface="Arial"/>
              </a:rPr>
              <a:t>JOB4YOU - Soutenance PFE</a:t>
            </a:r>
          </a:p>
        </p:txBody>
      </p:sp>
      <p:sp>
        <p:nvSpPr>
          <p:cNvPr id="14" name="TextBox 14">
            <a:extLst>
              <a:ext uri="{FF2B5EF4-FFF2-40B4-BE49-F238E27FC236}">
                <a16:creationId xmlns:a16="http://schemas.microsoft.com/office/drawing/2014/main" id="{9E368AA0-1F66-40E5-905E-CB1C17BE9B35}"/>
              </a:ext>
            </a:extLst>
          </p:cNvPr>
          <p:cNvSpPr txBox="1"/>
          <p:nvPr/>
        </p:nvSpPr>
        <p:spPr>
          <a:xfrm>
            <a:off x="10858500" y="6515100"/>
            <a:ext cx="571500" cy="190500"/>
          </a:xfrm>
        </p:spPr>
        <p:txBody>
          <a:bodyPr wrap="square" rtlCol="0" lIns="0" tIns="0" rIns="0" bIns="0" anchor="t"/>
          <a:lstStyle/>
          <a:p>
            <a:pPr algn="r"/>
            <a:r>
              <a:rPr sz="1050">
                <a:solidFill>
                  <a:srgbClr val="9AA9BC"/>
                </a:solidFill>
                <a:latin typeface="Arial"/>
                <a:ea typeface="Arial"/>
              </a:rPr>
              <a:t>14 / 19</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id="{9FA0A76D-BC9F-4FCE-80F7-C6624C625BB0}"/>
              </a:ext>
            </a:extLst>
          </p:cNvPr>
          <p:cNvSpPr txBox="1"/>
          <p:nvPr/>
        </p:nvSpPr>
        <p:spPr>
          <a:xfrm>
            <a:off x="762000" y="400050"/>
            <a:ext cx="7620000" cy="209550"/>
          </a:xfrm>
        </p:spPr>
        <p:txBody>
          <a:bodyPr wrap="square" rtlCol="0" lIns="0" tIns="0" rIns="0" bIns="0" anchor="t"/>
          <a:lstStyle/>
          <a:p>
            <a:pPr algn="l"/>
            <a:r>
              <a:rPr sz="1200" b="1">
                <a:solidFill>
                  <a:srgbClr val="00A8B5"/>
                </a:solidFill>
                <a:latin typeface="Arial"/>
                <a:ea typeface="Arial"/>
              </a:rPr>
              <a:t>06 · RÉALISATION</a:t>
            </a:r>
          </a:p>
        </p:txBody>
      </p:sp>
      <p:sp>
        <p:nvSpPr>
          <p:cNvPr id="4" name="TextBox 4">
            <a:extLst>
              <a:ext uri="{FF2B5EF4-FFF2-40B4-BE49-F238E27FC236}">
                <a16:creationId xmlns:a16="http://schemas.microsoft.com/office/drawing/2014/main" id="{6C4067B4-696C-4515-8C84-20B6BA8A02B9}"/>
              </a:ext>
            </a:extLst>
          </p:cNvPr>
          <p:cNvSpPr txBox="1"/>
          <p:nvPr/>
        </p:nvSpPr>
        <p:spPr>
          <a:xfrm>
            <a:off x="762000" y="609600"/>
            <a:ext cx="9525000" cy="476250"/>
          </a:xfrm>
        </p:spPr>
        <p:txBody>
          <a:bodyPr wrap="square" rtlCol="0" lIns="0" tIns="0" rIns="0" bIns="0" anchor="t"/>
          <a:lstStyle/>
          <a:p>
            <a:pPr algn="l"/>
            <a:r>
              <a:rPr sz="3000" b="1">
                <a:solidFill>
                  <a:srgbClr val="12233A"/>
                </a:solidFill>
                <a:latin typeface="Arial"/>
                <a:ea typeface="Arial"/>
              </a:rPr>
              <a:t>Interfaces effectivement livrées</a:t>
            </a:r>
          </a:p>
        </p:txBody>
      </p:sp>
      <p:sp>
        <p:nvSpPr>
          <p:cNvPr id="5" name="TextBox 5">
            <a:extLst>
              <a:ext uri="{FF2B5EF4-FFF2-40B4-BE49-F238E27FC236}">
                <a16:creationId xmlns:a16="http://schemas.microsoft.com/office/drawing/2014/main" id="{9370DC6B-15FA-49FF-89B8-7995CEFE87F6}"/>
              </a:ext>
            </a:extLst>
          </p:cNvPr>
          <p:cNvSpPr txBox="1"/>
          <p:nvPr/>
        </p:nvSpPr>
        <p:spPr>
          <a:xfrm>
            <a:off x="762000" y="1143000"/>
            <a:ext cx="10668000" cy="228600"/>
          </a:xfrm>
        </p:spPr>
        <p:txBody>
          <a:bodyPr wrap="square" rtlCol="0" lIns="0" tIns="0" rIns="0" bIns="0" anchor="t"/>
          <a:lstStyle/>
          <a:p>
            <a:pPr algn="l"/>
            <a:r>
              <a:rPr sz="1400">
                <a:solidFill>
                  <a:srgbClr val="5A6B80"/>
                </a:solidFill>
                <a:latin typeface="Arial"/>
                <a:ea typeface="Arial"/>
              </a:rPr>
              <a:t>Cinq écrans parcourus lors des tests fonctionnels du chapitre 4.</a:t>
            </a:r>
          </a:p>
        </p:txBody>
      </p:sp>
      <p:pic>
        <p:nvPicPr>
          <p:cNvPr id="6" name="Picture 6">
            <a:extLst>
              <a:ext uri="{FF2B5EF4-FFF2-40B4-BE49-F238E27FC236}">
                <a16:creationId xmlns:a16="http://schemas.microsoft.com/office/drawing/2014/main" id="{51443F42-3CE3-4613-9BDC-7CF23855E2AD}"/>
              </a:ext>
            </a:extLst>
          </p:cNvPr>
          <p:cNvPicPr/>
          <p:nvPr/>
        </p:nvPicPr>
        <p:blipFill>
          <a:blip r:embed="rId2"/>
          <a:stretch>
            <a:fillRect/>
          </a:stretch>
        </p:blipFill>
        <p:spPr>
          <a:xfrm>
            <a:off x="762000" y="1447800"/>
            <a:ext cx="3200400" cy="1905000"/>
          </a:xfrm>
          <a:prstGeom prst="rect">
            <a:avLst/>
          </a:prstGeom>
        </p:spPr>
      </p:pic>
      <p:sp>
        <p:nvSpPr>
          <p:cNvPr id="7" name="TextBox 7">
            <a:extLst>
              <a:ext uri="{FF2B5EF4-FFF2-40B4-BE49-F238E27FC236}">
                <a16:creationId xmlns:a16="http://schemas.microsoft.com/office/drawing/2014/main" id="{2B66B676-5450-472B-B4E0-05D386BEE7CF}"/>
              </a:ext>
            </a:extLst>
          </p:cNvPr>
          <p:cNvSpPr txBox="1"/>
          <p:nvPr/>
        </p:nvSpPr>
        <p:spPr>
          <a:xfrm>
            <a:off x="762000" y="3409950"/>
            <a:ext cx="3200400" cy="209550"/>
          </a:xfrm>
        </p:spPr>
        <p:txBody>
          <a:bodyPr wrap="square" rtlCol="0" lIns="0" tIns="0" rIns="0" bIns="0" anchor="t"/>
          <a:lstStyle/>
          <a:p>
            <a:pPr algn="l"/>
            <a:r>
              <a:rPr sz="1150" b="1">
                <a:solidFill>
                  <a:srgbClr val="5A6B80"/>
                </a:solidFill>
                <a:latin typeface="Arial"/>
                <a:ea typeface="Arial"/>
              </a:rPr>
              <a:t>Recherche d'offres, page publique</a:t>
            </a:r>
          </a:p>
        </p:txBody>
      </p:sp>
      <p:pic>
        <p:nvPicPr>
          <p:cNvPr id="8" name="Picture 8">
            <a:extLst>
              <a:ext uri="{FF2B5EF4-FFF2-40B4-BE49-F238E27FC236}">
                <a16:creationId xmlns:a16="http://schemas.microsoft.com/office/drawing/2014/main" id="{497F822C-6582-4A76-9539-4A2C70BDBC1A}"/>
              </a:ext>
            </a:extLst>
          </p:cNvPr>
          <p:cNvPicPr/>
          <p:nvPr/>
        </p:nvPicPr>
        <p:blipFill>
          <a:blip r:embed="rId3"/>
          <a:stretch>
            <a:fillRect/>
          </a:stretch>
        </p:blipFill>
        <p:spPr>
          <a:xfrm>
            <a:off x="4495800" y="1447800"/>
            <a:ext cx="3200400" cy="1905000"/>
          </a:xfrm>
          <a:prstGeom prst="rect">
            <a:avLst/>
          </a:prstGeom>
        </p:spPr>
      </p:pic>
      <p:sp>
        <p:nvSpPr>
          <p:cNvPr id="9" name="TextBox 9">
            <a:extLst>
              <a:ext uri="{FF2B5EF4-FFF2-40B4-BE49-F238E27FC236}">
                <a16:creationId xmlns:a16="http://schemas.microsoft.com/office/drawing/2014/main" id="{EA0A9A7F-7D68-4383-8790-6F208FB1B69D}"/>
              </a:ext>
            </a:extLst>
          </p:cNvPr>
          <p:cNvSpPr txBox="1"/>
          <p:nvPr/>
        </p:nvSpPr>
        <p:spPr>
          <a:xfrm>
            <a:off x="4495800" y="3409950"/>
            <a:ext cx="3200400" cy="209550"/>
          </a:xfrm>
        </p:spPr>
        <p:txBody>
          <a:bodyPr wrap="square" rtlCol="0" lIns="0" tIns="0" rIns="0" bIns="0" anchor="t"/>
          <a:lstStyle/>
          <a:p>
            <a:pPr algn="l"/>
            <a:r>
              <a:rPr sz="1150" b="1">
                <a:solidFill>
                  <a:srgbClr val="5A6B80"/>
                </a:solidFill>
                <a:latin typeface="Arial"/>
                <a:ea typeface="Arial"/>
              </a:rPr>
              <a:t>Liste des candidatures côté RH</a:t>
            </a:r>
          </a:p>
        </p:txBody>
      </p:sp>
      <p:pic>
        <p:nvPicPr>
          <p:cNvPr id="10" name="Picture 10">
            <a:extLst>
              <a:ext uri="{FF2B5EF4-FFF2-40B4-BE49-F238E27FC236}">
                <a16:creationId xmlns:a16="http://schemas.microsoft.com/office/drawing/2014/main" id="{ADF75282-9139-4B95-B878-3400D1523C49}"/>
              </a:ext>
            </a:extLst>
          </p:cNvPr>
          <p:cNvPicPr/>
          <p:nvPr/>
        </p:nvPicPr>
        <p:blipFill>
          <a:blip r:embed="rId4"/>
          <a:stretch>
            <a:fillRect/>
          </a:stretch>
        </p:blipFill>
        <p:spPr>
          <a:xfrm>
            <a:off x="8229600" y="1447800"/>
            <a:ext cx="3200400" cy="1905000"/>
          </a:xfrm>
          <a:prstGeom prst="rect">
            <a:avLst/>
          </a:prstGeom>
        </p:spPr>
      </p:pic>
      <p:sp>
        <p:nvSpPr>
          <p:cNvPr id="11" name="TextBox 11">
            <a:extLst>
              <a:ext uri="{FF2B5EF4-FFF2-40B4-BE49-F238E27FC236}">
                <a16:creationId xmlns:a16="http://schemas.microsoft.com/office/drawing/2014/main" id="{C5C7CA6B-F162-4A6F-A1FC-612C80C1E675}"/>
              </a:ext>
            </a:extLst>
          </p:cNvPr>
          <p:cNvSpPr txBox="1"/>
          <p:nvPr/>
        </p:nvSpPr>
        <p:spPr>
          <a:xfrm>
            <a:off x="8229600" y="3409950"/>
            <a:ext cx="3200400" cy="209550"/>
          </a:xfrm>
        </p:spPr>
        <p:txBody>
          <a:bodyPr wrap="square" rtlCol="0" lIns="0" tIns="0" rIns="0" bIns="0" anchor="t"/>
          <a:lstStyle/>
          <a:p>
            <a:pPr algn="l"/>
            <a:r>
              <a:rPr sz="1150" b="1">
                <a:solidFill>
                  <a:srgbClr val="5A6B80"/>
                </a:solidFill>
                <a:latin typeface="Arial"/>
                <a:ea typeface="Arial"/>
              </a:rPr>
              <a:t>Tableau Kanban des dossiers</a:t>
            </a:r>
          </a:p>
        </p:txBody>
      </p:sp>
      <p:pic>
        <p:nvPicPr>
          <p:cNvPr id="12" name="Picture 12">
            <a:extLst>
              <a:ext uri="{FF2B5EF4-FFF2-40B4-BE49-F238E27FC236}">
                <a16:creationId xmlns:a16="http://schemas.microsoft.com/office/drawing/2014/main" id="{D2590102-A329-4703-8231-1C49ECA42F99}"/>
              </a:ext>
            </a:extLst>
          </p:cNvPr>
          <p:cNvPicPr/>
          <p:nvPr/>
        </p:nvPicPr>
        <p:blipFill>
          <a:blip r:embed="rId5"/>
          <a:stretch>
            <a:fillRect/>
          </a:stretch>
        </p:blipFill>
        <p:spPr>
          <a:xfrm>
            <a:off x="762000" y="3733800"/>
            <a:ext cx="3200400" cy="1905000"/>
          </a:xfrm>
          <a:prstGeom prst="rect">
            <a:avLst/>
          </a:prstGeom>
        </p:spPr>
      </p:pic>
      <p:sp>
        <p:nvSpPr>
          <p:cNvPr id="13" name="TextBox 13">
            <a:extLst>
              <a:ext uri="{FF2B5EF4-FFF2-40B4-BE49-F238E27FC236}">
                <a16:creationId xmlns:a16="http://schemas.microsoft.com/office/drawing/2014/main" id="{510D9E7A-C0A9-48E1-9424-5FA7457E5A23}"/>
              </a:ext>
            </a:extLst>
          </p:cNvPr>
          <p:cNvSpPr txBox="1"/>
          <p:nvPr/>
        </p:nvSpPr>
        <p:spPr>
          <a:xfrm>
            <a:off x="762000" y="5695950"/>
            <a:ext cx="3200400" cy="209550"/>
          </a:xfrm>
        </p:spPr>
        <p:txBody>
          <a:bodyPr wrap="square" rtlCol="0" lIns="0" tIns="0" rIns="0" bIns="0" anchor="t"/>
          <a:lstStyle/>
          <a:p>
            <a:pPr algn="l"/>
            <a:r>
              <a:rPr sz="1150" b="1">
                <a:solidFill>
                  <a:srgbClr val="5A6B80"/>
                </a:solidFill>
                <a:latin typeface="Arial"/>
                <a:ea typeface="Arial"/>
              </a:rPr>
              <a:t>Planification des entretiens</a:t>
            </a:r>
          </a:p>
        </p:txBody>
      </p:sp>
      <p:pic>
        <p:nvPicPr>
          <p:cNvPr id="14" name="Picture 14">
            <a:extLst>
              <a:ext uri="{FF2B5EF4-FFF2-40B4-BE49-F238E27FC236}">
                <a16:creationId xmlns:a16="http://schemas.microsoft.com/office/drawing/2014/main" id="{F3DD5C23-9EE5-4AAA-9F67-D428BB04C4B6}"/>
              </a:ext>
            </a:extLst>
          </p:cNvPr>
          <p:cNvPicPr/>
          <p:nvPr/>
        </p:nvPicPr>
        <p:blipFill>
          <a:blip r:embed="rId6"/>
          <a:stretch>
            <a:fillRect/>
          </a:stretch>
        </p:blipFill>
        <p:spPr>
          <a:xfrm>
            <a:off x="4495800" y="3733800"/>
            <a:ext cx="3200400" cy="1905000"/>
          </a:xfrm>
          <a:prstGeom prst="rect">
            <a:avLst/>
          </a:prstGeom>
        </p:spPr>
      </p:pic>
      <p:sp>
        <p:nvSpPr>
          <p:cNvPr id="15" name="TextBox 15">
            <a:extLst>
              <a:ext uri="{FF2B5EF4-FFF2-40B4-BE49-F238E27FC236}">
                <a16:creationId xmlns:a16="http://schemas.microsoft.com/office/drawing/2014/main" id="{F4C9558B-54B8-4732-A3CD-055CC656C84B}"/>
              </a:ext>
            </a:extLst>
          </p:cNvPr>
          <p:cNvSpPr txBox="1"/>
          <p:nvPr/>
        </p:nvSpPr>
        <p:spPr>
          <a:xfrm>
            <a:off x="4495800" y="5695950"/>
            <a:ext cx="3200400" cy="209550"/>
          </a:xfrm>
        </p:spPr>
        <p:txBody>
          <a:bodyPr wrap="square" rtlCol="0" lIns="0" tIns="0" rIns="0" bIns="0" anchor="t"/>
          <a:lstStyle/>
          <a:p>
            <a:pPr algn="l"/>
            <a:r>
              <a:rPr sz="1150" b="1">
                <a:solidFill>
                  <a:srgbClr val="5A6B80"/>
                </a:solidFill>
                <a:latin typeface="Arial"/>
                <a:ea typeface="Arial"/>
              </a:rPr>
              <a:t>Administration des comptes et rôles</a:t>
            </a:r>
          </a:p>
        </p:txBody>
      </p:sp>
      <p:sp>
        <p:nvSpPr>
          <p:cNvPr id="16" name="Shape 16">
            <a:extLst>
              <a:ext uri="{FF2B5EF4-FFF2-40B4-BE49-F238E27FC236}">
                <a16:creationId xmlns:a16="http://schemas.microsoft.com/office/drawing/2014/main" id="{5F554A2A-0DCB-4634-BBD0-6E1725713B24}"/>
              </a:ext>
            </a:extLst>
          </p:cNvPr>
          <p:cNvSpPr/>
          <p:nvPr/>
        </p:nvSpPr>
        <p:spPr>
          <a:xfrm>
            <a:off x="8229600" y="3733800"/>
            <a:ext cx="3200400" cy="1905000"/>
          </a:xfrm>
          <a:prstGeom prst="roundRect">
            <a:avLst/>
          </a:prstGeom>
          <a:solidFill>
            <a:srgbClr val="E8F0F9"/>
          </a:solidFill>
        </p:spPr>
        <p:txBody>
          <a:bodyPr wrap="square" rtlCol="0"/>
          <a:lstStyle/>
          <a:p>
            <a:r>
              <a:rPr/>
              <a:t/>
            </a:r>
          </a:p>
        </p:txBody>
      </p:sp>
      <p:sp>
        <p:nvSpPr>
          <p:cNvPr id="17" name="TextBox 17">
            <a:extLst>
              <a:ext uri="{FF2B5EF4-FFF2-40B4-BE49-F238E27FC236}">
                <a16:creationId xmlns:a16="http://schemas.microsoft.com/office/drawing/2014/main" id="{12044ABC-529F-41B9-8B3A-5CDE30D8C13A}"/>
              </a:ext>
            </a:extLst>
          </p:cNvPr>
          <p:cNvSpPr txBox="1"/>
          <p:nvPr/>
        </p:nvSpPr>
        <p:spPr>
          <a:xfrm>
            <a:off x="8420100" y="3924300"/>
            <a:ext cx="2819400" cy="247650"/>
          </a:xfrm>
        </p:spPr>
        <p:txBody>
          <a:bodyPr wrap="square" rtlCol="0" lIns="0" tIns="0" rIns="0" bIns="0" anchor="t"/>
          <a:lstStyle/>
          <a:p>
            <a:pPr algn="l"/>
            <a:r>
              <a:rPr sz="1400" b="1">
                <a:solidFill>
                  <a:srgbClr val="12233A"/>
                </a:solidFill>
                <a:latin typeface="Arial"/>
                <a:ea typeface="Arial"/>
              </a:rPr>
              <a:t>Ce qu'on y vérifie</a:t>
            </a:r>
          </a:p>
        </p:txBody>
      </p:sp>
      <p:sp>
        <p:nvSpPr>
          <p:cNvPr id="18" name="TextBox 18">
            <a:extLst>
              <a:ext uri="{FF2B5EF4-FFF2-40B4-BE49-F238E27FC236}">
                <a16:creationId xmlns:a16="http://schemas.microsoft.com/office/drawing/2014/main" id="{38542E4F-4955-4603-9DBF-28F676A2CB26}"/>
              </a:ext>
            </a:extLst>
          </p:cNvPr>
          <p:cNvSpPr txBox="1"/>
          <p:nvPr/>
        </p:nvSpPr>
        <p:spPr>
          <a:xfrm>
            <a:off x="8420100" y="4191000"/>
            <a:ext cx="2819400" cy="1333500"/>
          </a:xfrm>
        </p:spPr>
        <p:txBody>
          <a:bodyPr wrap="square" rtlCol="0" lIns="0" tIns="0" rIns="0" bIns="0" anchor="t"/>
          <a:lstStyle/>
          <a:p>
            <a:pPr algn="l">
              <a:lnSpc>
                <a:spcPct val="118000"/>
              </a:lnSpc>
            </a:pPr>
            <a:r>
              <a:rPr sz="1150">
                <a:solidFill>
                  <a:srgbClr val="12233A"/>
                </a:solidFill>
                <a:latin typeface="Arial"/>
                <a:ea typeface="Arial"/>
              </a:rPr>
              <a:t>Menus filtrés par rôle, pipeline à jour, actions traçables et décisions toujours cohérentes avec le statut réel du dossier.</a:t>
            </a:r>
          </a:p>
        </p:txBody>
      </p:sp>
      <p:sp>
        <p:nvSpPr>
          <p:cNvPr id="19" name="TextBox 19">
            <a:extLst>
              <a:ext uri="{FF2B5EF4-FFF2-40B4-BE49-F238E27FC236}">
                <a16:creationId xmlns:a16="http://schemas.microsoft.com/office/drawing/2014/main" id="{5DFBE126-DB58-40A2-BB86-CA9FE7B0CE0F}"/>
              </a:ext>
            </a:extLst>
          </p:cNvPr>
          <p:cNvSpPr txBox="1"/>
          <p:nvPr/>
        </p:nvSpPr>
        <p:spPr>
          <a:xfrm>
            <a:off x="762000" y="6057900"/>
            <a:ext cx="10668000" cy="228600"/>
          </a:xfrm>
        </p:spPr>
        <p:txBody>
          <a:bodyPr wrap="square" rtlCol="0" lIns="0" tIns="0" rIns="0" bIns="0" anchor="t"/>
          <a:lstStyle/>
          <a:p>
            <a:pPr algn="l"/>
            <a:r>
              <a:rPr sz="1150">
                <a:solidFill>
                  <a:srgbClr val="9AA9BC"/>
                </a:solidFill>
                <a:latin typeface="Arial"/>
                <a:ea typeface="Arial"/>
              </a:rPr>
              <a:t>Captures reproduites du rapport ; les données affichées sont des données de démonstration.</a:t>
            </a:r>
          </a:p>
        </p:txBody>
      </p:sp>
      <p:sp>
        <p:nvSpPr>
          <p:cNvPr id="20" name="TextBox 20">
            <a:extLst>
              <a:ext uri="{FF2B5EF4-FFF2-40B4-BE49-F238E27FC236}">
                <a16:creationId xmlns:a16="http://schemas.microsoft.com/office/drawing/2014/main" id="{9A968832-B05A-47B7-9FF4-2704A2A2A312}"/>
              </a:ext>
            </a:extLst>
          </p:cNvPr>
          <p:cNvSpPr txBox="1"/>
          <p:nvPr/>
        </p:nvSpPr>
        <p:spPr>
          <a:xfrm>
            <a:off x="762000" y="6515100"/>
            <a:ext cx="3810000" cy="190500"/>
          </a:xfrm>
        </p:spPr>
        <p:txBody>
          <a:bodyPr wrap="square" rtlCol="0" lIns="0" tIns="0" rIns="0" bIns="0" anchor="t"/>
          <a:lstStyle/>
          <a:p>
            <a:pPr algn="l"/>
            <a:r>
              <a:rPr sz="1050">
                <a:solidFill>
                  <a:srgbClr val="9AA9BC"/>
                </a:solidFill>
                <a:latin typeface="Arial"/>
                <a:ea typeface="Arial"/>
              </a:rPr>
              <a:t>JOB4YOU - Soutenance PFE</a:t>
            </a:r>
          </a:p>
        </p:txBody>
      </p:sp>
      <p:sp>
        <p:nvSpPr>
          <p:cNvPr id="21" name="TextBox 21">
            <a:extLst>
              <a:ext uri="{FF2B5EF4-FFF2-40B4-BE49-F238E27FC236}">
                <a16:creationId xmlns:a16="http://schemas.microsoft.com/office/drawing/2014/main" id="{FA64C4FA-BBD8-4455-8026-8564A330AB4C}"/>
              </a:ext>
            </a:extLst>
          </p:cNvPr>
          <p:cNvSpPr txBox="1"/>
          <p:nvPr/>
        </p:nvSpPr>
        <p:spPr>
          <a:xfrm>
            <a:off x="10858500" y="6515100"/>
            <a:ext cx="571500" cy="190500"/>
          </a:xfrm>
        </p:spPr>
        <p:txBody>
          <a:bodyPr wrap="square" rtlCol="0" lIns="0" tIns="0" rIns="0" bIns="0" anchor="t"/>
          <a:lstStyle/>
          <a:p>
            <a:pPr algn="r"/>
            <a:r>
              <a:rPr sz="1050">
                <a:solidFill>
                  <a:srgbClr val="9AA9BC"/>
                </a:solidFill>
                <a:latin typeface="Arial"/>
                <a:ea typeface="Arial"/>
              </a:rPr>
              <a:t>15 / 19</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id="{F3FF6870-4373-49F6-9BDA-581D32006AA4}"/>
              </a:ext>
            </a:extLst>
          </p:cNvPr>
          <p:cNvSpPr txBox="1"/>
          <p:nvPr/>
        </p:nvSpPr>
        <p:spPr>
          <a:xfrm>
            <a:off x="762000" y="400050"/>
            <a:ext cx="7620000" cy="209550"/>
          </a:xfrm>
        </p:spPr>
        <p:txBody>
          <a:bodyPr wrap="square" rtlCol="0" lIns="0" tIns="0" rIns="0" bIns="0" anchor="t"/>
          <a:lstStyle/>
          <a:p>
            <a:pPr algn="l"/>
            <a:r>
              <a:rPr sz="1200" b="1">
                <a:solidFill>
                  <a:srgbClr val="00A8B5"/>
                </a:solidFill>
                <a:latin typeface="Arial"/>
                <a:ea typeface="Arial"/>
              </a:rPr>
              <a:t>06 · VÉRIFICATION</a:t>
            </a:r>
          </a:p>
        </p:txBody>
      </p:sp>
      <p:sp>
        <p:nvSpPr>
          <p:cNvPr id="4" name="TextBox 4">
            <a:extLst>
              <a:ext uri="{FF2B5EF4-FFF2-40B4-BE49-F238E27FC236}">
                <a16:creationId xmlns:a16="http://schemas.microsoft.com/office/drawing/2014/main" id="{8F89E8B8-3D76-4329-87D4-BC54BD929D13}"/>
              </a:ext>
            </a:extLst>
          </p:cNvPr>
          <p:cNvSpPr txBox="1"/>
          <p:nvPr/>
        </p:nvSpPr>
        <p:spPr>
          <a:xfrm>
            <a:off x="762000" y="609600"/>
            <a:ext cx="9525000" cy="476250"/>
          </a:xfrm>
        </p:spPr>
        <p:txBody>
          <a:bodyPr wrap="square" rtlCol="0" lIns="0" tIns="0" rIns="0" bIns="0" anchor="t"/>
          <a:lstStyle/>
          <a:p>
            <a:pPr algn="l"/>
            <a:r>
              <a:rPr sz="3000" b="1">
                <a:solidFill>
                  <a:srgbClr val="12233A"/>
                </a:solidFill>
                <a:latin typeface="Arial"/>
                <a:ea typeface="Arial"/>
              </a:rPr>
              <a:t>Ce qui a été vérifié</a:t>
            </a:r>
          </a:p>
        </p:txBody>
      </p:sp>
      <p:sp>
        <p:nvSpPr>
          <p:cNvPr id="5" name="TextBox 5">
            <a:extLst>
              <a:ext uri="{FF2B5EF4-FFF2-40B4-BE49-F238E27FC236}">
                <a16:creationId xmlns:a16="http://schemas.microsoft.com/office/drawing/2014/main" id="{44896896-072D-45E6-A2C2-05430A3A91E4}"/>
              </a:ext>
            </a:extLst>
          </p:cNvPr>
          <p:cNvSpPr txBox="1"/>
          <p:nvPr/>
        </p:nvSpPr>
        <p:spPr>
          <a:xfrm>
            <a:off x="762000" y="1066800"/>
            <a:ext cx="10668000" cy="490728"/>
          </a:xfrm>
        </p:spPr>
        <p:txBody>
          <a:bodyPr wrap="square" rtlCol="0" lIns="0" tIns="0" rIns="0" bIns="0" anchor="t"/>
          <a:lstStyle/>
          <a:p>
            <a:pPr algn="l">
              <a:lnSpc>
                <a:spcPct val="115000"/>
              </a:lnSpc>
            </a:pPr>
            <a:r>
              <a:rPr sz="1400">
                <a:solidFill>
                  <a:srgbClr val="5A6B80"/>
                </a:solidFill>
                <a:latin typeface="Arial"/>
                <a:ea typeface="Arial"/>
              </a:rPr>
              <a:t>Deux niveaux de vérification : une suite automatisée côté back-end, et un parcours manuel de chaque fonctionnalité directement dans l'application.</a:t>
            </a:r>
          </a:p>
        </p:txBody>
      </p:sp>
      <p:sp>
        <p:nvSpPr>
          <p:cNvPr id="6" name="Shape 6">
            <a:extLst>
              <a:ext uri="{FF2B5EF4-FFF2-40B4-BE49-F238E27FC236}">
                <a16:creationId xmlns:a16="http://schemas.microsoft.com/office/drawing/2014/main" id="{BAD6273E-D244-4AE2-AEC6-DDB581CBD1D6}"/>
              </a:ext>
            </a:extLst>
          </p:cNvPr>
          <p:cNvSpPr/>
          <p:nvPr/>
        </p:nvSpPr>
        <p:spPr>
          <a:xfrm>
            <a:off x="762000" y="1676400"/>
            <a:ext cx="2495550" cy="1714500"/>
          </a:xfrm>
          <a:prstGeom prst="roundRect">
            <a:avLst/>
          </a:prstGeom>
          <a:solidFill>
            <a:srgbClr val="FFFFFF"/>
          </a:solidFill>
          <a:ln w="12700">
            <a:solidFill>
              <a:srgbClr val="D8E0EA"/>
            </a:solidFill>
          </a:ln>
        </p:spPr>
        <p:txBody>
          <a:bodyPr wrap="square" rtlCol="0"/>
          <a:lstStyle/>
          <a:p>
            <a:r>
              <a:rPr/>
              <a:t/>
            </a:r>
          </a:p>
        </p:txBody>
      </p:sp>
      <p:sp>
        <p:nvSpPr>
          <p:cNvPr id="7" name="TextBox 7">
            <a:extLst>
              <a:ext uri="{FF2B5EF4-FFF2-40B4-BE49-F238E27FC236}">
                <a16:creationId xmlns:a16="http://schemas.microsoft.com/office/drawing/2014/main" id="{76556A31-954F-4E73-A5DC-1968D2B5150A}"/>
              </a:ext>
            </a:extLst>
          </p:cNvPr>
          <p:cNvSpPr txBox="1"/>
          <p:nvPr/>
        </p:nvSpPr>
        <p:spPr>
          <a:xfrm>
            <a:off x="1028700" y="1885950"/>
            <a:ext cx="2076450" cy="685800"/>
          </a:xfrm>
        </p:spPr>
        <p:txBody>
          <a:bodyPr wrap="square" rtlCol="0" lIns="0" tIns="0" rIns="0" bIns="0" anchor="t"/>
          <a:lstStyle/>
          <a:p>
            <a:pPr algn="l"/>
            <a:r>
              <a:rPr sz="4000" b="1">
                <a:solidFill>
                  <a:srgbClr val="1B4F9C"/>
                </a:solidFill>
                <a:latin typeface="Arial"/>
                <a:ea typeface="Arial"/>
              </a:rPr>
              <a:t>190</a:t>
            </a:r>
          </a:p>
        </p:txBody>
      </p:sp>
      <p:sp>
        <p:nvSpPr>
          <p:cNvPr id="8" name="TextBox 8">
            <a:extLst>
              <a:ext uri="{FF2B5EF4-FFF2-40B4-BE49-F238E27FC236}">
                <a16:creationId xmlns:a16="http://schemas.microsoft.com/office/drawing/2014/main" id="{1E65FA06-6EEE-435E-B4F5-28D390D1B6C8}"/>
              </a:ext>
            </a:extLst>
          </p:cNvPr>
          <p:cNvSpPr txBox="1"/>
          <p:nvPr/>
        </p:nvSpPr>
        <p:spPr>
          <a:xfrm>
            <a:off x="1028700" y="2628900"/>
            <a:ext cx="2076450" cy="647700"/>
          </a:xfrm>
        </p:spPr>
        <p:txBody>
          <a:bodyPr wrap="square" rtlCol="0" lIns="0" tIns="0" rIns="0" bIns="0" anchor="t"/>
          <a:lstStyle/>
          <a:p>
            <a:pPr algn="l">
              <a:lnSpc>
                <a:spcPct val="118000"/>
              </a:lnSpc>
            </a:pPr>
            <a:r>
              <a:rPr sz="1150">
                <a:solidFill>
                  <a:srgbClr val="12233A"/>
                </a:solidFill>
                <a:latin typeface="Arial"/>
                <a:ea typeface="Arial"/>
              </a:rPr>
              <a:t>méthodes de test automatisées</a:t>
            </a:r>
          </a:p>
        </p:txBody>
      </p:sp>
      <p:sp>
        <p:nvSpPr>
          <p:cNvPr id="9" name="Shape 9">
            <a:extLst>
              <a:ext uri="{FF2B5EF4-FFF2-40B4-BE49-F238E27FC236}">
                <a16:creationId xmlns:a16="http://schemas.microsoft.com/office/drawing/2014/main" id="{511981DE-4DEB-4C29-8BB7-DE2DE48F2C10}"/>
              </a:ext>
            </a:extLst>
          </p:cNvPr>
          <p:cNvSpPr/>
          <p:nvPr/>
        </p:nvSpPr>
        <p:spPr>
          <a:xfrm>
            <a:off x="3486150" y="1676400"/>
            <a:ext cx="2495550" cy="1714500"/>
          </a:xfrm>
          <a:prstGeom prst="roundRect">
            <a:avLst/>
          </a:prstGeom>
          <a:solidFill>
            <a:srgbClr val="FFFFFF"/>
          </a:solidFill>
          <a:ln w="12700">
            <a:solidFill>
              <a:srgbClr val="D8E0EA"/>
            </a:solidFill>
          </a:ln>
        </p:spPr>
        <p:txBody>
          <a:bodyPr wrap="square" rtlCol="0"/>
          <a:lstStyle/>
          <a:p>
            <a:r>
              <a:rPr/>
              <a:t/>
            </a:r>
          </a:p>
        </p:txBody>
      </p:sp>
      <p:sp>
        <p:nvSpPr>
          <p:cNvPr id="10" name="TextBox 10">
            <a:extLst>
              <a:ext uri="{FF2B5EF4-FFF2-40B4-BE49-F238E27FC236}">
                <a16:creationId xmlns:a16="http://schemas.microsoft.com/office/drawing/2014/main" id="{6A992076-24A4-4D28-B908-B62E157386A3}"/>
              </a:ext>
            </a:extLst>
          </p:cNvPr>
          <p:cNvSpPr txBox="1"/>
          <p:nvPr/>
        </p:nvSpPr>
        <p:spPr>
          <a:xfrm>
            <a:off x="3752850" y="1885950"/>
            <a:ext cx="2076450" cy="685800"/>
          </a:xfrm>
        </p:spPr>
        <p:txBody>
          <a:bodyPr wrap="square" rtlCol="0" lIns="0" tIns="0" rIns="0" bIns="0" anchor="t"/>
          <a:lstStyle/>
          <a:p>
            <a:pPr algn="l"/>
            <a:r>
              <a:rPr sz="4000" b="1">
                <a:solidFill>
                  <a:srgbClr val="1B4F9C"/>
                </a:solidFill>
                <a:latin typeface="Arial"/>
                <a:ea typeface="Arial"/>
              </a:rPr>
              <a:t>19</a:t>
            </a:r>
          </a:p>
        </p:txBody>
      </p:sp>
      <p:sp>
        <p:nvSpPr>
          <p:cNvPr id="11" name="TextBox 11">
            <a:extLst>
              <a:ext uri="{FF2B5EF4-FFF2-40B4-BE49-F238E27FC236}">
                <a16:creationId xmlns:a16="http://schemas.microsoft.com/office/drawing/2014/main" id="{88F72106-54F3-4E6C-9E31-515DC6582EA9}"/>
              </a:ext>
            </a:extLst>
          </p:cNvPr>
          <p:cNvSpPr txBox="1"/>
          <p:nvPr/>
        </p:nvSpPr>
        <p:spPr>
          <a:xfrm>
            <a:off x="3752850" y="2628900"/>
            <a:ext cx="2076450" cy="647700"/>
          </a:xfrm>
        </p:spPr>
        <p:txBody>
          <a:bodyPr wrap="square" rtlCol="0" lIns="0" tIns="0" rIns="0" bIns="0" anchor="t"/>
          <a:lstStyle/>
          <a:p>
            <a:pPr algn="l">
              <a:lnSpc>
                <a:spcPct val="118000"/>
              </a:lnSpc>
            </a:pPr>
            <a:r>
              <a:rPr sz="1150">
                <a:solidFill>
                  <a:srgbClr val="12233A"/>
                </a:solidFill>
                <a:latin typeface="Arial"/>
                <a:ea typeface="Arial"/>
              </a:rPr>
              <a:t>classes de test, dont 4 de contrôleur</a:t>
            </a:r>
          </a:p>
        </p:txBody>
      </p:sp>
      <p:sp>
        <p:nvSpPr>
          <p:cNvPr id="12" name="Shape 12">
            <a:extLst>
              <a:ext uri="{FF2B5EF4-FFF2-40B4-BE49-F238E27FC236}">
                <a16:creationId xmlns:a16="http://schemas.microsoft.com/office/drawing/2014/main" id="{0276D8E7-60F4-46FA-AD7E-DDEF2EFA86F9}"/>
              </a:ext>
            </a:extLst>
          </p:cNvPr>
          <p:cNvSpPr/>
          <p:nvPr/>
        </p:nvSpPr>
        <p:spPr>
          <a:xfrm>
            <a:off x="6210300" y="1676400"/>
            <a:ext cx="2495550" cy="1714500"/>
          </a:xfrm>
          <a:prstGeom prst="roundRect">
            <a:avLst/>
          </a:prstGeom>
          <a:solidFill>
            <a:srgbClr val="FFFFFF"/>
          </a:solidFill>
          <a:ln w="12700">
            <a:solidFill>
              <a:srgbClr val="D8E0EA"/>
            </a:solidFill>
          </a:ln>
        </p:spPr>
        <p:txBody>
          <a:bodyPr wrap="square" rtlCol="0"/>
          <a:lstStyle/>
          <a:p>
            <a:r>
              <a:rPr/>
              <a:t/>
            </a:r>
          </a:p>
        </p:txBody>
      </p:sp>
      <p:sp>
        <p:nvSpPr>
          <p:cNvPr id="13" name="TextBox 13">
            <a:extLst>
              <a:ext uri="{FF2B5EF4-FFF2-40B4-BE49-F238E27FC236}">
                <a16:creationId xmlns:a16="http://schemas.microsoft.com/office/drawing/2014/main" id="{DC449A68-45F2-4D99-9634-B54EF544E4B3}"/>
              </a:ext>
            </a:extLst>
          </p:cNvPr>
          <p:cNvSpPr txBox="1"/>
          <p:nvPr/>
        </p:nvSpPr>
        <p:spPr>
          <a:xfrm>
            <a:off x="6477000" y="1885950"/>
            <a:ext cx="2076450" cy="685800"/>
          </a:xfrm>
        </p:spPr>
        <p:txBody>
          <a:bodyPr wrap="square" rtlCol="0" lIns="0" tIns="0" rIns="0" bIns="0" anchor="t"/>
          <a:lstStyle/>
          <a:p>
            <a:pPr algn="l"/>
            <a:r>
              <a:rPr sz="4000" b="1">
                <a:solidFill>
                  <a:srgbClr val="1B4F9C"/>
                </a:solidFill>
                <a:latin typeface="Arial"/>
                <a:ea typeface="Arial"/>
              </a:rPr>
              <a:t>22</a:t>
            </a:r>
          </a:p>
        </p:txBody>
      </p:sp>
      <p:sp>
        <p:nvSpPr>
          <p:cNvPr id="14" name="TextBox 14">
            <a:extLst>
              <a:ext uri="{FF2B5EF4-FFF2-40B4-BE49-F238E27FC236}">
                <a16:creationId xmlns:a16="http://schemas.microsoft.com/office/drawing/2014/main" id="{054A0723-A53C-40B3-8772-4D1B2121D9A8}"/>
              </a:ext>
            </a:extLst>
          </p:cNvPr>
          <p:cNvSpPr txBox="1"/>
          <p:nvPr/>
        </p:nvSpPr>
        <p:spPr>
          <a:xfrm>
            <a:off x="6477000" y="2628900"/>
            <a:ext cx="2076450" cy="647700"/>
          </a:xfrm>
        </p:spPr>
        <p:txBody>
          <a:bodyPr wrap="square" rtlCol="0" lIns="0" tIns="0" rIns="0" bIns="0" anchor="t"/>
          <a:lstStyle/>
          <a:p>
            <a:pPr algn="l">
              <a:lnSpc>
                <a:spcPct val="118000"/>
              </a:lnSpc>
            </a:pPr>
            <a:r>
              <a:rPr sz="1150">
                <a:solidFill>
                  <a:srgbClr val="12233A"/>
                </a:solidFill>
                <a:latin typeface="Arial"/>
                <a:ea typeface="Arial"/>
              </a:rPr>
              <a:t>cas de test manuel, tous conformes</a:t>
            </a:r>
          </a:p>
        </p:txBody>
      </p:sp>
      <p:sp>
        <p:nvSpPr>
          <p:cNvPr id="15" name="Shape 15">
            <a:extLst>
              <a:ext uri="{FF2B5EF4-FFF2-40B4-BE49-F238E27FC236}">
                <a16:creationId xmlns:a16="http://schemas.microsoft.com/office/drawing/2014/main" id="{CA060AE5-0D0D-47FE-BC1C-9AA3C8D6A9AB}"/>
              </a:ext>
            </a:extLst>
          </p:cNvPr>
          <p:cNvSpPr/>
          <p:nvPr/>
        </p:nvSpPr>
        <p:spPr>
          <a:xfrm>
            <a:off x="8934450" y="1676400"/>
            <a:ext cx="2495550" cy="1714500"/>
          </a:xfrm>
          <a:prstGeom prst="roundRect">
            <a:avLst/>
          </a:prstGeom>
          <a:solidFill>
            <a:srgbClr val="FFFFFF"/>
          </a:solidFill>
          <a:ln w="12700">
            <a:solidFill>
              <a:srgbClr val="D8E0EA"/>
            </a:solidFill>
          </a:ln>
        </p:spPr>
        <p:txBody>
          <a:bodyPr wrap="square" rtlCol="0"/>
          <a:lstStyle/>
          <a:p>
            <a:r>
              <a:rPr/>
              <a:t/>
            </a:r>
          </a:p>
        </p:txBody>
      </p:sp>
      <p:sp>
        <p:nvSpPr>
          <p:cNvPr id="16" name="TextBox 16">
            <a:extLst>
              <a:ext uri="{FF2B5EF4-FFF2-40B4-BE49-F238E27FC236}">
                <a16:creationId xmlns:a16="http://schemas.microsoft.com/office/drawing/2014/main" id="{F00D5856-8348-4E16-84D4-F339F8C5B821}"/>
              </a:ext>
            </a:extLst>
          </p:cNvPr>
          <p:cNvSpPr txBox="1"/>
          <p:nvPr/>
        </p:nvSpPr>
        <p:spPr>
          <a:xfrm>
            <a:off x="9201150" y="1885950"/>
            <a:ext cx="2076450" cy="685800"/>
          </a:xfrm>
        </p:spPr>
        <p:txBody>
          <a:bodyPr wrap="square" rtlCol="0" lIns="0" tIns="0" rIns="0" bIns="0" anchor="t"/>
          <a:lstStyle/>
          <a:p>
            <a:pPr algn="l"/>
            <a:r>
              <a:rPr sz="4000" b="1">
                <a:solidFill>
                  <a:srgbClr val="1B4F9C"/>
                </a:solidFill>
                <a:latin typeface="Arial"/>
                <a:ea typeface="Arial"/>
              </a:rPr>
              <a:t>19</a:t>
            </a:r>
          </a:p>
        </p:txBody>
      </p:sp>
      <p:sp>
        <p:nvSpPr>
          <p:cNvPr id="17" name="TextBox 17">
            <a:extLst>
              <a:ext uri="{FF2B5EF4-FFF2-40B4-BE49-F238E27FC236}">
                <a16:creationId xmlns:a16="http://schemas.microsoft.com/office/drawing/2014/main" id="{7136DA60-1110-4279-AFE8-32F756963F70}"/>
              </a:ext>
            </a:extLst>
          </p:cNvPr>
          <p:cNvSpPr txBox="1"/>
          <p:nvPr/>
        </p:nvSpPr>
        <p:spPr>
          <a:xfrm>
            <a:off x="9201150" y="2628900"/>
            <a:ext cx="2076450" cy="647700"/>
          </a:xfrm>
        </p:spPr>
        <p:txBody>
          <a:bodyPr wrap="square" rtlCol="0" lIns="0" tIns="0" rIns="0" bIns="0" anchor="t"/>
          <a:lstStyle/>
          <a:p>
            <a:pPr algn="l">
              <a:lnSpc>
                <a:spcPct val="118000"/>
              </a:lnSpc>
            </a:pPr>
            <a:r>
              <a:rPr sz="1150">
                <a:solidFill>
                  <a:srgbClr val="12233A"/>
                </a:solidFill>
                <a:latin typeface="Arial"/>
                <a:ea typeface="Arial"/>
              </a:rPr>
              <a:t>fonctionnalités réalisées sur le périmètre</a:t>
            </a:r>
          </a:p>
        </p:txBody>
      </p:sp>
      <p:sp>
        <p:nvSpPr>
          <p:cNvPr id="18" name="Shape 18">
            <a:extLst>
              <a:ext uri="{FF2B5EF4-FFF2-40B4-BE49-F238E27FC236}">
                <a16:creationId xmlns:a16="http://schemas.microsoft.com/office/drawing/2014/main" id="{AB5F37E7-A16E-47C7-B24E-D6D4889690C1}"/>
              </a:ext>
            </a:extLst>
          </p:cNvPr>
          <p:cNvSpPr/>
          <p:nvPr/>
        </p:nvSpPr>
        <p:spPr>
          <a:xfrm>
            <a:off x="762000" y="3581400"/>
            <a:ext cx="10668000" cy="1143000"/>
          </a:xfrm>
          <a:prstGeom prst="roundRect">
            <a:avLst/>
          </a:prstGeom>
          <a:solidFill>
            <a:srgbClr val="FFFFFF"/>
          </a:solidFill>
          <a:ln w="12700">
            <a:solidFill>
              <a:srgbClr val="D8E0EA"/>
            </a:solidFill>
          </a:ln>
        </p:spPr>
        <p:txBody>
          <a:bodyPr wrap="square" rtlCol="0"/>
          <a:lstStyle/>
          <a:p>
            <a:r>
              <a:rPr/>
              <a:t/>
            </a:r>
          </a:p>
        </p:txBody>
      </p:sp>
      <p:sp>
        <p:nvSpPr>
          <p:cNvPr id="19" name="TextBox 19">
            <a:extLst>
              <a:ext uri="{FF2B5EF4-FFF2-40B4-BE49-F238E27FC236}">
                <a16:creationId xmlns:a16="http://schemas.microsoft.com/office/drawing/2014/main" id="{1EFD1A57-20AC-4B02-8905-B2AFE3B022BD}"/>
              </a:ext>
            </a:extLst>
          </p:cNvPr>
          <p:cNvSpPr txBox="1"/>
          <p:nvPr/>
        </p:nvSpPr>
        <p:spPr>
          <a:xfrm>
            <a:off x="1028700" y="3771900"/>
            <a:ext cx="10248900" cy="266700"/>
          </a:xfrm>
        </p:spPr>
        <p:txBody>
          <a:bodyPr wrap="square" rtlCol="0" lIns="0" tIns="0" rIns="0" bIns="0" anchor="t"/>
          <a:lstStyle/>
          <a:p>
            <a:pPr algn="l"/>
            <a:r>
              <a:rPr sz="1500" b="1">
                <a:solidFill>
                  <a:srgbClr val="12233A"/>
                </a:solidFill>
                <a:latin typeface="Arial"/>
                <a:ea typeface="Arial"/>
              </a:rPr>
              <a:t>Garde-fous métier validés par les tests</a:t>
            </a:r>
          </a:p>
        </p:txBody>
      </p:sp>
      <p:sp>
        <p:nvSpPr>
          <p:cNvPr id="20" name="TextBox 20">
            <a:extLst>
              <a:ext uri="{FF2B5EF4-FFF2-40B4-BE49-F238E27FC236}">
                <a16:creationId xmlns:a16="http://schemas.microsoft.com/office/drawing/2014/main" id="{7B701B9E-73EC-45D3-A8C2-BB7E3564D19B}"/>
              </a:ext>
            </a:extLst>
          </p:cNvPr>
          <p:cNvSpPr txBox="1"/>
          <p:nvPr/>
        </p:nvSpPr>
        <p:spPr>
          <a:xfrm>
            <a:off x="1028700" y="4076700"/>
            <a:ext cx="10248900" cy="609600"/>
          </a:xfrm>
        </p:spPr>
        <p:txBody>
          <a:bodyPr wrap="square" rtlCol="0" lIns="0" tIns="0" rIns="0" bIns="0" anchor="t"/>
          <a:lstStyle/>
          <a:p>
            <a:pPr algn="l">
              <a:lnSpc>
                <a:spcPct val="118000"/>
              </a:lnSpc>
            </a:pPr>
            <a:r>
              <a:rPr sz="1300">
                <a:solidFill>
                  <a:srgbClr val="12233A"/>
                </a:solidFill>
                <a:latin typeface="Arial"/>
                <a:ea typeface="Arial"/>
              </a:rPr>
              <a:t>Aucun statut final sans validation RH, HIRED refusé à un compte purement manager (403), transition directe de CV_REVIEWED à ACCEPTED refusée, visibilité d'un manager limitée aux dossiers routés vers lui, silence du chatbot sur le score IA.</a:t>
            </a:r>
          </a:p>
        </p:txBody>
      </p:sp>
      <p:sp>
        <p:nvSpPr>
          <p:cNvPr id="21" name="Shape 21">
            <a:extLst>
              <a:ext uri="{FF2B5EF4-FFF2-40B4-BE49-F238E27FC236}">
                <a16:creationId xmlns:a16="http://schemas.microsoft.com/office/drawing/2014/main" id="{546D5029-DFF0-4788-8CF2-CF5094E33C70}"/>
              </a:ext>
            </a:extLst>
          </p:cNvPr>
          <p:cNvSpPr/>
          <p:nvPr/>
        </p:nvSpPr>
        <p:spPr>
          <a:xfrm>
            <a:off x="762000" y="4914900"/>
            <a:ext cx="10668000" cy="990600"/>
          </a:xfrm>
          <a:prstGeom prst="roundRect">
            <a:avLst/>
          </a:prstGeom>
          <a:solidFill>
            <a:srgbClr val="E8F0F9"/>
          </a:solidFill>
        </p:spPr>
        <p:txBody>
          <a:bodyPr wrap="square" rtlCol="0"/>
          <a:lstStyle/>
          <a:p>
            <a:r>
              <a:rPr/>
              <a:t/>
            </a:r>
          </a:p>
        </p:txBody>
      </p:sp>
      <p:sp>
        <p:nvSpPr>
          <p:cNvPr id="22" name="TextBox 22">
            <a:extLst>
              <a:ext uri="{FF2B5EF4-FFF2-40B4-BE49-F238E27FC236}">
                <a16:creationId xmlns:a16="http://schemas.microsoft.com/office/drawing/2014/main" id="{1DF5B0AE-D503-41F1-A268-29E20086E8CC}"/>
              </a:ext>
            </a:extLst>
          </p:cNvPr>
          <p:cNvSpPr txBox="1"/>
          <p:nvPr/>
        </p:nvSpPr>
        <p:spPr>
          <a:xfrm>
            <a:off x="1028700" y="5086350"/>
            <a:ext cx="10248900" cy="266700"/>
          </a:xfrm>
        </p:spPr>
        <p:txBody>
          <a:bodyPr wrap="square" rtlCol="0" lIns="0" tIns="0" rIns="0" bIns="0" anchor="t"/>
          <a:lstStyle/>
          <a:p>
            <a:pPr algn="l"/>
            <a:r>
              <a:rPr sz="1500" b="1">
                <a:solidFill>
                  <a:srgbClr val="12233A"/>
                </a:solidFill>
                <a:latin typeface="Arial"/>
                <a:ea typeface="Arial"/>
              </a:rPr>
              <a:t>Ce qui reste à renforcer</a:t>
            </a:r>
          </a:p>
        </p:txBody>
      </p:sp>
      <p:sp>
        <p:nvSpPr>
          <p:cNvPr id="23" name="TextBox 23">
            <a:extLst>
              <a:ext uri="{FF2B5EF4-FFF2-40B4-BE49-F238E27FC236}">
                <a16:creationId xmlns:a16="http://schemas.microsoft.com/office/drawing/2014/main" id="{A2095ED2-EEF6-44D2-915D-68FB4997E969}"/>
              </a:ext>
            </a:extLst>
          </p:cNvPr>
          <p:cNvSpPr txBox="1"/>
          <p:nvPr/>
        </p:nvSpPr>
        <p:spPr>
          <a:xfrm>
            <a:off x="1028700" y="5391150"/>
            <a:ext cx="10248900" cy="457200"/>
          </a:xfrm>
        </p:spPr>
        <p:txBody>
          <a:bodyPr wrap="square" rtlCol="0" lIns="0" tIns="0" rIns="0" bIns="0" anchor="t"/>
          <a:lstStyle/>
          <a:p>
            <a:pPr algn="l">
              <a:lnSpc>
                <a:spcPct val="118000"/>
              </a:lnSpc>
            </a:pPr>
            <a:r>
              <a:rPr sz="1250">
                <a:solidFill>
                  <a:srgbClr val="12233A"/>
                </a:solidFill>
                <a:latin typeface="Arial"/>
                <a:ea typeface="Arial"/>
              </a:rPr>
              <a:t>Tests d'intégration couvrant services et base de données, tests de bout en bout rejouant les parcours complets, tests front-end sur les composants Angular, chaîne CI/CD et déploiement sur infrastructure cloud.</a:t>
            </a:r>
          </a:p>
        </p:txBody>
      </p:sp>
      <p:sp>
        <p:nvSpPr>
          <p:cNvPr id="24" name="TextBox 24">
            <a:extLst>
              <a:ext uri="{FF2B5EF4-FFF2-40B4-BE49-F238E27FC236}">
                <a16:creationId xmlns:a16="http://schemas.microsoft.com/office/drawing/2014/main" id="{ADC300A8-B782-477B-8593-5A86C90DEB0E}"/>
              </a:ext>
            </a:extLst>
          </p:cNvPr>
          <p:cNvSpPr txBox="1"/>
          <p:nvPr/>
        </p:nvSpPr>
        <p:spPr>
          <a:xfrm>
            <a:off x="762000" y="6057900"/>
            <a:ext cx="10668000" cy="228600"/>
          </a:xfrm>
        </p:spPr>
        <p:txBody>
          <a:bodyPr wrap="square" rtlCol="0" lIns="0" tIns="0" rIns="0" bIns="0" anchor="t"/>
          <a:lstStyle/>
          <a:p>
            <a:pPr algn="l"/>
            <a:r>
              <a:rPr sz="1200">
                <a:solidFill>
                  <a:srgbClr val="9AA9BC"/>
                </a:solidFill>
                <a:latin typeface="Arial"/>
                <a:ea typeface="Arial"/>
              </a:rPr>
              <a:t>Détail : chapitre 4 du rapport, sections 4.4 et 4.5 ; seuil de 60/100 mesuré sur un Gold Set de vingt CV annotés (19 décisions sur 20).</a:t>
            </a:r>
          </a:p>
        </p:txBody>
      </p:sp>
      <p:sp>
        <p:nvSpPr>
          <p:cNvPr id="25" name="TextBox 25">
            <a:extLst>
              <a:ext uri="{FF2B5EF4-FFF2-40B4-BE49-F238E27FC236}">
                <a16:creationId xmlns:a16="http://schemas.microsoft.com/office/drawing/2014/main" id="{E80F3C20-DA0D-4B3C-AD93-A97948BE8105}"/>
              </a:ext>
            </a:extLst>
          </p:cNvPr>
          <p:cNvSpPr txBox="1"/>
          <p:nvPr/>
        </p:nvSpPr>
        <p:spPr>
          <a:xfrm>
            <a:off x="762000" y="6515100"/>
            <a:ext cx="3810000" cy="190500"/>
          </a:xfrm>
        </p:spPr>
        <p:txBody>
          <a:bodyPr wrap="square" rtlCol="0" lIns="0" tIns="0" rIns="0" bIns="0" anchor="t"/>
          <a:lstStyle/>
          <a:p>
            <a:pPr algn="l"/>
            <a:r>
              <a:rPr sz="1050">
                <a:solidFill>
                  <a:srgbClr val="9AA9BC"/>
                </a:solidFill>
                <a:latin typeface="Arial"/>
                <a:ea typeface="Arial"/>
              </a:rPr>
              <a:t>JOB4YOU - Soutenance PFE</a:t>
            </a:r>
          </a:p>
        </p:txBody>
      </p:sp>
      <p:sp>
        <p:nvSpPr>
          <p:cNvPr id="26" name="TextBox 26">
            <a:extLst>
              <a:ext uri="{FF2B5EF4-FFF2-40B4-BE49-F238E27FC236}">
                <a16:creationId xmlns:a16="http://schemas.microsoft.com/office/drawing/2014/main" id="{70F9CC75-B3E9-4416-B394-A4E3251AF6DA}"/>
              </a:ext>
            </a:extLst>
          </p:cNvPr>
          <p:cNvSpPr txBox="1"/>
          <p:nvPr/>
        </p:nvSpPr>
        <p:spPr>
          <a:xfrm>
            <a:off x="10858500" y="6515100"/>
            <a:ext cx="571500" cy="190500"/>
          </a:xfrm>
        </p:spPr>
        <p:txBody>
          <a:bodyPr wrap="square" rtlCol="0" lIns="0" tIns="0" rIns="0" bIns="0" anchor="t"/>
          <a:lstStyle/>
          <a:p>
            <a:pPr algn="r"/>
            <a:r>
              <a:rPr sz="1050">
                <a:solidFill>
                  <a:srgbClr val="9AA9BC"/>
                </a:solidFill>
                <a:latin typeface="Arial"/>
                <a:ea typeface="Arial"/>
              </a:rPr>
              <a:t>16 / 19</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id="{352DF810-CA17-4827-A88E-9CC0F71BB5B9}"/>
              </a:ext>
            </a:extLst>
          </p:cNvPr>
          <p:cNvSpPr txBox="1"/>
          <p:nvPr/>
        </p:nvSpPr>
        <p:spPr>
          <a:xfrm>
            <a:off x="762000" y="400050"/>
            <a:ext cx="7620000" cy="209550"/>
          </a:xfrm>
        </p:spPr>
        <p:txBody>
          <a:bodyPr wrap="square" rtlCol="0" lIns="0" tIns="0" rIns="0" bIns="0" anchor="t"/>
          <a:lstStyle/>
          <a:p>
            <a:pPr algn="l"/>
            <a:r>
              <a:rPr sz="1200" b="1">
                <a:solidFill>
                  <a:srgbClr val="00A8B5"/>
                </a:solidFill>
                <a:latin typeface="Arial"/>
                <a:ea typeface="Arial"/>
              </a:rPr>
              <a:t>07 · RECUL</a:t>
            </a:r>
          </a:p>
        </p:txBody>
      </p:sp>
      <p:sp>
        <p:nvSpPr>
          <p:cNvPr id="4" name="TextBox 4">
            <a:extLst>
              <a:ext uri="{FF2B5EF4-FFF2-40B4-BE49-F238E27FC236}">
                <a16:creationId xmlns:a16="http://schemas.microsoft.com/office/drawing/2014/main" id="{81CE6F06-D6A2-4193-B97A-C9481931D5B6}"/>
              </a:ext>
            </a:extLst>
          </p:cNvPr>
          <p:cNvSpPr txBox="1"/>
          <p:nvPr/>
        </p:nvSpPr>
        <p:spPr>
          <a:xfrm>
            <a:off x="762000" y="609600"/>
            <a:ext cx="9525000" cy="476250"/>
          </a:xfrm>
        </p:spPr>
        <p:txBody>
          <a:bodyPr wrap="square" rtlCol="0" lIns="0" tIns="0" rIns="0" bIns="0" anchor="t"/>
          <a:lstStyle/>
          <a:p>
            <a:pPr algn="l"/>
            <a:r>
              <a:rPr sz="3000" b="1">
                <a:solidFill>
                  <a:srgbClr val="12233A"/>
                </a:solidFill>
                <a:latin typeface="Arial"/>
                <a:ea typeface="Arial"/>
              </a:rPr>
              <a:t>Limites assumées et conformité</a:t>
            </a:r>
          </a:p>
        </p:txBody>
      </p:sp>
      <p:sp>
        <p:nvSpPr>
          <p:cNvPr id="5" name="Shape 5">
            <a:extLst>
              <a:ext uri="{FF2B5EF4-FFF2-40B4-BE49-F238E27FC236}">
                <a16:creationId xmlns:a16="http://schemas.microsoft.com/office/drawing/2014/main" id="{8807A2F9-6041-4FE1-9907-AB1773D8B744}"/>
              </a:ext>
            </a:extLst>
          </p:cNvPr>
          <p:cNvSpPr/>
          <p:nvPr/>
        </p:nvSpPr>
        <p:spPr>
          <a:xfrm>
            <a:off x="762000" y="1181100"/>
            <a:ext cx="5143500" cy="2857500"/>
          </a:xfrm>
          <a:prstGeom prst="roundRect">
            <a:avLst/>
          </a:prstGeom>
          <a:solidFill>
            <a:srgbClr val="FFFFFF"/>
          </a:solidFill>
          <a:ln w="12700">
            <a:solidFill>
              <a:srgbClr val="D8E0EA"/>
            </a:solidFill>
          </a:ln>
        </p:spPr>
        <p:txBody>
          <a:bodyPr wrap="square" rtlCol="0"/>
          <a:lstStyle/>
          <a:p>
            <a:r>
              <a:rPr/>
              <a:t/>
            </a:r>
          </a:p>
        </p:txBody>
      </p:sp>
      <p:sp>
        <p:nvSpPr>
          <p:cNvPr id="6" name="TextBox 6">
            <a:extLst>
              <a:ext uri="{FF2B5EF4-FFF2-40B4-BE49-F238E27FC236}">
                <a16:creationId xmlns:a16="http://schemas.microsoft.com/office/drawing/2014/main" id="{6E0162B6-5308-4D17-A147-D9E3B533D3DD}"/>
              </a:ext>
            </a:extLst>
          </p:cNvPr>
          <p:cNvSpPr txBox="1"/>
          <p:nvPr/>
        </p:nvSpPr>
        <p:spPr>
          <a:xfrm>
            <a:off x="1066800" y="1390650"/>
            <a:ext cx="4533900" cy="285750"/>
          </a:xfrm>
        </p:spPr>
        <p:txBody>
          <a:bodyPr wrap="square" rtlCol="0" lIns="0" tIns="0" rIns="0" bIns="0" anchor="t"/>
          <a:lstStyle/>
          <a:p>
            <a:pPr algn="l"/>
            <a:r>
              <a:rPr sz="1600" b="1">
                <a:solidFill>
                  <a:srgbClr val="12233A"/>
                </a:solidFill>
                <a:latin typeface="Arial"/>
                <a:ea typeface="Arial"/>
              </a:rPr>
              <a:t>Cadre réglementaire</a:t>
            </a:r>
          </a:p>
        </p:txBody>
      </p:sp>
      <p:sp>
        <p:nvSpPr>
          <p:cNvPr id="7" name="TextBox 7">
            <a:extLst>
              <a:ext uri="{FF2B5EF4-FFF2-40B4-BE49-F238E27FC236}">
                <a16:creationId xmlns:a16="http://schemas.microsoft.com/office/drawing/2014/main" id="{D6E173DB-DAF3-40AD-B9FC-866F5A79112E}"/>
              </a:ext>
            </a:extLst>
          </p:cNvPr>
          <p:cNvSpPr txBox="1"/>
          <p:nvPr/>
        </p:nvSpPr>
        <p:spPr>
          <a:xfrm>
            <a:off x="1066800" y="1733550"/>
            <a:ext cx="4533900" cy="2190750"/>
          </a:xfrm>
        </p:spPr>
        <p:txBody>
          <a:bodyPr wrap="square" rtlCol="0" lIns="0" tIns="0" rIns="0" bIns="0" anchor="t"/>
          <a:lstStyle/>
          <a:p>
            <a:pPr marL="228600" indent="-228600" algn="l">
              <a:lnSpc>
                <a:spcPct val="118000"/>
              </a:lnSpc>
              <a:spcAft>
                <a:spcPts val="1000"/>
              </a:spcAft>
              <a:buChar char="•"/>
            </a:pPr>
            <a:r>
              <a:rPr sz="1200">
                <a:solidFill>
                  <a:srgbClr val="12233A"/>
                </a:solidFill>
                <a:latin typeface="Arial"/>
                <a:ea typeface="Arial"/>
              </a:rPr>
              <a:t>RGPD (UE) 2016/679, article 22 : toute décision automatisée reste sous supervision humaine ; consentement recueilli au dépôt de la candidature.</a:t>
            </a:r>
          </a:p>
          <a:p>
            <a:pPr marL="228600" indent="-228600" algn="l">
              <a:lnSpc>
                <a:spcPct val="118000"/>
              </a:lnSpc>
              <a:spcAft>
                <a:spcPts val="1000"/>
              </a:spcAft>
              <a:buChar char="•"/>
            </a:pPr>
            <a:r>
              <a:rPr sz="1200">
                <a:solidFill>
                  <a:srgbClr val="12233A"/>
                </a:solidFill>
                <a:latin typeface="Arial"/>
                <a:ea typeface="Arial"/>
              </a:rPr>
              <a:t>Un scoring utilisé en recrutement peut être qualifié de système d'IA « haut risque » au sens de l'AI Act (UE) 2024/1689.</a:t>
            </a:r>
          </a:p>
          <a:p>
            <a:pPr marL="228600" indent="-228600" algn="l">
              <a:lnSpc>
                <a:spcPct val="118000"/>
              </a:lnSpc>
              <a:buChar char="•"/>
            </a:pPr>
            <a:r>
              <a:rPr sz="1200">
                <a:solidFill>
                  <a:srgbClr val="12233A"/>
                </a:solidFill>
                <a:latin typeface="Arial"/>
                <a:ea typeface="Arial"/>
              </a:rPr>
              <a:t>Déjà couvert : traçabilité des décisions dans le journal d'audit, surcharge de score justifiée, validation RH systématique.</a:t>
            </a:r>
          </a:p>
        </p:txBody>
      </p:sp>
      <p:sp>
        <p:nvSpPr>
          <p:cNvPr id="8" name="Shape 8">
            <a:extLst>
              <a:ext uri="{FF2B5EF4-FFF2-40B4-BE49-F238E27FC236}">
                <a16:creationId xmlns:a16="http://schemas.microsoft.com/office/drawing/2014/main" id="{73A6708F-3AB2-4CE5-8887-59C420933232}"/>
              </a:ext>
            </a:extLst>
          </p:cNvPr>
          <p:cNvSpPr/>
          <p:nvPr/>
        </p:nvSpPr>
        <p:spPr>
          <a:xfrm>
            <a:off x="6286500" y="1181100"/>
            <a:ext cx="5143500" cy="2857500"/>
          </a:xfrm>
          <a:prstGeom prst="roundRect">
            <a:avLst/>
          </a:prstGeom>
          <a:solidFill>
            <a:srgbClr val="FFFFFF"/>
          </a:solidFill>
          <a:ln w="12700">
            <a:solidFill>
              <a:srgbClr val="D8E0EA"/>
            </a:solidFill>
          </a:ln>
        </p:spPr>
        <p:txBody>
          <a:bodyPr wrap="square" rtlCol="0"/>
          <a:lstStyle/>
          <a:p>
            <a:r>
              <a:rPr/>
              <a:t/>
            </a:r>
          </a:p>
        </p:txBody>
      </p:sp>
      <p:sp>
        <p:nvSpPr>
          <p:cNvPr id="9" name="TextBox 9">
            <a:extLst>
              <a:ext uri="{FF2B5EF4-FFF2-40B4-BE49-F238E27FC236}">
                <a16:creationId xmlns:a16="http://schemas.microsoft.com/office/drawing/2014/main" id="{B7578FA1-48C2-4DF2-A66F-F82440571BA7}"/>
              </a:ext>
            </a:extLst>
          </p:cNvPr>
          <p:cNvSpPr txBox="1"/>
          <p:nvPr/>
        </p:nvSpPr>
        <p:spPr>
          <a:xfrm>
            <a:off x="6591300" y="1390650"/>
            <a:ext cx="4533900" cy="285750"/>
          </a:xfrm>
        </p:spPr>
        <p:txBody>
          <a:bodyPr wrap="square" rtlCol="0" lIns="0" tIns="0" rIns="0" bIns="0" anchor="t"/>
          <a:lstStyle/>
          <a:p>
            <a:pPr algn="l"/>
            <a:r>
              <a:rPr sz="1600" b="1">
                <a:solidFill>
                  <a:srgbClr val="12233A"/>
                </a:solidFill>
                <a:latin typeface="Arial"/>
                <a:ea typeface="Arial"/>
              </a:rPr>
              <a:t>Limites connues</a:t>
            </a:r>
          </a:p>
        </p:txBody>
      </p:sp>
      <p:sp>
        <p:nvSpPr>
          <p:cNvPr id="10" name="TextBox 10">
            <a:extLst>
              <a:ext uri="{FF2B5EF4-FFF2-40B4-BE49-F238E27FC236}">
                <a16:creationId xmlns:a16="http://schemas.microsoft.com/office/drawing/2014/main" id="{86FF8644-4E24-4DAE-B16D-5284044A8698}"/>
              </a:ext>
            </a:extLst>
          </p:cNvPr>
          <p:cNvSpPr txBox="1"/>
          <p:nvPr/>
        </p:nvSpPr>
        <p:spPr>
          <a:xfrm>
            <a:off x="6591300" y="1733550"/>
            <a:ext cx="4533900" cy="2190750"/>
          </a:xfrm>
        </p:spPr>
        <p:txBody>
          <a:bodyPr wrap="square" rtlCol="0" lIns="0" tIns="0" rIns="0" bIns="0" anchor="t"/>
          <a:lstStyle/>
          <a:p>
            <a:pPr marL="228600" indent="-228600" algn="l">
              <a:lnSpc>
                <a:spcPct val="118000"/>
              </a:lnSpc>
              <a:spcAft>
                <a:spcPts val="1000"/>
              </a:spcAft>
              <a:buChar char="•"/>
            </a:pPr>
            <a:r>
              <a:rPr sz="1200">
                <a:solidFill>
                  <a:srgbClr val="12233A"/>
                </a:solidFill>
                <a:latin typeface="Arial"/>
                <a:ea typeface="Arial"/>
              </a:rPr>
              <a:t>Transferts vers des services d'IA tiers, Cohere et OpenRouter, à encadrer contractuellement.</a:t>
            </a:r>
          </a:p>
          <a:p>
            <a:pPr marL="228600" indent="-228600" algn="l">
              <a:lnSpc>
                <a:spcPct val="118000"/>
              </a:lnSpc>
              <a:spcAft>
                <a:spcPts val="1000"/>
              </a:spcAft>
              <a:buChar char="•"/>
            </a:pPr>
            <a:r>
              <a:rPr sz="1200">
                <a:solidFill>
                  <a:srgbClr val="12233A"/>
                </a:solidFill>
                <a:latin typeface="Arial"/>
                <a:ea typeface="Arial"/>
              </a:rPr>
              <a:t>Modèle du chatbot expérimental, fournisseur non identifié : à remplacer avant une production.</a:t>
            </a:r>
          </a:p>
          <a:p>
            <a:pPr marL="228600" indent="-228600" algn="l">
              <a:lnSpc>
                <a:spcPct val="118000"/>
              </a:lnSpc>
              <a:spcAft>
                <a:spcPts val="1000"/>
              </a:spcAft>
              <a:buChar char="•"/>
            </a:pPr>
            <a:r>
              <a:rPr sz="1200">
                <a:solidFill>
                  <a:srgbClr val="12233A"/>
                </a:solidFill>
                <a:latin typeface="Arial"/>
                <a:ea typeface="Arial"/>
              </a:rPr>
              <a:t>Aucune politique de conservation et d'effacement des CV et des évaluations, à définir et outiller.</a:t>
            </a:r>
          </a:p>
          <a:p>
            <a:pPr marL="228600" indent="-228600" algn="l">
              <a:lnSpc>
                <a:spcPct val="118000"/>
              </a:lnSpc>
              <a:buChar char="•"/>
            </a:pPr>
            <a:r>
              <a:rPr sz="1200">
                <a:solidFill>
                  <a:srgbClr val="12233A"/>
                </a:solidFill>
                <a:latin typeface="Arial"/>
                <a:ea typeface="Arial"/>
              </a:rPr>
              <a:t>Libellé de la case de consentement à compléter sur les traitements par IA tiers.</a:t>
            </a:r>
          </a:p>
        </p:txBody>
      </p:sp>
      <p:sp>
        <p:nvSpPr>
          <p:cNvPr id="11" name="Shape 11">
            <a:extLst>
              <a:ext uri="{FF2B5EF4-FFF2-40B4-BE49-F238E27FC236}">
                <a16:creationId xmlns:a16="http://schemas.microsoft.com/office/drawing/2014/main" id="{D5BDF9DC-CF14-4071-92E3-21E6E83415C5}"/>
              </a:ext>
            </a:extLst>
          </p:cNvPr>
          <p:cNvSpPr/>
          <p:nvPr/>
        </p:nvSpPr>
        <p:spPr>
          <a:xfrm>
            <a:off x="762000" y="4210050"/>
            <a:ext cx="10668000" cy="1181100"/>
          </a:xfrm>
          <a:prstGeom prst="roundRect">
            <a:avLst/>
          </a:prstGeom>
          <a:solidFill>
            <a:srgbClr val="FFFFFF"/>
          </a:solidFill>
          <a:ln w="12700">
            <a:solidFill>
              <a:srgbClr val="D8E0EA"/>
            </a:solidFill>
          </a:ln>
        </p:spPr>
        <p:txBody>
          <a:bodyPr wrap="square" rtlCol="0"/>
          <a:lstStyle/>
          <a:p>
            <a:r>
              <a:rPr/>
              <a:t/>
            </a:r>
          </a:p>
        </p:txBody>
      </p:sp>
      <p:sp>
        <p:nvSpPr>
          <p:cNvPr id="12" name="TextBox 12">
            <a:extLst>
              <a:ext uri="{FF2B5EF4-FFF2-40B4-BE49-F238E27FC236}">
                <a16:creationId xmlns:a16="http://schemas.microsoft.com/office/drawing/2014/main" id="{BD003DAB-1E97-490C-854C-56F722EFB171}"/>
              </a:ext>
            </a:extLst>
          </p:cNvPr>
          <p:cNvSpPr txBox="1"/>
          <p:nvPr/>
        </p:nvSpPr>
        <p:spPr>
          <a:xfrm>
            <a:off x="1028700" y="4400550"/>
            <a:ext cx="10248900" cy="266700"/>
          </a:xfrm>
        </p:spPr>
        <p:txBody>
          <a:bodyPr wrap="square" rtlCol="0" lIns="0" tIns="0" rIns="0" bIns="0" anchor="t"/>
          <a:lstStyle/>
          <a:p>
            <a:pPr algn="l"/>
            <a:r>
              <a:rPr sz="1500" b="1">
                <a:solidFill>
                  <a:srgbClr val="1B4F9C"/>
                </a:solidFill>
                <a:latin typeface="Arial"/>
                <a:ea typeface="Arial"/>
              </a:rPr>
              <a:t>État d'avancement</a:t>
            </a:r>
          </a:p>
        </p:txBody>
      </p:sp>
      <p:sp>
        <p:nvSpPr>
          <p:cNvPr id="13" name="TextBox 13">
            <a:extLst>
              <a:ext uri="{FF2B5EF4-FFF2-40B4-BE49-F238E27FC236}">
                <a16:creationId xmlns:a16="http://schemas.microsoft.com/office/drawing/2014/main" id="{4E18AE77-872C-48B8-9905-4DC2415319E5}"/>
              </a:ext>
            </a:extLst>
          </p:cNvPr>
          <p:cNvSpPr txBox="1"/>
          <p:nvPr/>
        </p:nvSpPr>
        <p:spPr>
          <a:xfrm>
            <a:off x="1028700" y="4705350"/>
            <a:ext cx="10248900" cy="647700"/>
          </a:xfrm>
        </p:spPr>
        <p:txBody>
          <a:bodyPr wrap="square" rtlCol="0" lIns="0" tIns="0" rIns="0" bIns="0" anchor="t"/>
          <a:lstStyle/>
          <a:p>
            <a:pPr algn="l">
              <a:lnSpc>
                <a:spcPct val="118000"/>
              </a:lnSpc>
            </a:pPr>
            <a:r>
              <a:rPr sz="1250">
                <a:solidFill>
                  <a:srgbClr val="12233A"/>
                </a:solidFill>
                <a:latin typeface="Arial"/>
                <a:ea typeface="Arial"/>
              </a:rPr>
              <a:t>L'application est fonctionnelle et testée dans un environnement de développement. Une exploitation en préproduction reste conditionnée à l'encadrement des flux vers les services d'IA tiers, à la définition d'une politique de rétention et à la montée en couverture des tests.</a:t>
            </a:r>
          </a:p>
        </p:txBody>
      </p:sp>
      <p:sp>
        <p:nvSpPr>
          <p:cNvPr id="14" name="TextBox 14">
            <a:extLst>
              <a:ext uri="{FF2B5EF4-FFF2-40B4-BE49-F238E27FC236}">
                <a16:creationId xmlns:a16="http://schemas.microsoft.com/office/drawing/2014/main" id="{AE431809-8137-480D-9A87-2F5CC9D81520}"/>
              </a:ext>
            </a:extLst>
          </p:cNvPr>
          <p:cNvSpPr txBox="1"/>
          <p:nvPr/>
        </p:nvSpPr>
        <p:spPr>
          <a:xfrm>
            <a:off x="762000" y="5581650"/>
            <a:ext cx="10668000" cy="457200"/>
          </a:xfrm>
        </p:spPr>
        <p:txBody>
          <a:bodyPr wrap="square" rtlCol="0" lIns="0" tIns="0" rIns="0" bIns="0" anchor="t"/>
          <a:lstStyle/>
          <a:p>
            <a:pPr algn="l">
              <a:lnSpc>
                <a:spcPct val="118000"/>
              </a:lnSpc>
            </a:pPr>
            <a:r>
              <a:rPr sz="1250">
                <a:solidFill>
                  <a:srgbClr val="5A6B80"/>
                </a:solidFill>
                <a:latin typeface="Arial"/>
                <a:ea typeface="Arial"/>
              </a:rPr>
              <a:t>Ces points sont développés en section 4.6 du rapport. Ils ne remettent en cause aucune fonctionnalité livrée : ils en conditionnent l'exploitation.</a:t>
            </a:r>
          </a:p>
        </p:txBody>
      </p:sp>
      <p:sp>
        <p:nvSpPr>
          <p:cNvPr id="15" name="TextBox 15">
            <a:extLst>
              <a:ext uri="{FF2B5EF4-FFF2-40B4-BE49-F238E27FC236}">
                <a16:creationId xmlns:a16="http://schemas.microsoft.com/office/drawing/2014/main" id="{09AA437D-DA47-4602-B906-1B4F4C5DE459}"/>
              </a:ext>
            </a:extLst>
          </p:cNvPr>
          <p:cNvSpPr txBox="1"/>
          <p:nvPr/>
        </p:nvSpPr>
        <p:spPr>
          <a:xfrm>
            <a:off x="762000" y="6515100"/>
            <a:ext cx="3810000" cy="190500"/>
          </a:xfrm>
        </p:spPr>
        <p:txBody>
          <a:bodyPr wrap="square" rtlCol="0" lIns="0" tIns="0" rIns="0" bIns="0" anchor="t"/>
          <a:lstStyle/>
          <a:p>
            <a:pPr algn="l"/>
            <a:r>
              <a:rPr sz="1050">
                <a:solidFill>
                  <a:srgbClr val="9AA9BC"/>
                </a:solidFill>
                <a:latin typeface="Arial"/>
                <a:ea typeface="Arial"/>
              </a:rPr>
              <a:t>JOB4YOU - Soutenance PFE</a:t>
            </a:r>
          </a:p>
        </p:txBody>
      </p:sp>
      <p:sp>
        <p:nvSpPr>
          <p:cNvPr id="16" name="TextBox 16">
            <a:extLst>
              <a:ext uri="{FF2B5EF4-FFF2-40B4-BE49-F238E27FC236}">
                <a16:creationId xmlns:a16="http://schemas.microsoft.com/office/drawing/2014/main" id="{25E728D9-A559-45A1-A9FA-995C43AA14F9}"/>
              </a:ext>
            </a:extLst>
          </p:cNvPr>
          <p:cNvSpPr txBox="1"/>
          <p:nvPr/>
        </p:nvSpPr>
        <p:spPr>
          <a:xfrm>
            <a:off x="10858500" y="6515100"/>
            <a:ext cx="571500" cy="190500"/>
          </a:xfrm>
        </p:spPr>
        <p:txBody>
          <a:bodyPr wrap="square" rtlCol="0" lIns="0" tIns="0" rIns="0" bIns="0" anchor="t"/>
          <a:lstStyle/>
          <a:p>
            <a:pPr algn="r"/>
            <a:r>
              <a:rPr sz="1050">
                <a:solidFill>
                  <a:srgbClr val="9AA9BC"/>
                </a:solidFill>
                <a:latin typeface="Arial"/>
                <a:ea typeface="Arial"/>
              </a:rPr>
              <a:t>17 / 19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id="{77FD50A3-A410-46A5-AAA4-7B4614B4D286}"/>
              </a:ext>
            </a:extLst>
          </p:cNvPr>
          <p:cNvSpPr txBox="1"/>
          <p:nvPr/>
        </p:nvSpPr>
        <p:spPr>
          <a:xfrm>
            <a:off x="762000" y="400050"/>
            <a:ext cx="7620000" cy="209550"/>
          </a:xfrm>
        </p:spPr>
        <p:txBody>
          <a:bodyPr wrap="square" rtlCol="0" lIns="0" tIns="0" rIns="0" bIns="0" anchor="t"/>
          <a:lstStyle/>
          <a:p>
            <a:pPr algn="l"/>
            <a:r>
              <a:rPr sz="1200" b="1">
                <a:solidFill>
                  <a:srgbClr val="00A8B5"/>
                </a:solidFill>
                <a:latin typeface="Arial"/>
                <a:ea typeface="Arial"/>
              </a:rPr>
              <a:t>07 · RECUL</a:t>
            </a:r>
          </a:p>
        </p:txBody>
      </p:sp>
      <p:sp>
        <p:nvSpPr>
          <p:cNvPr id="4" name="TextBox 4">
            <a:extLst>
              <a:ext uri="{FF2B5EF4-FFF2-40B4-BE49-F238E27FC236}">
                <a16:creationId xmlns:a16="http://schemas.microsoft.com/office/drawing/2014/main" id="{F5D94888-FF6A-4A02-A9F0-32F780846E07}"/>
              </a:ext>
            </a:extLst>
          </p:cNvPr>
          <p:cNvSpPr txBox="1"/>
          <p:nvPr/>
        </p:nvSpPr>
        <p:spPr>
          <a:xfrm>
            <a:off x="762000" y="609600"/>
            <a:ext cx="9525000" cy="476250"/>
          </a:xfrm>
        </p:spPr>
        <p:txBody>
          <a:bodyPr wrap="square" rtlCol="0" lIns="0" tIns="0" rIns="0" bIns="0" anchor="t"/>
          <a:lstStyle/>
          <a:p>
            <a:pPr algn="l"/>
            <a:r>
              <a:rPr sz="3000" b="1">
                <a:solidFill>
                  <a:srgbClr val="12233A"/>
                </a:solidFill>
                <a:latin typeface="Arial"/>
                <a:ea typeface="Arial"/>
              </a:rPr>
              <a:t>Bilan et perspectives</a:t>
            </a:r>
          </a:p>
        </p:txBody>
      </p:sp>
      <p:sp>
        <p:nvSpPr>
          <p:cNvPr id="5" name="TextBox 5">
            <a:extLst>
              <a:ext uri="{FF2B5EF4-FFF2-40B4-BE49-F238E27FC236}">
                <a16:creationId xmlns:a16="http://schemas.microsoft.com/office/drawing/2014/main" id="{1316AC96-22E8-46B9-98FB-A94C239AD825}"/>
              </a:ext>
            </a:extLst>
          </p:cNvPr>
          <p:cNvSpPr txBox="1"/>
          <p:nvPr/>
        </p:nvSpPr>
        <p:spPr>
          <a:xfrm>
            <a:off x="762000" y="1409700"/>
            <a:ext cx="5334000" cy="1428750"/>
          </a:xfrm>
        </p:spPr>
        <p:txBody>
          <a:bodyPr wrap="square" rtlCol="0" lIns="0" tIns="0" rIns="0" bIns="0" anchor="t"/>
          <a:lstStyle/>
          <a:p>
            <a:pPr algn="l"/>
            <a:r>
              <a:rPr sz="8000" b="1">
                <a:solidFill>
                  <a:srgbClr val="1B4F9C"/>
                </a:solidFill>
                <a:latin typeface="Arial"/>
                <a:ea typeface="Arial"/>
              </a:rPr>
              <a:t>19</a:t>
            </a:r>
          </a:p>
        </p:txBody>
      </p:sp>
      <p:sp>
        <p:nvSpPr>
          <p:cNvPr id="6" name="TextBox 6">
            <a:extLst>
              <a:ext uri="{FF2B5EF4-FFF2-40B4-BE49-F238E27FC236}">
                <a16:creationId xmlns:a16="http://schemas.microsoft.com/office/drawing/2014/main" id="{05879468-CFFB-4EBE-B12B-E7D591843D79}"/>
              </a:ext>
            </a:extLst>
          </p:cNvPr>
          <p:cNvSpPr txBox="1"/>
          <p:nvPr/>
        </p:nvSpPr>
        <p:spPr>
          <a:xfrm>
            <a:off x="762000" y="2876550"/>
            <a:ext cx="5334000" cy="762000"/>
          </a:xfrm>
        </p:spPr>
        <p:txBody>
          <a:bodyPr wrap="square" rtlCol="0" lIns="0" tIns="0" rIns="0" bIns="0" anchor="t"/>
          <a:lstStyle/>
          <a:p>
            <a:pPr algn="l">
              <a:lnSpc>
                <a:spcPct val="110000"/>
              </a:lnSpc>
            </a:pPr>
            <a:r>
              <a:rPr sz="2000" b="1">
                <a:solidFill>
                  <a:srgbClr val="12233A"/>
                </a:solidFill>
                <a:latin typeface="Arial"/>
                <a:ea typeface="Arial"/>
              </a:rPr>
              <a:t>fonctionnalités du bilan, toutes réalisées</a:t>
            </a:r>
          </a:p>
        </p:txBody>
      </p:sp>
      <p:sp>
        <p:nvSpPr>
          <p:cNvPr id="7" name="TextBox 7">
            <a:extLst>
              <a:ext uri="{FF2B5EF4-FFF2-40B4-BE49-F238E27FC236}">
                <a16:creationId xmlns:a16="http://schemas.microsoft.com/office/drawing/2014/main" id="{ECAF4562-40F0-4843-81EB-0B93AB2614FB}"/>
              </a:ext>
            </a:extLst>
          </p:cNvPr>
          <p:cNvSpPr txBox="1"/>
          <p:nvPr/>
        </p:nvSpPr>
        <p:spPr>
          <a:xfrm>
            <a:off x="762000" y="3848100"/>
            <a:ext cx="5334000" cy="2000250"/>
          </a:xfrm>
        </p:spPr>
        <p:txBody>
          <a:bodyPr wrap="square" rtlCol="0" lIns="0" tIns="0" rIns="0" bIns="0" anchor="t"/>
          <a:lstStyle/>
          <a:p>
            <a:pPr algn="l">
              <a:spcAft>
                <a:spcPts val="600"/>
              </a:spcAft>
            </a:pPr>
            <a:r>
              <a:rPr sz="1400" b="1">
                <a:solidFill>
                  <a:srgbClr val="1B4F9C"/>
                </a:solidFill>
                <a:latin typeface="Arial"/>
                <a:ea typeface="Arial"/>
              </a:rPr>
              <a:t>Ce qui a été tenu</a:t>
            </a:r>
          </a:p>
          <a:p>
            <a:pPr algn="l">
              <a:lnSpc>
                <a:spcPct val="118000"/>
              </a:lnSpc>
              <a:spcAft>
                <a:spcPts val="1800"/>
              </a:spcAft>
            </a:pPr>
            <a:r>
              <a:rPr sz="1250">
                <a:solidFill>
                  <a:srgbClr val="12233A"/>
                </a:solidFill>
                <a:latin typeface="Arial"/>
                <a:ea typeface="Arial"/>
              </a:rPr>
              <a:t>Le tri des CV est automatisé, les relances ne s'oublient plus, chaque décision laisse une trace consultable.</a:t>
            </a:r>
          </a:p>
          <a:p>
            <a:pPr algn="l">
              <a:spcAft>
                <a:spcPts val="600"/>
              </a:spcAft>
            </a:pPr>
            <a:r>
              <a:rPr sz="1400" b="1">
                <a:solidFill>
                  <a:srgbClr val="1B4F9C"/>
                </a:solidFill>
                <a:latin typeface="Arial"/>
                <a:ea typeface="Arial"/>
              </a:rPr>
              <a:t>Ce qui reste ouvert</a:t>
            </a:r>
          </a:p>
          <a:p>
            <a:pPr algn="l">
              <a:lnSpc>
                <a:spcPct val="118000"/>
              </a:lnSpc>
            </a:pPr>
            <a:r>
              <a:rPr sz="1250">
                <a:solidFill>
                  <a:srgbClr val="12233A"/>
                </a:solidFill>
                <a:latin typeface="Arial"/>
                <a:ea typeface="Arial"/>
              </a:rPr>
              <a:t>L'exploitation réelle suppose d'encadrer les flux vers les services d'IA tiers et de définir une politique de conservation.</a:t>
            </a:r>
          </a:p>
        </p:txBody>
      </p:sp>
      <p:sp>
        <p:nvSpPr>
          <p:cNvPr id="8" name="Shape 8">
            <a:extLst>
              <a:ext uri="{FF2B5EF4-FFF2-40B4-BE49-F238E27FC236}">
                <a16:creationId xmlns:a16="http://schemas.microsoft.com/office/drawing/2014/main" id="{28E7181A-AAB6-4965-B15C-95EBEECECFE4}"/>
              </a:ext>
            </a:extLst>
          </p:cNvPr>
          <p:cNvSpPr/>
          <p:nvPr/>
        </p:nvSpPr>
        <p:spPr>
          <a:xfrm>
            <a:off x="6477000" y="1409700"/>
            <a:ext cx="4953000" cy="4381500"/>
          </a:xfrm>
          <a:prstGeom prst="roundRect">
            <a:avLst/>
          </a:prstGeom>
          <a:solidFill>
            <a:srgbClr val="FFFFFF"/>
          </a:solidFill>
          <a:ln w="12700">
            <a:solidFill>
              <a:srgbClr val="D8E0EA"/>
            </a:solidFill>
          </a:ln>
        </p:spPr>
        <p:txBody>
          <a:bodyPr wrap="square" rtlCol="0"/>
          <a:lstStyle/>
          <a:p>
            <a:r>
              <a:rPr/>
              <a:t/>
            </a:r>
          </a:p>
        </p:txBody>
      </p:sp>
      <p:sp>
        <p:nvSpPr>
          <p:cNvPr id="9" name="TextBox 9">
            <a:extLst>
              <a:ext uri="{FF2B5EF4-FFF2-40B4-BE49-F238E27FC236}">
                <a16:creationId xmlns:a16="http://schemas.microsoft.com/office/drawing/2014/main" id="{8FE059C6-1D4F-4CD8-9DD9-356AF2E965DB}"/>
              </a:ext>
            </a:extLst>
          </p:cNvPr>
          <p:cNvSpPr txBox="1"/>
          <p:nvPr/>
        </p:nvSpPr>
        <p:spPr>
          <a:xfrm>
            <a:off x="6743700" y="1638300"/>
            <a:ext cx="4419600" cy="304800"/>
          </a:xfrm>
        </p:spPr>
        <p:txBody>
          <a:bodyPr wrap="square" rtlCol="0" lIns="0" tIns="0" rIns="0" bIns="0" anchor="t"/>
          <a:lstStyle/>
          <a:p>
            <a:pPr algn="l"/>
            <a:r>
              <a:rPr sz="1800" b="1">
                <a:solidFill>
                  <a:srgbClr val="12233A"/>
                </a:solidFill>
                <a:latin typeface="Arial"/>
                <a:ea typeface="Arial"/>
              </a:rPr>
              <a:t>Perspectives</a:t>
            </a:r>
          </a:p>
        </p:txBody>
      </p:sp>
      <p:sp>
        <p:nvSpPr>
          <p:cNvPr id="10" name="TextBox 10">
            <a:extLst>
              <a:ext uri="{FF2B5EF4-FFF2-40B4-BE49-F238E27FC236}">
                <a16:creationId xmlns:a16="http://schemas.microsoft.com/office/drawing/2014/main" id="{468DAD8E-60D8-4FA7-AB77-1DDF968451D0}"/>
              </a:ext>
            </a:extLst>
          </p:cNvPr>
          <p:cNvSpPr txBox="1"/>
          <p:nvPr/>
        </p:nvSpPr>
        <p:spPr>
          <a:xfrm>
            <a:off x="6743700" y="2057400"/>
            <a:ext cx="4419600" cy="3619500"/>
          </a:xfrm>
        </p:spPr>
        <p:txBody>
          <a:bodyPr wrap="square" rtlCol="0" lIns="0" tIns="0" rIns="0" bIns="0" anchor="t"/>
          <a:lstStyle/>
          <a:p>
            <a:pPr marL="228600" indent="-228600" algn="l">
              <a:lnSpc>
                <a:spcPct val="118000"/>
              </a:lnSpc>
              <a:spcAft>
                <a:spcPts val="1000"/>
              </a:spcAft>
              <a:buChar char="•"/>
            </a:pPr>
            <a:r>
              <a:rPr sz="1250">
                <a:solidFill>
                  <a:srgbClr val="12233A"/>
                </a:solidFill>
                <a:latin typeface="Arial"/>
                <a:ea typeface="Arial"/>
              </a:rPr>
              <a:t>Analyse prédictive du taux de transformation des candidatures.</a:t>
            </a:r>
          </a:p>
          <a:p>
            <a:pPr marL="228600" indent="-228600" algn="l">
              <a:lnSpc>
                <a:spcPct val="118000"/>
              </a:lnSpc>
              <a:spcAft>
                <a:spcPts val="1000"/>
              </a:spcAft>
              <a:buChar char="•"/>
            </a:pPr>
            <a:r>
              <a:rPr sz="1250">
                <a:solidFill>
                  <a:srgbClr val="12233A"/>
                </a:solidFill>
                <a:latin typeface="Arial"/>
                <a:ea typeface="Arial"/>
              </a:rPr>
              <a:t>Connexion aux plateformes d'emploi externes, LinkedIn ou Indeed.</a:t>
            </a:r>
          </a:p>
          <a:p>
            <a:pPr marL="228600" indent="-228600" algn="l">
              <a:lnSpc>
                <a:spcPct val="118000"/>
              </a:lnSpc>
              <a:spcAft>
                <a:spcPts val="1000"/>
              </a:spcAft>
              <a:buChar char="•"/>
            </a:pPr>
            <a:r>
              <a:rPr sz="1250">
                <a:solidFill>
                  <a:srgbClr val="12233A"/>
                </a:solidFill>
                <a:latin typeface="Arial"/>
                <a:ea typeface="Arial"/>
              </a:rPr>
              <a:t>Espace candidat enrichi pour un suivi plus détaillé du parcours.</a:t>
            </a:r>
          </a:p>
          <a:p>
            <a:pPr marL="228600" indent="-228600" algn="l">
              <a:lnSpc>
                <a:spcPct val="118000"/>
              </a:lnSpc>
              <a:spcAft>
                <a:spcPts val="1000"/>
              </a:spcAft>
              <a:buChar char="•"/>
            </a:pPr>
            <a:r>
              <a:rPr sz="1250">
                <a:solidFill>
                  <a:srgbClr val="12233A"/>
                </a:solidFill>
                <a:latin typeface="Arial"/>
                <a:ea typeface="Arial"/>
              </a:rPr>
              <a:t>Tests d'intégration, de bout en bout et sur les composants Angular.</a:t>
            </a:r>
          </a:p>
          <a:p>
            <a:pPr marL="228600" indent="-228600" algn="l">
              <a:lnSpc>
                <a:spcPct val="118000"/>
              </a:lnSpc>
              <a:spcAft>
                <a:spcPts val="1000"/>
              </a:spcAft>
              <a:buChar char="•"/>
            </a:pPr>
            <a:r>
              <a:rPr sz="1250">
                <a:solidFill>
                  <a:srgbClr val="12233A"/>
                </a:solidFill>
                <a:latin typeface="Arial"/>
                <a:ea typeface="Arial"/>
              </a:rPr>
              <a:t>Chaîne CI/CD et déploiement sur une infrastructure cloud.</a:t>
            </a:r>
          </a:p>
          <a:p>
            <a:pPr marL="228600" indent="-228600" algn="l">
              <a:lnSpc>
                <a:spcPct val="118000"/>
              </a:lnSpc>
              <a:buChar char="•"/>
            </a:pPr>
            <a:r>
              <a:rPr sz="1250">
                <a:solidFill>
                  <a:srgbClr val="12233A"/>
                </a:solidFill>
                <a:latin typeface="Arial"/>
                <a:ea typeface="Arial"/>
              </a:rPr>
              <a:t>Modèle du chatbot remplacé par un modèle dont le fournisseur est identifié.</a:t>
            </a:r>
          </a:p>
        </p:txBody>
      </p:sp>
      <p:sp>
        <p:nvSpPr>
          <p:cNvPr id="11" name="TextBox 11">
            <a:extLst>
              <a:ext uri="{FF2B5EF4-FFF2-40B4-BE49-F238E27FC236}">
                <a16:creationId xmlns:a16="http://schemas.microsoft.com/office/drawing/2014/main" id="{F9145027-6DF0-469F-A81A-5F3F95C544CD}"/>
              </a:ext>
            </a:extLst>
          </p:cNvPr>
          <p:cNvSpPr txBox="1"/>
          <p:nvPr/>
        </p:nvSpPr>
        <p:spPr>
          <a:xfrm>
            <a:off x="762000" y="6515100"/>
            <a:ext cx="3810000" cy="190500"/>
          </a:xfrm>
        </p:spPr>
        <p:txBody>
          <a:bodyPr wrap="square" rtlCol="0" lIns="0" tIns="0" rIns="0" bIns="0" anchor="t"/>
          <a:lstStyle/>
          <a:p>
            <a:pPr algn="l"/>
            <a:r>
              <a:rPr sz="1050">
                <a:solidFill>
                  <a:srgbClr val="9AA9BC"/>
                </a:solidFill>
                <a:latin typeface="Arial"/>
                <a:ea typeface="Arial"/>
              </a:rPr>
              <a:t>JOB4YOU - Soutenance PFE</a:t>
            </a:r>
          </a:p>
        </p:txBody>
      </p:sp>
      <p:sp>
        <p:nvSpPr>
          <p:cNvPr id="12" name="TextBox 12">
            <a:extLst>
              <a:ext uri="{FF2B5EF4-FFF2-40B4-BE49-F238E27FC236}">
                <a16:creationId xmlns:a16="http://schemas.microsoft.com/office/drawing/2014/main" id="{596B8EBA-93BC-49A2-A9C8-741C2FE0D4B3}"/>
              </a:ext>
            </a:extLst>
          </p:cNvPr>
          <p:cNvSpPr txBox="1"/>
          <p:nvPr/>
        </p:nvSpPr>
        <p:spPr>
          <a:xfrm>
            <a:off x="10858500" y="6515100"/>
            <a:ext cx="571500" cy="190500"/>
          </a:xfrm>
        </p:spPr>
        <p:txBody>
          <a:bodyPr wrap="square" rtlCol="0" lIns="0" tIns="0" rIns="0" bIns="0" anchor="t"/>
          <a:lstStyle/>
          <a:p>
            <a:pPr algn="r"/>
            <a:r>
              <a:rPr sz="1050">
                <a:solidFill>
                  <a:srgbClr val="9AA9BC"/>
                </a:solidFill>
                <a:latin typeface="Arial"/>
                <a:ea typeface="Arial"/>
              </a:rPr>
              <a:t>18 / 19</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E2A4F"/>
        </a:solidFill>
        <a:effectLst/>
      </p:bgPr>
    </p:bg>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id="{1914336B-456E-43E7-BB86-3F70D95C5E00}"/>
              </a:ext>
            </a:extLst>
          </p:cNvPr>
          <p:cNvSpPr txBox="1"/>
          <p:nvPr/>
        </p:nvSpPr>
        <p:spPr>
          <a:xfrm>
            <a:off x="762000" y="1866900"/>
            <a:ext cx="10668000" cy="247650"/>
          </a:xfrm>
        </p:spPr>
        <p:txBody>
          <a:bodyPr wrap="square" rtlCol="0" lIns="0" tIns="0" rIns="0" bIns="0" anchor="t"/>
          <a:lstStyle/>
          <a:p>
            <a:pPr algn="ctr"/>
            <a:r>
              <a:rPr sz="1300" b="1">
                <a:solidFill>
                  <a:srgbClr val="6E9BD1"/>
                </a:solidFill>
                <a:latin typeface="Arial"/>
                <a:ea typeface="Arial"/>
              </a:rPr>
              <a:t>SOUTENANCE DE PROJET DE FIN D'ÉTUDES</a:t>
            </a:r>
          </a:p>
        </p:txBody>
      </p:sp>
      <p:sp>
        <p:nvSpPr>
          <p:cNvPr id="4" name="TextBox 4">
            <a:extLst>
              <a:ext uri="{FF2B5EF4-FFF2-40B4-BE49-F238E27FC236}">
                <a16:creationId xmlns:a16="http://schemas.microsoft.com/office/drawing/2014/main" id="{C8A03656-C767-4023-927D-79B7B1130248}"/>
              </a:ext>
            </a:extLst>
          </p:cNvPr>
          <p:cNvSpPr txBox="1"/>
          <p:nvPr/>
        </p:nvSpPr>
        <p:spPr>
          <a:xfrm>
            <a:off x="762000" y="2266950"/>
            <a:ext cx="10668000" cy="952500"/>
          </a:xfrm>
        </p:spPr>
        <p:txBody>
          <a:bodyPr wrap="square" rtlCol="0" lIns="0" tIns="0" rIns="0" bIns="0" anchor="t"/>
          <a:lstStyle/>
          <a:p>
            <a:pPr algn="ctr"/>
            <a:r>
              <a:rPr sz="4800" b="1">
                <a:solidFill>
                  <a:srgbClr val="FFFFFF"/>
                </a:solidFill>
                <a:latin typeface="Arial"/>
                <a:ea typeface="Arial"/>
              </a:rPr>
              <a:t>Merci de votre attention</a:t>
            </a:r>
          </a:p>
        </p:txBody>
      </p:sp>
      <p:sp>
        <p:nvSpPr>
          <p:cNvPr id="5" name="Shape 5">
            <a:extLst>
              <a:ext uri="{FF2B5EF4-FFF2-40B4-BE49-F238E27FC236}">
                <a16:creationId xmlns:a16="http://schemas.microsoft.com/office/drawing/2014/main" id="{7E30113F-7ED5-4D9B-A2E4-A00C1C74F6C7}"/>
              </a:ext>
            </a:extLst>
          </p:cNvPr>
          <p:cNvSpPr/>
          <p:nvPr/>
        </p:nvSpPr>
        <p:spPr>
          <a:xfrm>
            <a:off x="5715000" y="3390900"/>
            <a:ext cx="762000" cy="38100"/>
          </a:xfrm>
          <a:prstGeom prst="rect">
            <a:avLst/>
          </a:prstGeom>
          <a:solidFill>
            <a:srgbClr val="00A8B5"/>
          </a:solidFill>
        </p:spPr>
        <p:txBody>
          <a:bodyPr wrap="square" rtlCol="0"/>
          <a:lstStyle/>
          <a:p>
            <a:r>
              <a:rPr/>
              <a:t/>
            </a:r>
          </a:p>
        </p:txBody>
      </p:sp>
      <p:sp>
        <p:nvSpPr>
          <p:cNvPr id="6" name="TextBox 6">
            <a:extLst>
              <a:ext uri="{FF2B5EF4-FFF2-40B4-BE49-F238E27FC236}">
                <a16:creationId xmlns:a16="http://schemas.microsoft.com/office/drawing/2014/main" id="{118F216A-1B2B-4A0D-AC1D-DCACE68D408A}"/>
              </a:ext>
            </a:extLst>
          </p:cNvPr>
          <p:cNvSpPr txBox="1"/>
          <p:nvPr/>
        </p:nvSpPr>
        <p:spPr>
          <a:xfrm>
            <a:off x="762000" y="3619500"/>
            <a:ext cx="10668000" cy="419100"/>
          </a:xfrm>
        </p:spPr>
        <p:txBody>
          <a:bodyPr wrap="square" rtlCol="0" lIns="0" tIns="0" rIns="0" bIns="0" anchor="t"/>
          <a:lstStyle/>
          <a:p>
            <a:pPr algn="ctr"/>
            <a:r>
              <a:rPr sz="2000">
                <a:solidFill>
                  <a:srgbClr val="DCE7F5"/>
                </a:solidFill>
                <a:latin typeface="Arial"/>
                <a:ea typeface="Arial"/>
              </a:rPr>
              <a:t>Place à vos questions</a:t>
            </a:r>
          </a:p>
        </p:txBody>
      </p:sp>
      <p:sp>
        <p:nvSpPr>
          <p:cNvPr id="7" name="TextBox 7">
            <a:extLst>
              <a:ext uri="{FF2B5EF4-FFF2-40B4-BE49-F238E27FC236}">
                <a16:creationId xmlns:a16="http://schemas.microsoft.com/office/drawing/2014/main" id="{41835A11-5D82-4784-8313-617A9652BF47}"/>
              </a:ext>
            </a:extLst>
          </p:cNvPr>
          <p:cNvSpPr txBox="1"/>
          <p:nvPr/>
        </p:nvSpPr>
        <p:spPr>
          <a:xfrm>
            <a:off x="762000" y="4114800"/>
            <a:ext cx="10668000" cy="247650"/>
          </a:xfrm>
        </p:spPr>
        <p:txBody>
          <a:bodyPr wrap="square" rtlCol="0" lIns="0" tIns="0" rIns="0" bIns="0" anchor="t"/>
          <a:lstStyle/>
          <a:p>
            <a:pPr algn="ctr"/>
            <a:r>
              <a:rPr sz="1300">
                <a:solidFill>
                  <a:srgbClr val="A9C4E3"/>
                </a:solidFill>
                <a:latin typeface="Arial"/>
                <a:ea typeface="Arial"/>
              </a:rPr>
              <a:t>Haythem Bargaoui  -  JOB4YOU  -  Année universitaire 2025 - 2026</a:t>
            </a:r>
          </a:p>
        </p:txBody>
      </p:sp>
      <p:sp>
        <p:nvSpPr>
          <p:cNvPr id="8" name="TextBox 8">
            <a:extLst>
              <a:ext uri="{FF2B5EF4-FFF2-40B4-BE49-F238E27FC236}">
                <a16:creationId xmlns:a16="http://schemas.microsoft.com/office/drawing/2014/main" id="{40642338-C59D-41D1-BA81-55B1B73D9A2B}"/>
              </a:ext>
            </a:extLst>
          </p:cNvPr>
          <p:cNvSpPr txBox="1"/>
          <p:nvPr/>
        </p:nvSpPr>
        <p:spPr>
          <a:xfrm>
            <a:off x="762000" y="4476750"/>
            <a:ext cx="10668000" cy="228600"/>
          </a:xfrm>
        </p:spPr>
        <p:txBody>
          <a:bodyPr wrap="square" rtlCol="0" lIns="0" tIns="0" rIns="0" bIns="0" anchor="t"/>
          <a:lstStyle/>
          <a:p>
            <a:pPr algn="ctr"/>
            <a:r>
              <a:rPr sz="1250">
                <a:solidFill>
                  <a:srgbClr val="6E9BD1"/>
                </a:solidFill>
                <a:latin typeface="Arial"/>
                <a:ea typeface="Arial"/>
              </a:rPr>
              <a:t>Le rapport et le dépôt source restent disponibles pour le détail des choix techniques.</a:t>
            </a:r>
          </a:p>
        </p:txBody>
      </p:sp>
      <p:sp>
        <p:nvSpPr>
          <p:cNvPr id="9" name="Shape 9">
            <a:extLst>
              <a:ext uri="{FF2B5EF4-FFF2-40B4-BE49-F238E27FC236}">
                <a16:creationId xmlns:a16="http://schemas.microsoft.com/office/drawing/2014/main" id="{7349622E-3582-4693-94DF-FAC495C6505A}"/>
              </a:ext>
            </a:extLst>
          </p:cNvPr>
          <p:cNvSpPr/>
          <p:nvPr/>
        </p:nvSpPr>
        <p:spPr>
          <a:xfrm>
            <a:off x="4743450" y="5715000"/>
            <a:ext cx="533400" cy="381000"/>
          </a:xfrm>
          <a:prstGeom prst="roundRect">
            <a:avLst/>
          </a:prstGeom>
          <a:solidFill>
            <a:srgbClr val="1B4F9C">
              <a:alpha val="30196"/>
            </a:srgbClr>
          </a:solidFill>
        </p:spPr>
        <p:txBody>
          <a:bodyPr wrap="square" rtlCol="0"/>
          <a:lstStyle/>
          <a:p>
            <a:r>
              <a:rPr/>
              <a:t/>
            </a:r>
          </a:p>
        </p:txBody>
      </p:sp>
      <p:sp>
        <p:nvSpPr>
          <p:cNvPr id="10" name="Shape 10">
            <a:extLst>
              <a:ext uri="{FF2B5EF4-FFF2-40B4-BE49-F238E27FC236}">
                <a16:creationId xmlns:a16="http://schemas.microsoft.com/office/drawing/2014/main" id="{481AB1AD-7516-45DA-B2C2-63E09222272F}"/>
              </a:ext>
            </a:extLst>
          </p:cNvPr>
          <p:cNvSpPr/>
          <p:nvPr/>
        </p:nvSpPr>
        <p:spPr>
          <a:xfrm>
            <a:off x="5467350" y="5486400"/>
            <a:ext cx="533400" cy="609600"/>
          </a:xfrm>
          <a:prstGeom prst="roundRect">
            <a:avLst/>
          </a:prstGeom>
          <a:solidFill>
            <a:srgbClr val="1B4F9C">
              <a:alpha val="54902"/>
            </a:srgbClr>
          </a:solidFill>
        </p:spPr>
        <p:txBody>
          <a:bodyPr wrap="square" rtlCol="0"/>
          <a:lstStyle/>
          <a:p>
            <a:r>
              <a:rPr/>
              <a:t/>
            </a:r>
          </a:p>
        </p:txBody>
      </p:sp>
      <p:sp>
        <p:nvSpPr>
          <p:cNvPr id="11" name="Shape 11">
            <a:extLst>
              <a:ext uri="{FF2B5EF4-FFF2-40B4-BE49-F238E27FC236}">
                <a16:creationId xmlns:a16="http://schemas.microsoft.com/office/drawing/2014/main" id="{5CF35073-E16E-4C01-BE6A-F0F0CD441132}"/>
              </a:ext>
            </a:extLst>
          </p:cNvPr>
          <p:cNvSpPr/>
          <p:nvPr/>
        </p:nvSpPr>
        <p:spPr>
          <a:xfrm>
            <a:off x="6191250" y="5257800"/>
            <a:ext cx="533400" cy="838200"/>
          </a:xfrm>
          <a:prstGeom prst="roundRect">
            <a:avLst/>
          </a:prstGeom>
          <a:solidFill>
            <a:srgbClr val="1B4F9C">
              <a:alpha val="85098"/>
            </a:srgbClr>
          </a:solidFill>
        </p:spPr>
        <p:txBody>
          <a:bodyPr wrap="square" rtlCol="0"/>
          <a:lstStyle/>
          <a:p>
            <a:r>
              <a:rPr/>
              <a:t/>
            </a:r>
          </a:p>
        </p:txBody>
      </p:sp>
      <p:sp>
        <p:nvSpPr>
          <p:cNvPr id="12" name="Shape 12">
            <a:extLst>
              <a:ext uri="{FF2B5EF4-FFF2-40B4-BE49-F238E27FC236}">
                <a16:creationId xmlns:a16="http://schemas.microsoft.com/office/drawing/2014/main" id="{DE3BFF4B-9372-4FEC-B014-7473A68E303E}"/>
              </a:ext>
            </a:extLst>
          </p:cNvPr>
          <p:cNvSpPr/>
          <p:nvPr/>
        </p:nvSpPr>
        <p:spPr>
          <a:xfrm>
            <a:off x="6915150" y="5029200"/>
            <a:ext cx="533400" cy="1066800"/>
          </a:xfrm>
          <a:prstGeom prst="roundRect">
            <a:avLst/>
          </a:prstGeom>
          <a:solidFill>
            <a:srgbClr val="00A8B5"/>
          </a:solidFill>
        </p:spPr>
        <p:txBody>
          <a:bodyPr wrap="square" rtlCol="0"/>
          <a:lstStyle/>
          <a:p>
            <a:r>
              <a:rPr/>
              <a:t/>
            </a:r>
          </a:p>
        </p:txBody>
      </p:sp>
      <p:sp>
        <p:nvSpPr>
          <p:cNvPr id="13" name="Shape 13">
            <a:extLst>
              <a:ext uri="{FF2B5EF4-FFF2-40B4-BE49-F238E27FC236}">
                <a16:creationId xmlns:a16="http://schemas.microsoft.com/office/drawing/2014/main" id="{877BF85B-6BB1-4A04-A1DE-060440A1B0DE}"/>
              </a:ext>
            </a:extLst>
          </p:cNvPr>
          <p:cNvSpPr/>
          <p:nvPr/>
        </p:nvSpPr>
        <p:spPr>
          <a:xfrm>
            <a:off x="4743450" y="6115050"/>
            <a:ext cx="2705100" cy="19050"/>
          </a:xfrm>
          <a:prstGeom prst="rect">
            <a:avLst/>
          </a:prstGeom>
          <a:solidFill>
            <a:srgbClr val="2C4F7C"/>
          </a:solidFill>
        </p:spPr>
        <p:txBody>
          <a:bodyPr wrap="square" rtlCol="0"/>
          <a:lstStyle/>
          <a:p>
            <a:r>
              <a:rPr/>
              <a:t/>
            </a:r>
          </a:p>
        </p:txBody>
      </p:sp>
      <p:sp>
        <p:nvSpPr>
          <p:cNvPr id="14" name="TextBox 14">
            <a:extLst>
              <a:ext uri="{FF2B5EF4-FFF2-40B4-BE49-F238E27FC236}">
                <a16:creationId xmlns:a16="http://schemas.microsoft.com/office/drawing/2014/main" id="{3EE895D7-8D7D-47B2-B343-7F48EC41CC25}"/>
              </a:ext>
            </a:extLst>
          </p:cNvPr>
          <p:cNvSpPr txBox="1"/>
          <p:nvPr/>
        </p:nvSpPr>
        <p:spPr>
          <a:xfrm>
            <a:off x="762000" y="6515100"/>
            <a:ext cx="3810000" cy="190500"/>
          </a:xfrm>
        </p:spPr>
        <p:txBody>
          <a:bodyPr wrap="square" rtlCol="0" lIns="0" tIns="0" rIns="0" bIns="0" anchor="t"/>
          <a:lstStyle/>
          <a:p>
            <a:pPr algn="l"/>
            <a:r>
              <a:rPr sz="1050">
                <a:solidFill>
                  <a:srgbClr val="4A6B93"/>
                </a:solidFill>
                <a:latin typeface="Arial"/>
                <a:ea typeface="Arial"/>
              </a:rPr>
              <a:t>JOB4YOU - Soutenance PFE</a:t>
            </a:r>
          </a:p>
        </p:txBody>
      </p:sp>
      <p:sp>
        <p:nvSpPr>
          <p:cNvPr id="15" name="TextBox 15">
            <a:extLst>
              <a:ext uri="{FF2B5EF4-FFF2-40B4-BE49-F238E27FC236}">
                <a16:creationId xmlns:a16="http://schemas.microsoft.com/office/drawing/2014/main" id="{EC193BEB-019F-4313-9A3A-1309C505F7F6}"/>
              </a:ext>
            </a:extLst>
          </p:cNvPr>
          <p:cNvSpPr txBox="1"/>
          <p:nvPr/>
        </p:nvSpPr>
        <p:spPr>
          <a:xfrm>
            <a:off x="10858500" y="6515100"/>
            <a:ext cx="571500" cy="190500"/>
          </a:xfrm>
        </p:spPr>
        <p:txBody>
          <a:bodyPr wrap="square" rtlCol="0" lIns="0" tIns="0" rIns="0" bIns="0" anchor="t"/>
          <a:lstStyle/>
          <a:p>
            <a:pPr algn="r"/>
            <a:r>
              <a:rPr sz="1050">
                <a:solidFill>
                  <a:srgbClr val="4A6B93"/>
                </a:solidFill>
                <a:latin typeface="Arial"/>
                <a:ea typeface="Arial"/>
              </a:rPr>
              <a:t>19 / 19</a:t>
            </a:r>
          </a:p>
        </p:txBody>
      </p:sp>
    </p:spTree>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C43E1C"/>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Microsoft YaHei"/>
        <a:cs typeface=""/>
      </a:majorFont>
      <a:minorFont>
        <a:latin typeface="Calibri"/>
        <a:ea typeface="Microsoft YaHei"/>
        <a:cs typeface=""/>
      </a:minorFont>
    </a:fontScheme>
    <a:fmtScheme name="Office">
      <a:fillStyleLst>
        <a:solidFill>
          <a:schemeClr val="phClr"/>
        </a:solidFill>
        <a:solidFill>
          <a:schemeClr val="phClr"/>
        </a:solidFill>
        <a:solidFill>
          <a:schemeClr val="phClr"/>
        </a:solidFill>
      </a:fillStyleLst>
      <a:lnStyleLst>
        <a:ln w="6350">
          <a:solidFill>
            <a:schemeClr val="phClr"/>
          </a:solidFill>
        </a:ln>
        <a:ln w="12700">
          <a:solidFill>
            <a:schemeClr val="phClr"/>
          </a:solidFill>
        </a:ln>
        <a:ln w="1905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C43E1C"/>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Microsoft YaHei"/>
        <a:cs typeface=""/>
      </a:majorFont>
      <a:minorFont>
        <a:latin typeface="Calibri"/>
        <a:ea typeface="Microsoft YaHei"/>
        <a:cs typeface=""/>
      </a:minorFont>
    </a:fontScheme>
    <a:fmtScheme name="Office">
      <a:fillStyleLst>
        <a:solidFill>
          <a:schemeClr val="phClr"/>
        </a:solidFill>
        <a:solidFill>
          <a:schemeClr val="phClr"/>
        </a:solidFill>
        <a:solidFill>
          <a:schemeClr val="phClr"/>
        </a:solidFill>
      </a:fillStyleLst>
      <a:lnStyleLst>
        <a:ln w="6350">
          <a:solidFill>
            <a:schemeClr val="phClr"/>
          </a:solidFill>
        </a:ln>
        <a:ln w="12700">
          <a:solidFill>
            <a:schemeClr val="phClr"/>
          </a:solidFill>
        </a:ln>
        <a:ln w="1905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